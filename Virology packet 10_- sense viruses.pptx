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E502E-4520-4905-8C82-D6C560ADAA0F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F49DD-EF03-4E2A-8932-7F7B374EE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3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0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0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4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6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8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6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8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8900-47FD-4B6A-B803-9A054F072368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7C742-66FE-4030-BD34-10529A44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415547" y="1676400"/>
            <a:ext cx="3129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05835" y="1114961"/>
            <a:ext cx="437491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Lecture 10</a:t>
            </a:r>
          </a:p>
          <a:p>
            <a:pPr algn="ctr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RNA viruses</a:t>
            </a:r>
          </a:p>
          <a:p>
            <a:pPr algn="ctr"/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Neg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sense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ssRNA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7" descr="Rab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74" y="3810000"/>
            <a:ext cx="3272547" cy="2618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http://farm1.static.flickr.com/29/49101305_e8e2316bf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42360"/>
            <a:ext cx="3200400" cy="2353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414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55984" y="434109"/>
            <a:ext cx="420929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Neg</a:t>
            </a:r>
            <a:r>
              <a:rPr lang="en-US" altLang="en-US" sz="2800" b="1" dirty="0"/>
              <a:t> sense RNA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876485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Negative sense RNA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Defined by their genome resembling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complement</a:t>
            </a:r>
            <a:r>
              <a:rPr lang="en-US" altLang="en-US" sz="2400" dirty="0">
                <a:latin typeface="Arial" charset="0"/>
                <a:cs typeface="Arial" charset="0"/>
              </a:rPr>
              <a:t> of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mRNA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Genome cannot be translated by ribosomes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Genome is non-infectious (if inserted into cells)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Must package their own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into the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itself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Mostly infect animals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Subdivided into those that have single pieces of nucleic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acid (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monopartite</a:t>
            </a:r>
            <a:r>
              <a:rPr lang="en-US" altLang="en-US" sz="2400" dirty="0">
                <a:latin typeface="Arial" charset="0"/>
                <a:cs typeface="Arial" charset="0"/>
              </a:rPr>
              <a:t>) and those that have many (segmented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or </a:t>
            </a:r>
            <a:r>
              <a:rPr lang="en-US" altLang="en-US" sz="2400" b="1" dirty="0">
                <a:latin typeface="Arial" charset="0"/>
                <a:cs typeface="Arial" charset="0"/>
              </a:rPr>
              <a:t>multipartite</a:t>
            </a:r>
            <a:r>
              <a:rPr lang="en-US" altLang="en-US" sz="2400" dirty="0">
                <a:latin typeface="Arial" charset="0"/>
                <a:cs typeface="Arial" charset="0"/>
              </a:rPr>
              <a:t>) </a:t>
            </a:r>
          </a:p>
        </p:txBody>
      </p:sp>
      <p:sp>
        <p:nvSpPr>
          <p:cNvPr id="4" name="Freeform 3"/>
          <p:cNvSpPr/>
          <p:nvPr/>
        </p:nvSpPr>
        <p:spPr>
          <a:xfrm>
            <a:off x="1184395" y="447805"/>
            <a:ext cx="308172" cy="1152395"/>
          </a:xfrm>
          <a:custGeom>
            <a:avLst/>
            <a:gdLst>
              <a:gd name="connsiteX0" fmla="*/ 238294 w 308172"/>
              <a:gd name="connsiteY0" fmla="*/ 0 h 1152395"/>
              <a:gd name="connsiteX1" fmla="*/ 100508 w 308172"/>
              <a:gd name="connsiteY1" fmla="*/ 62631 h 1152395"/>
              <a:gd name="connsiteX2" fmla="*/ 62930 w 308172"/>
              <a:gd name="connsiteY2" fmla="*/ 100209 h 1152395"/>
              <a:gd name="connsiteX3" fmla="*/ 25351 w 308172"/>
              <a:gd name="connsiteY3" fmla="*/ 125261 h 1152395"/>
              <a:gd name="connsiteX4" fmla="*/ 299 w 308172"/>
              <a:gd name="connsiteY4" fmla="*/ 162839 h 1152395"/>
              <a:gd name="connsiteX5" fmla="*/ 37877 w 308172"/>
              <a:gd name="connsiteY5" fmla="*/ 187891 h 1152395"/>
              <a:gd name="connsiteX6" fmla="*/ 62930 w 308172"/>
              <a:gd name="connsiteY6" fmla="*/ 212943 h 1152395"/>
              <a:gd name="connsiteX7" fmla="*/ 138086 w 308172"/>
              <a:gd name="connsiteY7" fmla="*/ 263047 h 1152395"/>
              <a:gd name="connsiteX8" fmla="*/ 175664 w 308172"/>
              <a:gd name="connsiteY8" fmla="*/ 288099 h 1152395"/>
              <a:gd name="connsiteX9" fmla="*/ 213242 w 308172"/>
              <a:gd name="connsiteY9" fmla="*/ 313151 h 1152395"/>
              <a:gd name="connsiteX10" fmla="*/ 250820 w 308172"/>
              <a:gd name="connsiteY10" fmla="*/ 325677 h 1152395"/>
              <a:gd name="connsiteX11" fmla="*/ 263346 w 308172"/>
              <a:gd name="connsiteY11" fmla="*/ 363255 h 1152395"/>
              <a:gd name="connsiteX12" fmla="*/ 288398 w 308172"/>
              <a:gd name="connsiteY12" fmla="*/ 400833 h 1152395"/>
              <a:gd name="connsiteX13" fmla="*/ 238294 w 308172"/>
              <a:gd name="connsiteY13" fmla="*/ 501041 h 1152395"/>
              <a:gd name="connsiteX14" fmla="*/ 200716 w 308172"/>
              <a:gd name="connsiteY14" fmla="*/ 513568 h 1152395"/>
              <a:gd name="connsiteX15" fmla="*/ 163138 w 308172"/>
              <a:gd name="connsiteY15" fmla="*/ 538620 h 1152395"/>
              <a:gd name="connsiteX16" fmla="*/ 87982 w 308172"/>
              <a:gd name="connsiteY16" fmla="*/ 576198 h 1152395"/>
              <a:gd name="connsiteX17" fmla="*/ 62930 w 308172"/>
              <a:gd name="connsiteY17" fmla="*/ 651354 h 1152395"/>
              <a:gd name="connsiteX18" fmla="*/ 50404 w 308172"/>
              <a:gd name="connsiteY18" fmla="*/ 688932 h 1152395"/>
              <a:gd name="connsiteX19" fmla="*/ 175664 w 308172"/>
              <a:gd name="connsiteY19" fmla="*/ 751562 h 1152395"/>
              <a:gd name="connsiteX20" fmla="*/ 213242 w 308172"/>
              <a:gd name="connsiteY20" fmla="*/ 776614 h 1152395"/>
              <a:gd name="connsiteX21" fmla="*/ 288398 w 308172"/>
              <a:gd name="connsiteY21" fmla="*/ 814192 h 1152395"/>
              <a:gd name="connsiteX22" fmla="*/ 288398 w 308172"/>
              <a:gd name="connsiteY22" fmla="*/ 989557 h 1152395"/>
              <a:gd name="connsiteX23" fmla="*/ 238294 w 308172"/>
              <a:gd name="connsiteY23" fmla="*/ 1064713 h 1152395"/>
              <a:gd name="connsiteX24" fmla="*/ 200716 w 308172"/>
              <a:gd name="connsiteY24" fmla="*/ 1089765 h 1152395"/>
              <a:gd name="connsiteX25" fmla="*/ 200716 w 308172"/>
              <a:gd name="connsiteY25" fmla="*/ 1152395 h 1152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08172" h="1152395">
                <a:moveTo>
                  <a:pt x="238294" y="0"/>
                </a:moveTo>
                <a:cubicBezTo>
                  <a:pt x="197454" y="16336"/>
                  <a:pt x="136237" y="38812"/>
                  <a:pt x="100508" y="62631"/>
                </a:cubicBezTo>
                <a:cubicBezTo>
                  <a:pt x="85769" y="72457"/>
                  <a:pt x="76539" y="88869"/>
                  <a:pt x="62930" y="100209"/>
                </a:cubicBezTo>
                <a:cubicBezTo>
                  <a:pt x="51365" y="109847"/>
                  <a:pt x="37877" y="116910"/>
                  <a:pt x="25351" y="125261"/>
                </a:cubicBezTo>
                <a:cubicBezTo>
                  <a:pt x="17000" y="137787"/>
                  <a:pt x="-2653" y="148077"/>
                  <a:pt x="299" y="162839"/>
                </a:cubicBezTo>
                <a:cubicBezTo>
                  <a:pt x="3251" y="177601"/>
                  <a:pt x="26121" y="178487"/>
                  <a:pt x="37877" y="187891"/>
                </a:cubicBezTo>
                <a:cubicBezTo>
                  <a:pt x="47099" y="195268"/>
                  <a:pt x="53482" y="205857"/>
                  <a:pt x="62930" y="212943"/>
                </a:cubicBezTo>
                <a:cubicBezTo>
                  <a:pt x="87017" y="231008"/>
                  <a:pt x="113034" y="246346"/>
                  <a:pt x="138086" y="263047"/>
                </a:cubicBezTo>
                <a:lnTo>
                  <a:pt x="175664" y="288099"/>
                </a:lnTo>
                <a:cubicBezTo>
                  <a:pt x="188190" y="296450"/>
                  <a:pt x="198960" y="308390"/>
                  <a:pt x="213242" y="313151"/>
                </a:cubicBezTo>
                <a:lnTo>
                  <a:pt x="250820" y="325677"/>
                </a:lnTo>
                <a:cubicBezTo>
                  <a:pt x="254995" y="338203"/>
                  <a:pt x="257441" y="351445"/>
                  <a:pt x="263346" y="363255"/>
                </a:cubicBezTo>
                <a:cubicBezTo>
                  <a:pt x="270079" y="376720"/>
                  <a:pt x="286736" y="385871"/>
                  <a:pt x="288398" y="400833"/>
                </a:cubicBezTo>
                <a:cubicBezTo>
                  <a:pt x="295345" y="463358"/>
                  <a:pt x="283994" y="478190"/>
                  <a:pt x="238294" y="501041"/>
                </a:cubicBezTo>
                <a:cubicBezTo>
                  <a:pt x="226484" y="506946"/>
                  <a:pt x="212526" y="507663"/>
                  <a:pt x="200716" y="513568"/>
                </a:cubicBezTo>
                <a:cubicBezTo>
                  <a:pt x="187251" y="520301"/>
                  <a:pt x="176603" y="531887"/>
                  <a:pt x="163138" y="538620"/>
                </a:cubicBezTo>
                <a:cubicBezTo>
                  <a:pt x="59418" y="590480"/>
                  <a:pt x="195675" y="504402"/>
                  <a:pt x="87982" y="576198"/>
                </a:cubicBezTo>
                <a:lnTo>
                  <a:pt x="62930" y="651354"/>
                </a:lnTo>
                <a:lnTo>
                  <a:pt x="50404" y="688932"/>
                </a:lnTo>
                <a:cubicBezTo>
                  <a:pt x="139884" y="748585"/>
                  <a:pt x="96350" y="731734"/>
                  <a:pt x="175664" y="751562"/>
                </a:cubicBezTo>
                <a:cubicBezTo>
                  <a:pt x="188190" y="759913"/>
                  <a:pt x="199777" y="769881"/>
                  <a:pt x="213242" y="776614"/>
                </a:cubicBezTo>
                <a:cubicBezTo>
                  <a:pt x="316962" y="828474"/>
                  <a:pt x="180705" y="742396"/>
                  <a:pt x="288398" y="814192"/>
                </a:cubicBezTo>
                <a:cubicBezTo>
                  <a:pt x="310843" y="881527"/>
                  <a:pt x="318414" y="887503"/>
                  <a:pt x="288398" y="989557"/>
                </a:cubicBezTo>
                <a:cubicBezTo>
                  <a:pt x="279902" y="1018442"/>
                  <a:pt x="263346" y="1048012"/>
                  <a:pt x="238294" y="1064713"/>
                </a:cubicBezTo>
                <a:lnTo>
                  <a:pt x="200716" y="1089765"/>
                </a:lnTo>
                <a:cubicBezTo>
                  <a:pt x="169113" y="1137169"/>
                  <a:pt x="165019" y="1116698"/>
                  <a:pt x="200716" y="115239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7020838" y="381000"/>
            <a:ext cx="263047" cy="1377863"/>
          </a:xfrm>
          <a:custGeom>
            <a:avLst/>
            <a:gdLst>
              <a:gd name="connsiteX0" fmla="*/ 12526 w 263047"/>
              <a:gd name="connsiteY0" fmla="*/ 0 h 1377863"/>
              <a:gd name="connsiteX1" fmla="*/ 75156 w 263047"/>
              <a:gd name="connsiteY1" fmla="*/ 37578 h 1377863"/>
              <a:gd name="connsiteX2" fmla="*/ 112734 w 263047"/>
              <a:gd name="connsiteY2" fmla="*/ 62631 h 1377863"/>
              <a:gd name="connsiteX3" fmla="*/ 150312 w 263047"/>
              <a:gd name="connsiteY3" fmla="*/ 75157 h 1377863"/>
              <a:gd name="connsiteX4" fmla="*/ 263047 w 263047"/>
              <a:gd name="connsiteY4" fmla="*/ 162839 h 1377863"/>
              <a:gd name="connsiteX5" fmla="*/ 250521 w 263047"/>
              <a:gd name="connsiteY5" fmla="*/ 225469 h 1377863"/>
              <a:gd name="connsiteX6" fmla="*/ 225469 w 263047"/>
              <a:gd name="connsiteY6" fmla="*/ 263047 h 1377863"/>
              <a:gd name="connsiteX7" fmla="*/ 150312 w 263047"/>
              <a:gd name="connsiteY7" fmla="*/ 338203 h 1377863"/>
              <a:gd name="connsiteX8" fmla="*/ 50104 w 263047"/>
              <a:gd name="connsiteY8" fmla="*/ 413359 h 1377863"/>
              <a:gd name="connsiteX9" fmla="*/ 12526 w 263047"/>
              <a:gd name="connsiteY9" fmla="*/ 488515 h 1377863"/>
              <a:gd name="connsiteX10" fmla="*/ 0 w 263047"/>
              <a:gd name="connsiteY10" fmla="*/ 526094 h 1377863"/>
              <a:gd name="connsiteX11" fmla="*/ 12526 w 263047"/>
              <a:gd name="connsiteY11" fmla="*/ 563672 h 1377863"/>
              <a:gd name="connsiteX12" fmla="*/ 112734 w 263047"/>
              <a:gd name="connsiteY12" fmla="*/ 613776 h 1377863"/>
              <a:gd name="connsiteX13" fmla="*/ 150312 w 263047"/>
              <a:gd name="connsiteY13" fmla="*/ 626302 h 1377863"/>
              <a:gd name="connsiteX14" fmla="*/ 175365 w 263047"/>
              <a:gd name="connsiteY14" fmla="*/ 651354 h 1377863"/>
              <a:gd name="connsiteX15" fmla="*/ 175365 w 263047"/>
              <a:gd name="connsiteY15" fmla="*/ 826718 h 1377863"/>
              <a:gd name="connsiteX16" fmla="*/ 150312 w 263047"/>
              <a:gd name="connsiteY16" fmla="*/ 851770 h 1377863"/>
              <a:gd name="connsiteX17" fmla="*/ 125260 w 263047"/>
              <a:gd name="connsiteY17" fmla="*/ 889348 h 1377863"/>
              <a:gd name="connsiteX18" fmla="*/ 62630 w 263047"/>
              <a:gd name="connsiteY18" fmla="*/ 977031 h 1377863"/>
              <a:gd name="connsiteX19" fmla="*/ 75156 w 263047"/>
              <a:gd name="connsiteY19" fmla="*/ 1039661 h 1377863"/>
              <a:gd name="connsiteX20" fmla="*/ 125260 w 263047"/>
              <a:gd name="connsiteY20" fmla="*/ 1114817 h 1377863"/>
              <a:gd name="connsiteX21" fmla="*/ 162839 w 263047"/>
              <a:gd name="connsiteY21" fmla="*/ 1202499 h 1377863"/>
              <a:gd name="connsiteX22" fmla="*/ 150312 w 263047"/>
              <a:gd name="connsiteY22" fmla="*/ 1315233 h 1377863"/>
              <a:gd name="connsiteX23" fmla="*/ 125260 w 263047"/>
              <a:gd name="connsiteY23" fmla="*/ 1377863 h 137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63047" h="1377863">
                <a:moveTo>
                  <a:pt x="12526" y="0"/>
                </a:moveTo>
                <a:cubicBezTo>
                  <a:pt x="33403" y="12526"/>
                  <a:pt x="54511" y="24674"/>
                  <a:pt x="75156" y="37578"/>
                </a:cubicBezTo>
                <a:cubicBezTo>
                  <a:pt x="87922" y="45557"/>
                  <a:pt x="99269" y="55898"/>
                  <a:pt x="112734" y="62631"/>
                </a:cubicBezTo>
                <a:cubicBezTo>
                  <a:pt x="124544" y="68536"/>
                  <a:pt x="138770" y="68745"/>
                  <a:pt x="150312" y="75157"/>
                </a:cubicBezTo>
                <a:cubicBezTo>
                  <a:pt x="217735" y="112614"/>
                  <a:pt x="217401" y="117193"/>
                  <a:pt x="263047" y="162839"/>
                </a:cubicBezTo>
                <a:cubicBezTo>
                  <a:pt x="258872" y="183716"/>
                  <a:pt x="257996" y="205534"/>
                  <a:pt x="250521" y="225469"/>
                </a:cubicBezTo>
                <a:cubicBezTo>
                  <a:pt x="245235" y="239565"/>
                  <a:pt x="234219" y="250797"/>
                  <a:pt x="225469" y="263047"/>
                </a:cubicBezTo>
                <a:cubicBezTo>
                  <a:pt x="176611" y="331448"/>
                  <a:pt x="206882" y="297061"/>
                  <a:pt x="150312" y="338203"/>
                </a:cubicBezTo>
                <a:cubicBezTo>
                  <a:pt x="116544" y="362761"/>
                  <a:pt x="50104" y="413359"/>
                  <a:pt x="50104" y="413359"/>
                </a:cubicBezTo>
                <a:cubicBezTo>
                  <a:pt x="18618" y="507816"/>
                  <a:pt x="61091" y="391383"/>
                  <a:pt x="12526" y="488515"/>
                </a:cubicBezTo>
                <a:cubicBezTo>
                  <a:pt x="6621" y="500325"/>
                  <a:pt x="4175" y="513568"/>
                  <a:pt x="0" y="526094"/>
                </a:cubicBezTo>
                <a:cubicBezTo>
                  <a:pt x="4175" y="538620"/>
                  <a:pt x="4073" y="553529"/>
                  <a:pt x="12526" y="563672"/>
                </a:cubicBezTo>
                <a:cubicBezTo>
                  <a:pt x="48296" y="606596"/>
                  <a:pt x="65554" y="600296"/>
                  <a:pt x="112734" y="613776"/>
                </a:cubicBezTo>
                <a:cubicBezTo>
                  <a:pt x="125430" y="617403"/>
                  <a:pt x="137786" y="622127"/>
                  <a:pt x="150312" y="626302"/>
                </a:cubicBezTo>
                <a:cubicBezTo>
                  <a:pt x="158663" y="634653"/>
                  <a:pt x="169289" y="641227"/>
                  <a:pt x="175365" y="651354"/>
                </a:cubicBezTo>
                <a:cubicBezTo>
                  <a:pt x="204134" y="699302"/>
                  <a:pt x="183289" y="792380"/>
                  <a:pt x="175365" y="826718"/>
                </a:cubicBezTo>
                <a:cubicBezTo>
                  <a:pt x="172709" y="838225"/>
                  <a:pt x="157690" y="842548"/>
                  <a:pt x="150312" y="851770"/>
                </a:cubicBezTo>
                <a:cubicBezTo>
                  <a:pt x="140907" y="863525"/>
                  <a:pt x="134010" y="877098"/>
                  <a:pt x="125260" y="889348"/>
                </a:cubicBezTo>
                <a:cubicBezTo>
                  <a:pt x="47588" y="998089"/>
                  <a:pt x="121661" y="888482"/>
                  <a:pt x="62630" y="977031"/>
                </a:cubicBezTo>
                <a:cubicBezTo>
                  <a:pt x="66805" y="997908"/>
                  <a:pt x="66346" y="1020279"/>
                  <a:pt x="75156" y="1039661"/>
                </a:cubicBezTo>
                <a:cubicBezTo>
                  <a:pt x="87615" y="1067071"/>
                  <a:pt x="111795" y="1087887"/>
                  <a:pt x="125260" y="1114817"/>
                </a:cubicBezTo>
                <a:cubicBezTo>
                  <a:pt x="156217" y="1176731"/>
                  <a:pt x="144407" y="1147207"/>
                  <a:pt x="162839" y="1202499"/>
                </a:cubicBezTo>
                <a:cubicBezTo>
                  <a:pt x="158663" y="1240077"/>
                  <a:pt x="156528" y="1277938"/>
                  <a:pt x="150312" y="1315233"/>
                </a:cubicBezTo>
                <a:cubicBezTo>
                  <a:pt x="146442" y="1338451"/>
                  <a:pt x="135482" y="1357418"/>
                  <a:pt x="125260" y="13778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7467600" y="543839"/>
            <a:ext cx="102561" cy="851770"/>
          </a:xfrm>
          <a:custGeom>
            <a:avLst/>
            <a:gdLst>
              <a:gd name="connsiteX0" fmla="*/ 37578 w 102561"/>
              <a:gd name="connsiteY0" fmla="*/ 0 h 851770"/>
              <a:gd name="connsiteX1" fmla="*/ 87682 w 102561"/>
              <a:gd name="connsiteY1" fmla="*/ 62630 h 851770"/>
              <a:gd name="connsiteX2" fmla="*/ 50104 w 102561"/>
              <a:gd name="connsiteY2" fmla="*/ 212942 h 851770"/>
              <a:gd name="connsiteX3" fmla="*/ 0 w 102561"/>
              <a:gd name="connsiteY3" fmla="*/ 288098 h 851770"/>
              <a:gd name="connsiteX4" fmla="*/ 37578 w 102561"/>
              <a:gd name="connsiteY4" fmla="*/ 400833 h 851770"/>
              <a:gd name="connsiteX5" fmla="*/ 75156 w 102561"/>
              <a:gd name="connsiteY5" fmla="*/ 413359 h 851770"/>
              <a:gd name="connsiteX6" fmla="*/ 100208 w 102561"/>
              <a:gd name="connsiteY6" fmla="*/ 450937 h 851770"/>
              <a:gd name="connsiteX7" fmla="*/ 62630 w 102561"/>
              <a:gd name="connsiteY7" fmla="*/ 701457 h 851770"/>
              <a:gd name="connsiteX8" fmla="*/ 50104 w 102561"/>
              <a:gd name="connsiteY8" fmla="*/ 739035 h 851770"/>
              <a:gd name="connsiteX9" fmla="*/ 37578 w 102561"/>
              <a:gd name="connsiteY9" fmla="*/ 776613 h 851770"/>
              <a:gd name="connsiteX10" fmla="*/ 50104 w 102561"/>
              <a:gd name="connsiteY10" fmla="*/ 814191 h 851770"/>
              <a:gd name="connsiteX11" fmla="*/ 87682 w 102561"/>
              <a:gd name="connsiteY11" fmla="*/ 851770 h 85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561" h="851770">
                <a:moveTo>
                  <a:pt x="37578" y="0"/>
                </a:moveTo>
                <a:cubicBezTo>
                  <a:pt x="54279" y="20877"/>
                  <a:pt x="80648" y="36837"/>
                  <a:pt x="87682" y="62630"/>
                </a:cubicBezTo>
                <a:cubicBezTo>
                  <a:pt x="93135" y="82625"/>
                  <a:pt x="59980" y="198129"/>
                  <a:pt x="50104" y="212942"/>
                </a:cubicBezTo>
                <a:lnTo>
                  <a:pt x="0" y="288098"/>
                </a:lnTo>
                <a:cubicBezTo>
                  <a:pt x="7020" y="337235"/>
                  <a:pt x="-5480" y="374998"/>
                  <a:pt x="37578" y="400833"/>
                </a:cubicBezTo>
                <a:cubicBezTo>
                  <a:pt x="48900" y="407626"/>
                  <a:pt x="62630" y="409184"/>
                  <a:pt x="75156" y="413359"/>
                </a:cubicBezTo>
                <a:cubicBezTo>
                  <a:pt x="83507" y="425885"/>
                  <a:pt x="99324" y="435909"/>
                  <a:pt x="100208" y="450937"/>
                </a:cubicBezTo>
                <a:cubicBezTo>
                  <a:pt x="108132" y="585646"/>
                  <a:pt x="96151" y="600893"/>
                  <a:pt x="62630" y="701457"/>
                </a:cubicBezTo>
                <a:lnTo>
                  <a:pt x="50104" y="739035"/>
                </a:lnTo>
                <a:lnTo>
                  <a:pt x="37578" y="776613"/>
                </a:lnTo>
                <a:cubicBezTo>
                  <a:pt x="41753" y="789139"/>
                  <a:pt x="42780" y="803205"/>
                  <a:pt x="50104" y="814191"/>
                </a:cubicBezTo>
                <a:cubicBezTo>
                  <a:pt x="59930" y="828931"/>
                  <a:pt x="87682" y="851770"/>
                  <a:pt x="87682" y="8517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7728559" y="381000"/>
            <a:ext cx="296664" cy="1315233"/>
          </a:xfrm>
          <a:custGeom>
            <a:avLst/>
            <a:gdLst>
              <a:gd name="connsiteX0" fmla="*/ 0 w 296664"/>
              <a:gd name="connsiteY0" fmla="*/ 0 h 1315233"/>
              <a:gd name="connsiteX1" fmla="*/ 37578 w 296664"/>
              <a:gd name="connsiteY1" fmla="*/ 62630 h 1315233"/>
              <a:gd name="connsiteX2" fmla="*/ 100208 w 296664"/>
              <a:gd name="connsiteY2" fmla="*/ 112735 h 1315233"/>
              <a:gd name="connsiteX3" fmla="*/ 175364 w 296664"/>
              <a:gd name="connsiteY3" fmla="*/ 175365 h 1315233"/>
              <a:gd name="connsiteX4" fmla="*/ 200416 w 296664"/>
              <a:gd name="connsiteY4" fmla="*/ 212943 h 1315233"/>
              <a:gd name="connsiteX5" fmla="*/ 200416 w 296664"/>
              <a:gd name="connsiteY5" fmla="*/ 488515 h 1315233"/>
              <a:gd name="connsiteX6" fmla="*/ 175364 w 296664"/>
              <a:gd name="connsiteY6" fmla="*/ 563672 h 1315233"/>
              <a:gd name="connsiteX7" fmla="*/ 187890 w 296664"/>
              <a:gd name="connsiteY7" fmla="*/ 789140 h 1315233"/>
              <a:gd name="connsiteX8" fmla="*/ 212942 w 296664"/>
              <a:gd name="connsiteY8" fmla="*/ 826718 h 1315233"/>
              <a:gd name="connsiteX9" fmla="*/ 225468 w 296664"/>
              <a:gd name="connsiteY9" fmla="*/ 864296 h 1315233"/>
              <a:gd name="connsiteX10" fmla="*/ 275573 w 296664"/>
              <a:gd name="connsiteY10" fmla="*/ 926926 h 1315233"/>
              <a:gd name="connsiteX11" fmla="*/ 275573 w 296664"/>
              <a:gd name="connsiteY11" fmla="*/ 1164921 h 1315233"/>
              <a:gd name="connsiteX12" fmla="*/ 250520 w 296664"/>
              <a:gd name="connsiteY12" fmla="*/ 1240077 h 1315233"/>
              <a:gd name="connsiteX13" fmla="*/ 250520 w 296664"/>
              <a:gd name="connsiteY13" fmla="*/ 1315233 h 131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664" h="1315233">
                <a:moveTo>
                  <a:pt x="0" y="0"/>
                </a:moveTo>
                <a:cubicBezTo>
                  <a:pt x="12526" y="20877"/>
                  <a:pt x="21403" y="44433"/>
                  <a:pt x="37578" y="62630"/>
                </a:cubicBezTo>
                <a:cubicBezTo>
                  <a:pt x="55340" y="82612"/>
                  <a:pt x="80088" y="95130"/>
                  <a:pt x="100208" y="112735"/>
                </a:cubicBezTo>
                <a:cubicBezTo>
                  <a:pt x="177361" y="180245"/>
                  <a:pt x="98461" y="124096"/>
                  <a:pt x="175364" y="175365"/>
                </a:cubicBezTo>
                <a:cubicBezTo>
                  <a:pt x="183715" y="187891"/>
                  <a:pt x="193683" y="199478"/>
                  <a:pt x="200416" y="212943"/>
                </a:cubicBezTo>
                <a:cubicBezTo>
                  <a:pt x="239439" y="290988"/>
                  <a:pt x="205362" y="447299"/>
                  <a:pt x="200416" y="488515"/>
                </a:cubicBezTo>
                <a:cubicBezTo>
                  <a:pt x="197270" y="514734"/>
                  <a:pt x="175364" y="563672"/>
                  <a:pt x="175364" y="563672"/>
                </a:cubicBezTo>
                <a:cubicBezTo>
                  <a:pt x="179539" y="638828"/>
                  <a:pt x="177245" y="714625"/>
                  <a:pt x="187890" y="789140"/>
                </a:cubicBezTo>
                <a:cubicBezTo>
                  <a:pt x="190019" y="804043"/>
                  <a:pt x="206209" y="813253"/>
                  <a:pt x="212942" y="826718"/>
                </a:cubicBezTo>
                <a:cubicBezTo>
                  <a:pt x="218847" y="838528"/>
                  <a:pt x="219563" y="852486"/>
                  <a:pt x="225468" y="864296"/>
                </a:cubicBezTo>
                <a:cubicBezTo>
                  <a:pt x="241270" y="895900"/>
                  <a:pt x="252270" y="903624"/>
                  <a:pt x="275573" y="926926"/>
                </a:cubicBezTo>
                <a:cubicBezTo>
                  <a:pt x="307057" y="1021379"/>
                  <a:pt x="300120" y="984917"/>
                  <a:pt x="275573" y="1164921"/>
                </a:cubicBezTo>
                <a:cubicBezTo>
                  <a:pt x="272005" y="1191086"/>
                  <a:pt x="250520" y="1213670"/>
                  <a:pt x="250520" y="1240077"/>
                </a:cubicBezTo>
                <a:lnTo>
                  <a:pt x="250520" y="131523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8190847" y="543839"/>
            <a:ext cx="126435" cy="713984"/>
          </a:xfrm>
          <a:custGeom>
            <a:avLst/>
            <a:gdLst>
              <a:gd name="connsiteX0" fmla="*/ 0 w 126435"/>
              <a:gd name="connsiteY0" fmla="*/ 0 h 713984"/>
              <a:gd name="connsiteX1" fmla="*/ 62630 w 126435"/>
              <a:gd name="connsiteY1" fmla="*/ 100209 h 713984"/>
              <a:gd name="connsiteX2" fmla="*/ 100208 w 126435"/>
              <a:gd name="connsiteY2" fmla="*/ 137787 h 713984"/>
              <a:gd name="connsiteX3" fmla="*/ 112734 w 126435"/>
              <a:gd name="connsiteY3" fmla="*/ 175365 h 713984"/>
              <a:gd name="connsiteX4" fmla="*/ 87682 w 126435"/>
              <a:gd name="connsiteY4" fmla="*/ 363255 h 713984"/>
              <a:gd name="connsiteX5" fmla="*/ 100208 w 126435"/>
              <a:gd name="connsiteY5" fmla="*/ 488516 h 713984"/>
              <a:gd name="connsiteX6" fmla="*/ 125260 w 126435"/>
              <a:gd name="connsiteY6" fmla="*/ 526094 h 713984"/>
              <a:gd name="connsiteX7" fmla="*/ 75156 w 126435"/>
              <a:gd name="connsiteY7" fmla="*/ 601250 h 713984"/>
              <a:gd name="connsiteX8" fmla="*/ 100208 w 126435"/>
              <a:gd name="connsiteY8" fmla="*/ 676406 h 713984"/>
              <a:gd name="connsiteX9" fmla="*/ 112734 w 126435"/>
              <a:gd name="connsiteY9" fmla="*/ 713984 h 713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435" h="713984">
                <a:moveTo>
                  <a:pt x="0" y="0"/>
                </a:moveTo>
                <a:cubicBezTo>
                  <a:pt x="5240" y="8733"/>
                  <a:pt x="48858" y="83683"/>
                  <a:pt x="62630" y="100209"/>
                </a:cubicBezTo>
                <a:cubicBezTo>
                  <a:pt x="73971" y="113818"/>
                  <a:pt x="87682" y="125261"/>
                  <a:pt x="100208" y="137787"/>
                </a:cubicBezTo>
                <a:cubicBezTo>
                  <a:pt x="104383" y="150313"/>
                  <a:pt x="112734" y="162161"/>
                  <a:pt x="112734" y="175365"/>
                </a:cubicBezTo>
                <a:cubicBezTo>
                  <a:pt x="112734" y="297967"/>
                  <a:pt x="112530" y="288712"/>
                  <a:pt x="87682" y="363255"/>
                </a:cubicBezTo>
                <a:cubicBezTo>
                  <a:pt x="91857" y="405009"/>
                  <a:pt x="90773" y="447629"/>
                  <a:pt x="100208" y="488516"/>
                </a:cubicBezTo>
                <a:cubicBezTo>
                  <a:pt x="103593" y="503185"/>
                  <a:pt x="123131" y="511191"/>
                  <a:pt x="125260" y="526094"/>
                </a:cubicBezTo>
                <a:cubicBezTo>
                  <a:pt x="132294" y="575329"/>
                  <a:pt x="106761" y="580180"/>
                  <a:pt x="75156" y="601250"/>
                </a:cubicBezTo>
                <a:cubicBezTo>
                  <a:pt x="53143" y="667289"/>
                  <a:pt x="58506" y="613854"/>
                  <a:pt x="100208" y="676406"/>
                </a:cubicBezTo>
                <a:cubicBezTo>
                  <a:pt x="107532" y="687392"/>
                  <a:pt x="112734" y="713984"/>
                  <a:pt x="112734" y="71398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2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55984" y="434109"/>
            <a:ext cx="420929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Neg</a:t>
            </a:r>
            <a:r>
              <a:rPr lang="en-US" altLang="en-US" sz="2800" b="1" dirty="0"/>
              <a:t> sense RNA 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Major families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9803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Many types of negative sense RNA viruses cause serious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human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Those with monopartite genomes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Rhabdoviridae</a:t>
            </a:r>
            <a:r>
              <a:rPr lang="en-US" altLang="en-US" sz="2400" dirty="0">
                <a:latin typeface="Arial" charset="0"/>
                <a:cs typeface="Arial" charset="0"/>
              </a:rPr>
              <a:t> – Rabies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Filoviridae – Ebola, Marburg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(hemorrhagic diseases)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Paramyxoviridae</a:t>
            </a:r>
            <a:r>
              <a:rPr lang="en-US" altLang="en-US" sz="2400" dirty="0">
                <a:latin typeface="Arial" charset="0"/>
                <a:cs typeface="Arial" charset="0"/>
              </a:rPr>
              <a:t> – Measles, mumps, RSV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Bornaviridae</a:t>
            </a:r>
            <a:r>
              <a:rPr lang="en-US" altLang="en-US" sz="2400" dirty="0">
                <a:latin typeface="Arial" charset="0"/>
                <a:cs typeface="Arial" charset="0"/>
              </a:rPr>
              <a:t> – </a:t>
            </a:r>
            <a:r>
              <a:rPr lang="en-US" altLang="en-US" sz="2400" dirty="0" err="1">
                <a:latin typeface="Arial" charset="0"/>
                <a:cs typeface="Arial" charset="0"/>
              </a:rPr>
              <a:t>Borna</a:t>
            </a:r>
            <a:r>
              <a:rPr lang="en-US" altLang="en-US" sz="2400" dirty="0">
                <a:latin typeface="Arial" charset="0"/>
                <a:cs typeface="Arial" charset="0"/>
              </a:rPr>
              <a:t> disease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dirty="0">
                <a:latin typeface="Arial" charset="0"/>
                <a:cs typeface="Arial" charset="0"/>
              </a:rPr>
              <a:t>Those with segmented genomes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Orthomyxoviridae</a:t>
            </a:r>
            <a:r>
              <a:rPr lang="en-US" altLang="en-US" sz="2400" dirty="0">
                <a:latin typeface="Arial" charset="0"/>
                <a:cs typeface="Arial" charset="0"/>
              </a:rPr>
              <a:t> – influenza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Bunyaviridae</a:t>
            </a:r>
            <a:r>
              <a:rPr lang="en-US" altLang="en-US" sz="2400" dirty="0">
                <a:latin typeface="Arial" charset="0"/>
                <a:cs typeface="Arial" charset="0"/>
              </a:rPr>
              <a:t> – Hantavirus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Arenaviridae</a:t>
            </a:r>
            <a:r>
              <a:rPr lang="en-US" altLang="en-US" sz="2400" dirty="0">
                <a:latin typeface="Arial" charset="0"/>
                <a:cs typeface="Arial" charset="0"/>
              </a:rPr>
              <a:t> – Lassa fever virus   </a:t>
            </a:r>
          </a:p>
        </p:txBody>
      </p:sp>
      <p:pic>
        <p:nvPicPr>
          <p:cNvPr id="1026" name="Picture 2" descr="http://www.auuuu.org/respiratory/pictures/hantavirus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800600"/>
            <a:ext cx="2797395" cy="191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trbimg.com/img-54d4f46b/turbine/la-me-ln-measles-outbreak-santa-monica-center-reopens-201502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33568"/>
            <a:ext cx="2532846" cy="142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06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169064" y="434109"/>
            <a:ext cx="27831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Rhabdoviruses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59803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Family of viruses that have enveloped,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bullet</a:t>
            </a:r>
            <a:r>
              <a:rPr lang="en-US" altLang="en-US" sz="2400" dirty="0">
                <a:latin typeface="Arial" charset="0"/>
                <a:cs typeface="Arial" charset="0"/>
              </a:rPr>
              <a:t> shaped helical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capsids  (</a:t>
            </a:r>
            <a:r>
              <a:rPr lang="en-US" altLang="en-US" sz="2400" dirty="0" err="1">
                <a:latin typeface="Arial" charset="0"/>
                <a:cs typeface="Arial" charset="0"/>
              </a:rPr>
              <a:t>rhabdos</a:t>
            </a:r>
            <a:r>
              <a:rPr lang="en-US" altLang="en-US" sz="2400" dirty="0">
                <a:latin typeface="Arial" charset="0"/>
                <a:cs typeface="Arial" charset="0"/>
              </a:rPr>
              <a:t> = rod in Greek)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Genome is single piece of negative sense RNA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Infect  a wide variety of animals and plant species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Most common human pathogens – VSV and rabies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Unique features of the matrix (M) protein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Inhibits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transcription</a:t>
            </a:r>
            <a:r>
              <a:rPr lang="en-US" altLang="en-US" sz="2400" dirty="0">
                <a:latin typeface="Arial" charset="0"/>
                <a:cs typeface="Arial" charset="0"/>
              </a:rPr>
              <a:t> by all host RNA pol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Blocks protein and RNA movement in/out of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the nucleus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Nuclear function completely gone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Inhibits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interferon</a:t>
            </a:r>
            <a:r>
              <a:rPr lang="en-US" altLang="en-US" sz="2400" dirty="0">
                <a:latin typeface="Arial" charset="0"/>
                <a:cs typeface="Arial" charset="0"/>
              </a:rPr>
              <a:t> action </a:t>
            </a:r>
          </a:p>
        </p:txBody>
      </p:sp>
      <p:pic>
        <p:nvPicPr>
          <p:cNvPr id="6" name="Picture 2" descr="http://www.dost-dongnai.gov.vn/portals/0/tinkhcn/200902/20090211/vi-r%C3%BAt%20VSV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4419600"/>
            <a:ext cx="1797050" cy="219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http://education.expasy.org/images/Virion_plat_VSV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096" y="248315"/>
            <a:ext cx="2431542" cy="1325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165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169064" y="434109"/>
            <a:ext cx="27831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Rhabdoviruses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Rabies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6106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Causes a fatal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encephalitis</a:t>
            </a:r>
            <a:r>
              <a:rPr lang="en-US" altLang="en-US" sz="2400" dirty="0">
                <a:latin typeface="Arial" charset="0"/>
                <a:cs typeface="Arial" charset="0"/>
              </a:rPr>
              <a:t> in nearly 100% of those infected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Still kills 10,000-50,000 a year (developing countries)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Only 6 people ever have survived after start of symptoms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Early symptoms </a:t>
            </a:r>
            <a:r>
              <a:rPr lang="en-US" altLang="en-US" sz="2400" dirty="0">
                <a:latin typeface="Arial" charset="0"/>
                <a:cs typeface="Arial" charset="0"/>
              </a:rPr>
              <a:t>(1-3 months post infection)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Fever, muscle and headache, nausea,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twitching</a:t>
            </a:r>
            <a:r>
              <a:rPr lang="en-US" altLang="en-US" sz="2400" dirty="0">
                <a:latin typeface="Arial" charset="0"/>
                <a:cs typeface="Arial" charset="0"/>
              </a:rPr>
              <a:t>/tingling at the site of infection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Later symptoms </a:t>
            </a:r>
            <a:r>
              <a:rPr lang="en-US" altLang="en-US" sz="2400" dirty="0">
                <a:latin typeface="Arial" charset="0"/>
                <a:cs typeface="Arial" charset="0"/>
              </a:rPr>
              <a:t>(2 months – years)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Encephalitis, confusion, seizures, hallucinations,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sensitivity to light, sound, touch, etc.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Body temp rises and increased salivation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Frothing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Throat spasms when swallowing water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latin typeface="Arial" charset="0"/>
                <a:cs typeface="Arial" charset="0"/>
              </a:rPr>
              <a:t>Hydrophobia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Coma occurs and death soon after</a:t>
            </a:r>
          </a:p>
        </p:txBody>
      </p:sp>
      <p:pic>
        <p:nvPicPr>
          <p:cNvPr id="8" name="Picture 12" descr="rabies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895600"/>
            <a:ext cx="1276350" cy="192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 descr="pasteu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62397"/>
            <a:ext cx="1009650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00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ebspace.ship.edu/lhelli/rabies/img11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370" y="4953000"/>
            <a:ext cx="8096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169064" y="434109"/>
            <a:ext cx="27831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Rhabdoviruses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Rabies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524000"/>
            <a:ext cx="89154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Rabies is primarily acquired from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saliva</a:t>
            </a:r>
            <a:r>
              <a:rPr lang="en-US" altLang="en-US" sz="2400" dirty="0">
                <a:latin typeface="Arial" charset="0"/>
                <a:cs typeface="Arial" charset="0"/>
              </a:rPr>
              <a:t> of an infected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animal following a bite/abrasion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Dogs and cats (domestic), bats, raccoons, foxes,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skunks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Can't eliminate, but can control by vaccinating animals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Also contracted by inhaling infected animal feces (bats)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Once infected, animals exhibit similar symptoms as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See two major forms of animal rabies: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1)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Excitable</a:t>
            </a:r>
            <a:r>
              <a:rPr lang="en-US" altLang="en-US" sz="2400" b="1" dirty="0">
                <a:latin typeface="Arial" charset="0"/>
                <a:cs typeface="Arial" charset="0"/>
              </a:rPr>
              <a:t> form </a:t>
            </a:r>
            <a:r>
              <a:rPr lang="en-US" altLang="en-US" sz="2400" dirty="0">
                <a:latin typeface="Arial" charset="0"/>
                <a:cs typeface="Arial" charset="0"/>
              </a:rPr>
              <a:t>- Become irritable and aggressive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- Prone to attack other animals, people,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or inanimate objects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2) </a:t>
            </a:r>
            <a:r>
              <a:rPr lang="en-US" altLang="en-US" sz="2400" b="1" dirty="0">
                <a:latin typeface="Arial" charset="0"/>
                <a:cs typeface="Arial" charset="0"/>
              </a:rPr>
              <a:t>"Dumb" form</a:t>
            </a:r>
            <a:r>
              <a:rPr lang="en-US" altLang="en-US" sz="2400" dirty="0">
                <a:latin typeface="Arial" charset="0"/>
                <a:cs typeface="Arial" charset="0"/>
              </a:rPr>
              <a:t> - Become listless, stop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   eating, throat closes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death</a:t>
            </a:r>
            <a:r>
              <a:rPr lang="en-US" altLang="en-US" sz="2400" dirty="0">
                <a:latin typeface="Arial" charset="0"/>
                <a:cs typeface="Arial" charset="0"/>
              </a:rPr>
              <a:t>           </a:t>
            </a:r>
          </a:p>
        </p:txBody>
      </p:sp>
      <p:pic>
        <p:nvPicPr>
          <p:cNvPr id="7" name="Picture 8" descr="http://vignette3.wikia.nocookie.net/villains/images/4/4d/Cujorabies.jpg/revision/latest?cb=2011032520425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00409"/>
            <a:ext cx="1448306" cy="132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96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169064" y="434109"/>
            <a:ext cx="27831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Rhabdoviruses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Rabies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23834"/>
            <a:ext cx="8915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Spread to CNS and back again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Length of time before spread to CNS depends on inoculum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size and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location</a:t>
            </a:r>
            <a:r>
              <a:rPr lang="en-US" altLang="en-US" sz="2400" dirty="0">
                <a:latin typeface="Arial" charset="0"/>
                <a:cs typeface="Arial" charset="0"/>
              </a:rPr>
              <a:t> of the bite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More virus and closer to head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Quicker death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Mechanism and triggers of spread – not really known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Virus binds to peripheral neuron axon terminus and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enters cytosol – uses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NAR</a:t>
            </a:r>
            <a:r>
              <a:rPr lang="en-US" altLang="en-US" sz="2400" dirty="0">
                <a:latin typeface="Arial" charset="0"/>
                <a:cs typeface="Arial" charset="0"/>
              </a:rPr>
              <a:t> to attach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Capsid moves from periphery to CNS in cytosol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Replicates very well in many different cell types of brain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spinal cord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High numbers of viruses go back into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peripheral</a:t>
            </a:r>
            <a:r>
              <a:rPr lang="en-US" altLang="en-US" sz="2400" dirty="0">
                <a:latin typeface="Arial" charset="0"/>
                <a:cs typeface="Arial" charset="0"/>
              </a:rPr>
              <a:t> neurons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Spread to almost every tissue in the body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Spread is most efficient to salivary glands, eyes,…</a:t>
            </a:r>
          </a:p>
        </p:txBody>
      </p:sp>
      <p:pic>
        <p:nvPicPr>
          <p:cNvPr id="8" name="Picture 8" descr="196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726" y="228599"/>
            <a:ext cx="2163031" cy="1729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270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922220" y="434109"/>
            <a:ext cx="527683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Rhabdoviruses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Vesicular stomatitis virus (VSV) 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5" y="1715486"/>
            <a:ext cx="84582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VSV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Produces vesicular lesions on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mouth</a:t>
            </a:r>
            <a:r>
              <a:rPr lang="en-US" altLang="en-US" sz="2400" dirty="0">
                <a:latin typeface="Arial" charset="0"/>
                <a:cs typeface="Arial" charset="0"/>
              </a:rPr>
              <a:t> of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livestock and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Livestock will stop eating during acute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phase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dangerous if animal not cared for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- Self-limiting and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  <a:sym typeface="Wingdings" panose="05000000000000000000" pitchFamily="2" charset="2"/>
              </a:rPr>
              <a:t>low mortality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Type of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oncolytic</a:t>
            </a:r>
            <a:r>
              <a:rPr lang="en-US" altLang="en-US" sz="2400" b="1" dirty="0">
                <a:latin typeface="Arial" charset="0"/>
                <a:cs typeface="Arial" charset="0"/>
              </a:rPr>
              <a:t>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Naturally have a tendency to kill tumor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cells more effectively than normal cells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Not only will they kill the tumor cells, but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also spark an immune response (allowing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animal to begin fighting its own tumor)</a:t>
            </a:r>
          </a:p>
        </p:txBody>
      </p:sp>
      <p:pic>
        <p:nvPicPr>
          <p:cNvPr id="3074" name="Picture 2" descr="https://agriculture.az.gov/sites/default/files/VSV%5B1%5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209800"/>
            <a:ext cx="2028825" cy="185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495800"/>
            <a:ext cx="1018542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998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519324" y="434109"/>
            <a:ext cx="2082621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Filoviruses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Discovery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5" y="1715486"/>
            <a:ext cx="84582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Discovery and major types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1967</a:t>
            </a:r>
            <a:r>
              <a:rPr lang="en-US" altLang="en-US" sz="2400" dirty="0">
                <a:latin typeface="Arial" charset="0"/>
                <a:cs typeface="Arial" charset="0"/>
              </a:rPr>
              <a:t> (Marburg, Germany) – Lab workers handling African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Green Monkey tissue from Uganda became ill w/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hemorrhagic disease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- 7 died and they passed it onto other hospital workers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New virus discovered =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Marburg virus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dirty="0">
                <a:latin typeface="Arial" charset="0"/>
                <a:cs typeface="Arial" charset="0"/>
              </a:rPr>
              <a:t>1976</a:t>
            </a:r>
            <a:r>
              <a:rPr lang="en-US" altLang="en-US" sz="2400" dirty="0">
                <a:latin typeface="Arial" charset="0"/>
                <a:cs typeface="Arial" charset="0"/>
              </a:rPr>
              <a:t> (Zaire and Sudan) – Outbreak of similar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hemorrhagic disease w/ extremely high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mortality (~90%)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Named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Ebola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Outbreaks occur every several years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and are extremely serious threats</a:t>
            </a:r>
          </a:p>
        </p:txBody>
      </p:sp>
      <p:pic>
        <p:nvPicPr>
          <p:cNvPr id="8196" name="Picture 4" descr="http://satdude.com/4don/THE%20HOT%20ZONE,%20by%20Richard%20Preston/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926417"/>
            <a:ext cx="2031914" cy="262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://www.asset1.net/tv/pictures/movie/outbreak-1995/DI-Outbreak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218" y="304800"/>
            <a:ext cx="2924175" cy="164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42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37434" y="434109"/>
            <a:ext cx="32464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Filoviruses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Ebola and Marburg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4" y="1715486"/>
            <a:ext cx="881246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Enveloped viruses with a long,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thread-like</a:t>
            </a:r>
            <a:r>
              <a:rPr lang="en-US" altLang="en-US" sz="2400" dirty="0">
                <a:latin typeface="Arial" charset="0"/>
                <a:cs typeface="Arial" charset="0"/>
              </a:rPr>
              <a:t> helical capsids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i="1" dirty="0">
                <a:latin typeface="Arial" charset="0"/>
                <a:cs typeface="Arial" charset="0"/>
              </a:rPr>
              <a:t>Filum</a:t>
            </a:r>
            <a:r>
              <a:rPr lang="en-US" altLang="en-US" sz="2400" dirty="0">
                <a:latin typeface="Arial" charset="0"/>
                <a:cs typeface="Arial" charset="0"/>
              </a:rPr>
              <a:t> = thread in Latin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Major features of filoviruses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Cause hemorrhagic disease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infect variety of animals, including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primates, pigs, and bats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Enter and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leave</a:t>
            </a:r>
            <a:r>
              <a:rPr lang="en-US" altLang="en-US" sz="2400" dirty="0">
                <a:latin typeface="Arial" charset="0"/>
                <a:cs typeface="Arial" charset="0"/>
              </a:rPr>
              <a:t> human population on a regular basis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Must have animal reservoir(s)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Probably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fruit bats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Spread between humans by blood and other body fluids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Not respiratory, STI?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Contagious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– very little contact can lead to infection       </a:t>
            </a:r>
          </a:p>
        </p:txBody>
      </p:sp>
      <p:pic>
        <p:nvPicPr>
          <p:cNvPr id="8194" name="Picture 2" descr="http://photos1.blogger.com/blogger/6329/3760/400/cellbio2ebola17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438400"/>
            <a:ext cx="2710134" cy="185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https://christophergeiser87.files.wordpress.com/2015/03/2841668-21336_funny_batman_batman_wor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67588"/>
            <a:ext cx="2133600" cy="133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48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37434" y="434109"/>
            <a:ext cx="32464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Paramyxoviruses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4" y="1715486"/>
            <a:ext cx="881246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Enveloped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w/ single piece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of </a:t>
            </a:r>
            <a:r>
              <a:rPr lang="en-US" altLang="en-US" sz="2400" dirty="0" err="1">
                <a:latin typeface="Arial" charset="0"/>
                <a:cs typeface="Arial" charset="0"/>
              </a:rPr>
              <a:t>neg</a:t>
            </a:r>
            <a:r>
              <a:rPr lang="en-US" altLang="en-US" sz="2400" dirty="0">
                <a:latin typeface="Arial" charset="0"/>
                <a:cs typeface="Arial" charset="0"/>
              </a:rPr>
              <a:t> sense </a:t>
            </a:r>
            <a:r>
              <a:rPr lang="en-US" altLang="en-US" sz="2400" dirty="0" err="1">
                <a:latin typeface="Arial" charset="0"/>
                <a:cs typeface="Arial" charset="0"/>
              </a:rPr>
              <a:t>ssRNA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Helical capsid, but overall shape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is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pleomorphic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They are named due to their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propensity to trigger mucous production in the sick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i="1" dirty="0" err="1">
                <a:latin typeface="Arial" charset="0"/>
                <a:cs typeface="Arial" charset="0"/>
              </a:rPr>
              <a:t>Myxo</a:t>
            </a:r>
            <a:r>
              <a:rPr lang="en-US" altLang="en-US" sz="2400" dirty="0">
                <a:latin typeface="Arial" charset="0"/>
                <a:cs typeface="Arial" charset="0"/>
              </a:rPr>
              <a:t> = mucous 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Includes a number of serious human and animal pathogens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Measles</a:t>
            </a:r>
            <a:r>
              <a:rPr lang="en-US" altLang="en-US" sz="2400" dirty="0">
                <a:latin typeface="Arial" charset="0"/>
                <a:cs typeface="Arial" charset="0"/>
              </a:rPr>
              <a:t>, mumps, RSV, canine distemper, rinderpest,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and parainfluenza virus</a:t>
            </a:r>
          </a:p>
        </p:txBody>
      </p:sp>
      <p:pic>
        <p:nvPicPr>
          <p:cNvPr id="6" name="Picture 11" descr="http://thepointeedition.lww.com/FullTextService/CT%7b06b9ee1beed59419dca31751313659160b0e61cd2e90dea599debb0abe0c126421276e693de4b97033ee759d821282aa%7d/DA2DB2C34FF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714442"/>
            <a:ext cx="3172716" cy="218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7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37434" y="434109"/>
            <a:ext cx="32464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Paramyxoviruses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Measles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4" y="1524000"/>
            <a:ext cx="881246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Measles disease symptoms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About 1-2 weeks post-infection, usually have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high fever,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cough</a:t>
            </a:r>
            <a:r>
              <a:rPr lang="en-US" altLang="en-US" sz="2400" dirty="0">
                <a:latin typeface="Arial" charset="0"/>
                <a:cs typeface="Arial" charset="0"/>
              </a:rPr>
              <a:t>, conjunctivitis, widespread rash,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and characteristic </a:t>
            </a:r>
            <a:r>
              <a:rPr lang="en-US" altLang="en-US" sz="2400" dirty="0" err="1">
                <a:latin typeface="Arial" charset="0"/>
                <a:cs typeface="Arial" charset="0"/>
              </a:rPr>
              <a:t>Koplik</a:t>
            </a:r>
            <a:r>
              <a:rPr lang="en-US" altLang="en-US" sz="2400" dirty="0">
                <a:latin typeface="Arial" charset="0"/>
                <a:cs typeface="Arial" charset="0"/>
              </a:rPr>
              <a:t> spots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Koplik</a:t>
            </a:r>
            <a:r>
              <a:rPr lang="en-US" altLang="en-US" sz="2400" dirty="0">
                <a:latin typeface="Arial" charset="0"/>
                <a:cs typeface="Arial" charset="0"/>
              </a:rPr>
              <a:t> spots – Raised white spot surrounded by a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irregular bright redness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Severe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immunosuppression</a:t>
            </a:r>
            <a:r>
              <a:rPr lang="en-US" altLang="en-US" sz="2400" dirty="0">
                <a:latin typeface="Arial" charset="0"/>
                <a:cs typeface="Arial" charset="0"/>
              </a:rPr>
              <a:t> typically occurs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See lots of 2° bacterial infections and reactivation of TB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and HSV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Some also develop encephalitis quickly (AME) or a few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years later (SSPE)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SSPE is very severe and nearly 100% fatal</a:t>
            </a:r>
          </a:p>
        </p:txBody>
      </p:sp>
      <p:pic>
        <p:nvPicPr>
          <p:cNvPr id="5" name="Picture 14" descr="http://www.geocities.jp/eggeggeggeggtamagoeggegg/koplik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04800"/>
            <a:ext cx="1951339" cy="1546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952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37434" y="434109"/>
            <a:ext cx="32464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Paramyxoviruses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Measles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4" y="1524000"/>
            <a:ext cx="881246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Spread of the measles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Most commonly transmitted by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inhalation</a:t>
            </a:r>
            <a:r>
              <a:rPr lang="en-US" altLang="en-US" sz="2400" dirty="0">
                <a:latin typeface="Arial" charset="0"/>
                <a:cs typeface="Arial" charset="0"/>
              </a:rPr>
              <a:t> of respiratory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droplets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Very contagious – can be from brief encounter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Usually transmitted before symptoms appear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also be acquired from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eye</a:t>
            </a:r>
            <a:r>
              <a:rPr lang="en-US" altLang="en-US" sz="2400" dirty="0">
                <a:latin typeface="Arial" charset="0"/>
                <a:cs typeface="Arial" charset="0"/>
              </a:rPr>
              <a:t> exposure to respiratory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droplets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Initial site of replication would then be in eye epithelium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Interesting aspects of its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Very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lytic</a:t>
            </a:r>
            <a:r>
              <a:rPr lang="en-US" altLang="en-US" sz="2400" dirty="0">
                <a:latin typeface="Arial" charset="0"/>
                <a:cs typeface="Arial" charset="0"/>
              </a:rPr>
              <a:t> (kills infected cells efficiently), induces </a:t>
            </a:r>
            <a:r>
              <a:rPr lang="en-US" altLang="en-US" sz="2400" dirty="0" err="1">
                <a:latin typeface="Arial" charset="0"/>
                <a:cs typeface="Arial" charset="0"/>
              </a:rPr>
              <a:t>inflamm</a:t>
            </a:r>
            <a:r>
              <a:rPr lang="en-US" altLang="en-US" sz="2400" dirty="0">
                <a:latin typeface="Arial" charset="0"/>
                <a:cs typeface="Arial" charset="0"/>
              </a:rPr>
              <a:t>.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Induces syncytia formation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F protein on infected cells fuses w/ uninfected</a:t>
            </a:r>
          </a:p>
        </p:txBody>
      </p:sp>
      <p:pic>
        <p:nvPicPr>
          <p:cNvPr id="6" name="Picture 9" descr="http://www.tau.ac.il/lifesci/departments/biotech/members/rozenblatt/fig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04800"/>
            <a:ext cx="1964258" cy="148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613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937434" y="434109"/>
            <a:ext cx="324640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Paramyxoviruses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Measles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5" y="1683603"/>
            <a:ext cx="8660066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Treatment, prevention, outcomes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Usually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self-limiting</a:t>
            </a:r>
            <a:r>
              <a:rPr lang="en-US" altLang="en-US" sz="2400" dirty="0">
                <a:latin typeface="Arial" charset="0"/>
                <a:cs typeface="Arial" charset="0"/>
              </a:rPr>
              <a:t> and requires no intervention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Immunosuppressed, “new” populations, and children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who are malnourished are susceptible to complications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(and death)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Vitamin A</a:t>
            </a:r>
            <a:r>
              <a:rPr lang="en-US" altLang="en-US" sz="2400" dirty="0">
                <a:latin typeface="Arial" charset="0"/>
                <a:cs typeface="Arial" charset="0"/>
              </a:rPr>
              <a:t> deficiency major risk factor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Watch for 2° infections, pneumonia, diarrhea,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encephalitis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Give </a:t>
            </a:r>
            <a:r>
              <a:rPr lang="en-US" altLang="en-US" sz="2400" dirty="0" err="1">
                <a:latin typeface="Arial" charset="0"/>
                <a:cs typeface="Arial" charset="0"/>
              </a:rPr>
              <a:t>vit</a:t>
            </a:r>
            <a:r>
              <a:rPr lang="en-US" altLang="en-US" sz="2400" dirty="0">
                <a:latin typeface="Arial" charset="0"/>
                <a:cs typeface="Arial" charset="0"/>
              </a:rPr>
              <a:t> A and treat symptoms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No direct treatment!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Live, attenuated (MMR) vaccine very effective at prevention </a:t>
            </a:r>
          </a:p>
        </p:txBody>
      </p:sp>
      <p:pic>
        <p:nvPicPr>
          <p:cNvPr id="5" name="Picture 6" descr="http://www.nysopep.org/Images/Prevention_Vitami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1189"/>
            <a:ext cx="1850303" cy="1850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009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639276" y="434109"/>
            <a:ext cx="384272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Paramyxoviruses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Other viruses/diseases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4" y="1447800"/>
            <a:ext cx="881246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Mumps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Relatively minor, self-limiting childhood disease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characterized by fever and swollen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salivary</a:t>
            </a:r>
            <a:r>
              <a:rPr lang="en-US" altLang="en-US" sz="2400" dirty="0">
                <a:latin typeface="Arial" charset="0"/>
                <a:cs typeface="Arial" charset="0"/>
              </a:rPr>
              <a:t> (parotid) glands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Complications can arise, especially for teens/adults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Gonadal tissue can be targeted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pain and permanent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 reproductive damage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- Encephalitis and meningitis in some cases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Respiratory syncytial virus (RSV)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Common in adults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chronic, minor upper respiratory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infections (especially during dry winter)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      - Almost part of normal flora in many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Can lead to pneumonia, respiratory failure, &amp; death in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premature newborns </a:t>
            </a:r>
            <a:r>
              <a:rPr lang="en-US" altLang="en-US" sz="2400" dirty="0">
                <a:latin typeface="Arial" charset="0"/>
                <a:cs typeface="Arial" charset="0"/>
              </a:rPr>
              <a:t>and those w/ lung problems   </a:t>
            </a:r>
          </a:p>
        </p:txBody>
      </p:sp>
      <p:pic>
        <p:nvPicPr>
          <p:cNvPr id="10244" name="Picture 4" descr="http://www.vaccinews.net/wordpress/wp-content/uploads/2013/07/mumps-300x24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28600"/>
            <a:ext cx="1974227" cy="159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20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639276" y="434109"/>
            <a:ext cx="3842720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Paramyxoviruses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Other viruses/diseases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4" y="1671935"/>
            <a:ext cx="881246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Canine distemper and rinderpest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Distemper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Caused by a virus (CDV) similar to human measles virus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Affects dogs and many other domestic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and wild animals (e.g. raccoons, foxes,…)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Deadly disease characterized by fever, nasal/eye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discharge, poor breathing,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hardened</a:t>
            </a:r>
            <a:r>
              <a:rPr lang="en-US" altLang="en-US" sz="2400" dirty="0">
                <a:latin typeface="Arial" charset="0"/>
                <a:cs typeface="Arial" charset="0"/>
              </a:rPr>
              <a:t> nose/foot pads, and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severe neurological symptoms (e.g. seizures, spasms)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</a:t>
            </a:r>
            <a:r>
              <a:rPr lang="en-US" altLang="en-US" sz="2400" b="1" dirty="0">
                <a:latin typeface="Arial" charset="0"/>
                <a:cs typeface="Arial" charset="0"/>
              </a:rPr>
              <a:t>Rinderpest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Disease of livestock and ungulates similar to distemper,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but even more deadly (nearly 100%)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Mass vaccinations in 20</a:t>
            </a:r>
            <a:r>
              <a:rPr lang="en-US" altLang="en-US" sz="2400" baseline="30000" dirty="0">
                <a:latin typeface="Arial" charset="0"/>
                <a:cs typeface="Arial" charset="0"/>
              </a:rPr>
              <a:t>th</a:t>
            </a:r>
            <a:r>
              <a:rPr lang="en-US" altLang="en-US" sz="2400" dirty="0">
                <a:latin typeface="Arial" charset="0"/>
                <a:cs typeface="Arial" charset="0"/>
              </a:rPr>
              <a:t> century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</a:t>
            </a:r>
            <a:r>
              <a:rPr lang="en-US" altLang="en-US" sz="2400" dirty="0">
                <a:latin typeface="Arial" charset="0"/>
                <a:cs typeface="Arial" charset="0"/>
              </a:rPr>
              <a:t>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eradicated</a:t>
            </a:r>
            <a:r>
              <a:rPr lang="en-US" altLang="en-US" sz="2400" dirty="0">
                <a:latin typeface="Arial" charset="0"/>
                <a:cs typeface="Arial" charset="0"/>
              </a:rPr>
              <a:t> 2010!      </a:t>
            </a:r>
          </a:p>
        </p:txBody>
      </p:sp>
      <p:pic>
        <p:nvPicPr>
          <p:cNvPr id="15362" name="Picture 2" descr="https://upload.wikimedia.org/wikipedia/commons/2/28/Canine_distemp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34109"/>
            <a:ext cx="1992564" cy="133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upload.wikimedia.org/wikipedia/commons/thumb/3/36/Rinderpest_1896-CN.jpg/220px-Rinderpest_1896-C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34" y="59614"/>
            <a:ext cx="20955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22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879727" y="434109"/>
            <a:ext cx="336181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Orthomyxoviruses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4" y="1524000"/>
            <a:ext cx="881246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Structural characteristics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Segmented</a:t>
            </a:r>
            <a:r>
              <a:rPr lang="en-US" altLang="en-US" sz="2400" dirty="0">
                <a:latin typeface="Arial" charset="0"/>
                <a:cs typeface="Arial" charset="0"/>
              </a:rPr>
              <a:t> RNA genome – 7-8 pieces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Genome encapsulated by a NP protein (nucleoprotein)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Several helical capsids (1 for each segment)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dirty="0" err="1">
                <a:latin typeface="Arial" charset="0"/>
                <a:cs typeface="Arial" charset="0"/>
              </a:rPr>
              <a:t>Nucleocapsid</a:t>
            </a:r>
            <a:r>
              <a:rPr lang="en-US" altLang="en-US" sz="2400" dirty="0">
                <a:latin typeface="Arial" charset="0"/>
                <a:cs typeface="Arial" charset="0"/>
              </a:rPr>
              <a:t>(s) surrounded by a layer of matrix protein and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host-derived envelope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Influenza viruses are most important type that affects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Causes fever, muscle ache, and major respiratory illness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Deadly for very young and old (pneumonia)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Three major epidemics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1918</a:t>
            </a:r>
            <a:r>
              <a:rPr lang="en-US" altLang="en-US" sz="2400" dirty="0">
                <a:latin typeface="Arial" charset="0"/>
                <a:cs typeface="Arial" charset="0"/>
              </a:rPr>
              <a:t> – H1N1 strain (Spanish flu) killed over 50 million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- 1957 – H2N2 strain (Asian flu) – 1.5 million died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- 1968 – H3N2 strain (Hong Kong flu) – 750,000 died</a:t>
            </a:r>
          </a:p>
        </p:txBody>
      </p:sp>
      <p:pic>
        <p:nvPicPr>
          <p:cNvPr id="6" name="Picture 9" descr="http://www.fluvirustoday.info/wp-content/uploads/2009/07/EM_of_influenza_virus-282x3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8600"/>
            <a:ext cx="1806575" cy="192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748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879727" y="434109"/>
            <a:ext cx="336181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Orthomyxoviruses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Influenza viruses</a:t>
            </a:r>
          </a:p>
        </p:txBody>
      </p:sp>
      <p:pic>
        <p:nvPicPr>
          <p:cNvPr id="5" name="Picture 7" descr="http://thepointeedition.lww.com/FullTextService/CT%7b06b9ee1beed59419dca31751313659160b0e61cd2e90dea599debb0abe0c126421276e693de4b97033ee759d821282aa%7d/DA2DB2C36FF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939" y="433065"/>
            <a:ext cx="2379662" cy="225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 descr="http://www.twiv.tv/wp-content/uploads/2009/08/sialic-aci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636" y="3886200"/>
            <a:ext cx="4191000" cy="1687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31535" y="1524000"/>
            <a:ext cx="8660066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Host-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b="1" dirty="0">
                <a:latin typeface="Arial" charset="0"/>
                <a:cs typeface="Arial" charset="0"/>
              </a:rPr>
              <a:t> attachment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bind to terminal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sialic acid </a:t>
            </a:r>
            <a:r>
              <a:rPr lang="en-US" altLang="en-US" sz="2400" dirty="0">
                <a:latin typeface="Arial" charset="0"/>
                <a:cs typeface="Arial" charset="0"/>
              </a:rPr>
              <a:t>residues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linked to galactose found in host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glycoproteins (</a:t>
            </a:r>
            <a:r>
              <a:rPr lang="en-US" altLang="en-US" sz="2400" dirty="0" err="1">
                <a:latin typeface="Arial" charset="0"/>
                <a:cs typeface="Arial" charset="0"/>
              </a:rPr>
              <a:t>respir</a:t>
            </a:r>
            <a:r>
              <a:rPr lang="en-US" altLang="en-US" sz="2400" dirty="0">
                <a:latin typeface="Arial" charset="0"/>
                <a:cs typeface="Arial" charset="0"/>
              </a:rPr>
              <a:t>. epithelial cells)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- SA-gal linkage is important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- Humans have </a:t>
            </a:r>
            <a:r>
              <a:rPr lang="el-GR" altLang="en-US" sz="2400" dirty="0">
                <a:latin typeface="Arial" charset="0"/>
                <a:cs typeface="Arial" charset="0"/>
              </a:rPr>
              <a:t>α(2,6), </a:t>
            </a:r>
            <a:r>
              <a:rPr lang="en-US" altLang="en-US" sz="2400" dirty="0">
                <a:latin typeface="Arial" charset="0"/>
                <a:cs typeface="Arial" charset="0"/>
              </a:rPr>
              <a:t>birds </a:t>
            </a:r>
            <a:r>
              <a:rPr lang="el-GR" altLang="en-US" sz="2400" dirty="0">
                <a:latin typeface="Arial" charset="0"/>
                <a:cs typeface="Arial" charset="0"/>
              </a:rPr>
              <a:t>α(2,3), </a:t>
            </a:r>
            <a:r>
              <a:rPr lang="en-US" altLang="en-US" sz="2400" dirty="0">
                <a:latin typeface="Arial" charset="0"/>
                <a:cs typeface="Arial" charset="0"/>
              </a:rPr>
              <a:t>pigs have both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Flu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hemagglutinin</a:t>
            </a:r>
            <a:r>
              <a:rPr lang="en-US" altLang="en-US" sz="2400" dirty="0">
                <a:latin typeface="Arial" charset="0"/>
                <a:cs typeface="Arial" charset="0"/>
              </a:rPr>
              <a:t> (HA)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on its surface attaches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to host SA during entry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Flu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neuraminidase</a:t>
            </a:r>
            <a:r>
              <a:rPr lang="en-US" altLang="en-US" sz="2400" dirty="0">
                <a:latin typeface="Arial" charset="0"/>
                <a:cs typeface="Arial" charset="0"/>
              </a:rPr>
              <a:t> (NA) cuts SA during exit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Must have HA &amp; NA that can bind to same SA-gal linkage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27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879727" y="434109"/>
            <a:ext cx="336181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Orthomyxoviruses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Influenza viruses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95271"/>
            <a:ext cx="8915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Unique aspects of its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dirty="0">
                <a:latin typeface="Arial" charset="0"/>
                <a:cs typeface="Arial" charset="0"/>
              </a:rPr>
              <a:t>Entry/</a:t>
            </a:r>
            <a:r>
              <a:rPr lang="en-US" altLang="en-US" sz="2400" b="1" dirty="0" err="1">
                <a:latin typeface="Arial" charset="0"/>
                <a:cs typeface="Arial" charset="0"/>
              </a:rPr>
              <a:t>uncoating</a:t>
            </a: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are internalized into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endosomes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Acidification occurs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has a channel protein called M2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in its envelope that allows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H</a:t>
            </a:r>
            <a:r>
              <a:rPr lang="en-US" altLang="en-US" sz="2400" b="1" u="sng" baseline="30000" dirty="0">
                <a:solidFill>
                  <a:srgbClr val="FF0000"/>
                </a:solidFill>
                <a:latin typeface="Arial" charset="0"/>
                <a:cs typeface="Arial" charset="0"/>
              </a:rPr>
              <a:t>+</a:t>
            </a:r>
            <a:r>
              <a:rPr lang="en-US" altLang="en-US" sz="2400" dirty="0">
                <a:latin typeface="Arial" charset="0"/>
                <a:cs typeface="Arial" charset="0"/>
              </a:rPr>
              <a:t> to enter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into the viral core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t</a:t>
            </a:r>
            <a:r>
              <a:rPr lang="en-US" altLang="en-US" sz="2400" dirty="0">
                <a:latin typeface="Arial" charset="0"/>
                <a:cs typeface="Arial" charset="0"/>
              </a:rPr>
              <a:t>riggers full </a:t>
            </a:r>
            <a:r>
              <a:rPr lang="en-US" altLang="en-US" sz="2400" dirty="0" err="1">
                <a:latin typeface="Arial" charset="0"/>
                <a:cs typeface="Arial" charset="0"/>
              </a:rPr>
              <a:t>uncoating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Some flu drugs (</a:t>
            </a:r>
            <a:r>
              <a:rPr lang="en-US" altLang="en-US" sz="2400" dirty="0" err="1">
                <a:latin typeface="Arial" charset="0"/>
                <a:cs typeface="Arial" charset="0"/>
              </a:rPr>
              <a:t>amantidine</a:t>
            </a:r>
            <a:r>
              <a:rPr lang="en-US" altLang="en-US" sz="2400" dirty="0">
                <a:latin typeface="Arial" charset="0"/>
                <a:cs typeface="Arial" charset="0"/>
              </a:rPr>
              <a:t>/</a:t>
            </a:r>
            <a:r>
              <a:rPr lang="en-US" altLang="en-US" sz="2400" dirty="0" err="1">
                <a:latin typeface="Arial" charset="0"/>
                <a:cs typeface="Arial" charset="0"/>
              </a:rPr>
              <a:t>rimantidine</a:t>
            </a:r>
            <a:r>
              <a:rPr lang="en-US" altLang="en-US" sz="2400" dirty="0">
                <a:latin typeface="Arial" charset="0"/>
                <a:cs typeface="Arial" charset="0"/>
              </a:rPr>
              <a:t>) target M2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</a:t>
            </a:r>
            <a:r>
              <a:rPr lang="en-US" altLang="en-US" sz="2400" b="1" dirty="0">
                <a:latin typeface="Arial" charset="0"/>
                <a:cs typeface="Arial" charset="0"/>
              </a:rPr>
              <a:t>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RNA genome enters into the host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nucleus</a:t>
            </a:r>
            <a:r>
              <a:rPr lang="en-US" altLang="en-US" sz="2400" dirty="0">
                <a:latin typeface="Arial" charset="0"/>
                <a:cs typeface="Arial" charset="0"/>
              </a:rPr>
              <a:t> (rare)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Steals 5’ caps from host mRNAs, needs splicing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- Nuclear structures regulate viral mRNA vs genome syn.</a:t>
            </a:r>
          </a:p>
        </p:txBody>
      </p:sp>
      <p:pic>
        <p:nvPicPr>
          <p:cNvPr id="6" name="Picture 7" descr="http://www.reactome.org/figures/influenza_entr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133600"/>
            <a:ext cx="2577937" cy="174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ttp://thepointeedition.lww.com/FullTextService/CT%7b06b9ee1beed59419dca31751313659160b0e61cd2e90dea599debb0abe0c126421276e693de4b97033ee759d821282aa%7d/DA2DB2C36FF1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3339"/>
            <a:ext cx="1617661" cy="153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24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879727" y="434109"/>
            <a:ext cx="336181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Orthomyxoviruses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Influenza viruses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95271"/>
            <a:ext cx="8915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Unique aspects of its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</a:t>
            </a:r>
            <a:r>
              <a:rPr lang="en-US" altLang="en-US" sz="2400" b="1" dirty="0">
                <a:latin typeface="Arial" charset="0"/>
                <a:cs typeface="Arial" charset="0"/>
              </a:rPr>
              <a:t>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Flu </a:t>
            </a:r>
            <a:r>
              <a:rPr lang="en-US" altLang="en-US" sz="2400" dirty="0" err="1">
                <a:latin typeface="Arial" charset="0"/>
                <a:cs typeface="Arial" charset="0"/>
              </a:rPr>
              <a:t>RdRp</a:t>
            </a:r>
            <a:r>
              <a:rPr lang="en-US" altLang="en-US" sz="2400" dirty="0">
                <a:latin typeface="Arial" charset="0"/>
                <a:cs typeface="Arial" charset="0"/>
              </a:rPr>
              <a:t> is very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error prone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Lots of point mutations are inserted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during genome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Can lead to structurally different HA and NA proteins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emerging over time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Called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antigenic drift</a:t>
            </a:r>
          </a:p>
          <a:p>
            <a:pPr>
              <a:spcBef>
                <a:spcPct val="0"/>
              </a:spcBef>
              <a:buNone/>
            </a:pPr>
            <a:endParaRPr lang="en-US" altLang="en-US" sz="2400" b="1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</a:t>
            </a:r>
            <a:r>
              <a:rPr lang="en-US" altLang="en-US" sz="2400" dirty="0">
                <a:latin typeface="Arial" charset="0"/>
                <a:cs typeface="Arial" charset="0"/>
              </a:rPr>
              <a:t>-</a:t>
            </a:r>
            <a:r>
              <a:rPr lang="en-US" altLang="en-US" sz="2400" b="1" dirty="0">
                <a:latin typeface="Arial" charset="0"/>
                <a:cs typeface="Arial" charset="0"/>
              </a:rPr>
              <a:t> Assembly/exit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</a:t>
            </a:r>
            <a:r>
              <a:rPr lang="en-US" altLang="en-US" sz="2400" dirty="0">
                <a:latin typeface="Arial" charset="0"/>
                <a:cs typeface="Arial" charset="0"/>
              </a:rPr>
              <a:t>- Flu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virions</a:t>
            </a:r>
            <a:r>
              <a:rPr lang="en-US" altLang="en-US" sz="2400" dirty="0">
                <a:latin typeface="Arial" charset="0"/>
                <a:cs typeface="Arial" charset="0"/>
              </a:rPr>
              <a:t> must package all of its 7-8 genomic fragments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  </a:t>
            </a:r>
            <a:r>
              <a:rPr lang="en-US" altLang="en-US" sz="2400" dirty="0">
                <a:latin typeface="Arial" charset="0"/>
                <a:cs typeface="Arial" charset="0"/>
              </a:rPr>
              <a:t>- Missing any one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 noninfectious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  <a:sym typeface="Wingdings" panose="05000000000000000000" pitchFamily="2" charset="2"/>
              </a:rPr>
              <a:t>       </a:t>
            </a:r>
            <a:r>
              <a:rPr lang="en-US" altLang="en-US" sz="2400" dirty="0">
                <a:latin typeface="Arial" charset="0"/>
                <a:cs typeface="Arial" charset="0"/>
                <a:sym typeface="Wingdings" panose="05000000000000000000" pitchFamily="2" charset="2"/>
              </a:rPr>
              <a:t>- Will often send a bunch to membrane (some get extra)</a:t>
            </a:r>
            <a:endParaRPr lang="en-US" altLang="en-US" sz="2400" b="1" dirty="0">
              <a:latin typeface="Arial" charset="0"/>
              <a:cs typeface="Arial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911162"/>
            <a:ext cx="19050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471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879727" y="434109"/>
            <a:ext cx="3361818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Orthomyxoviruses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Influenza viruses</a:t>
            </a:r>
          </a:p>
        </p:txBody>
      </p:sp>
      <p:pic>
        <p:nvPicPr>
          <p:cNvPr id="5" name="Picture 4" descr="http://upload.wikimedia.org/wikipedia/en/c/ca/Antigenic_drift_vs_shi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3" y="4098925"/>
            <a:ext cx="3811587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library.thinkquest.org/05aug/01479/images/antigenic%20shift%20edited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75" y="1676400"/>
            <a:ext cx="2819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95271"/>
            <a:ext cx="89154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u="sng" dirty="0">
                <a:latin typeface="Arial" charset="0"/>
                <a:cs typeface="Arial" charset="0"/>
              </a:rPr>
              <a:t>Unique aspects of its replication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</a:t>
            </a:r>
            <a:r>
              <a:rPr lang="en-US" altLang="en-US" sz="2400" b="1" dirty="0">
                <a:latin typeface="Arial" charset="0"/>
                <a:cs typeface="Arial" charset="0"/>
              </a:rPr>
              <a:t> Antigenic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shift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</a:t>
            </a:r>
            <a:r>
              <a:rPr lang="en-US" altLang="en-US" sz="2400" dirty="0">
                <a:latin typeface="Arial" charset="0"/>
                <a:cs typeface="Arial" charset="0"/>
              </a:rPr>
              <a:t>- Two different strains of flu can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      </a:t>
            </a:r>
            <a:r>
              <a:rPr lang="en-US" altLang="en-US" sz="2400" dirty="0">
                <a:latin typeface="Arial" charset="0"/>
                <a:cs typeface="Arial" charset="0"/>
              </a:rPr>
              <a:t>infect the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same cell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More common in pig cells b/c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  they have both types of SA-gal forms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Both replicate their genomes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When assembling,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mixtures</a:t>
            </a:r>
            <a:r>
              <a:rPr lang="en-US" altLang="en-US" sz="2400" dirty="0">
                <a:latin typeface="Arial" charset="0"/>
                <a:cs typeface="Arial" charset="0"/>
              </a:rPr>
              <a:t> of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the two strains genomic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fragments can end up in a new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   - Can lead to major changes in strain type</a:t>
            </a:r>
          </a:p>
        </p:txBody>
      </p:sp>
    </p:spTree>
    <p:extLst>
      <p:ext uri="{BB962C8B-B14F-4D97-AF65-F5344CB8AC3E}">
        <p14:creationId xmlns:p14="http://schemas.microsoft.com/office/powerpoint/2010/main" val="126778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608820" y="434109"/>
            <a:ext cx="3903634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Bunyaviruses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 and diseases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764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Huge family that contains over 300 unique viruses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Most are arboviruses, but there are a few carried by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rodents (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robovirus</a:t>
            </a:r>
            <a:r>
              <a:rPr lang="en-US" altLang="en-US" sz="2400" dirty="0">
                <a:latin typeface="Arial" charset="0"/>
                <a:cs typeface="Arial" charset="0"/>
              </a:rPr>
              <a:t> – </a:t>
            </a:r>
            <a:r>
              <a:rPr lang="en-US" altLang="en-US" sz="2400" b="1" dirty="0">
                <a:latin typeface="Arial" charset="0"/>
                <a:cs typeface="Arial" charset="0"/>
              </a:rPr>
              <a:t>ro</a:t>
            </a:r>
            <a:r>
              <a:rPr lang="en-US" altLang="en-US" sz="2400" dirty="0">
                <a:latin typeface="Arial" charset="0"/>
                <a:cs typeface="Arial" charset="0"/>
              </a:rPr>
              <a:t>dent </a:t>
            </a:r>
            <a:r>
              <a:rPr lang="en-US" altLang="en-US" sz="2400" b="1" dirty="0">
                <a:latin typeface="Arial" charset="0"/>
                <a:cs typeface="Arial" charset="0"/>
              </a:rPr>
              <a:t>bo</a:t>
            </a:r>
            <a:r>
              <a:rPr lang="en-US" altLang="en-US" sz="2400" dirty="0">
                <a:latin typeface="Arial" charset="0"/>
                <a:cs typeface="Arial" charset="0"/>
              </a:rPr>
              <a:t>rne)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- Causes four different types of diseases in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Encephalitis</a:t>
            </a:r>
            <a:r>
              <a:rPr lang="en-US" altLang="en-US" sz="2400" dirty="0">
                <a:latin typeface="Arial" charset="0"/>
                <a:cs typeface="Arial" charset="0"/>
              </a:rPr>
              <a:t> (e.g. La Crosse)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Hemorrhagic fever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Hemorrhagic fever + renal problems (</a:t>
            </a:r>
            <a:r>
              <a:rPr lang="en-US" altLang="en-US" sz="2400" dirty="0" err="1">
                <a:latin typeface="Arial" charset="0"/>
                <a:cs typeface="Arial" charset="0"/>
              </a:rPr>
              <a:t>Hantaan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- Hemorrhagic fever + lung problems (Sin </a:t>
            </a:r>
            <a:r>
              <a:rPr lang="en-US" altLang="en-US" sz="2400" dirty="0" err="1">
                <a:latin typeface="Arial" charset="0"/>
                <a:cs typeface="Arial" charset="0"/>
              </a:rPr>
              <a:t>Nombre</a:t>
            </a:r>
            <a:r>
              <a:rPr lang="en-US" alt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</a:t>
            </a:r>
            <a:r>
              <a:rPr lang="en-US" altLang="en-US" sz="2400" b="1" dirty="0">
                <a:latin typeface="Arial" charset="0"/>
                <a:cs typeface="Arial" charset="0"/>
              </a:rPr>
              <a:t>Structural characteristics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b="1" dirty="0">
                <a:latin typeface="Arial" charset="0"/>
                <a:cs typeface="Arial" charset="0"/>
              </a:rPr>
              <a:t>   </a:t>
            </a:r>
            <a:r>
              <a:rPr lang="en-US" altLang="en-US" sz="2400" dirty="0">
                <a:latin typeface="Arial" charset="0"/>
                <a:cs typeface="Arial" charset="0"/>
              </a:rPr>
              <a:t>- Three genomic pieces covered in N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protein (helical capsid)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No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matrix</a:t>
            </a:r>
            <a:r>
              <a:rPr lang="en-US" altLang="en-US" sz="2400" dirty="0">
                <a:latin typeface="Arial" charset="0"/>
                <a:cs typeface="Arial" charset="0"/>
              </a:rPr>
              <a:t> in the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endParaRPr lang="en-US" altLang="en-US" sz="2400" dirty="0">
              <a:latin typeface="Arial" charset="0"/>
              <a:cs typeface="Arial" charset="0"/>
            </a:endParaRPr>
          </a:p>
        </p:txBody>
      </p:sp>
      <p:pic>
        <p:nvPicPr>
          <p:cNvPr id="17410" name="Picture 2" descr="http://cvr.academicblogs.co.uk/wp-content/uploads/sites/33/2015/08/Bunya-schematic-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985392"/>
            <a:ext cx="3124200" cy="165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http://media.gizmodo.co.uk/wp-content/uploads/2015/06/roboco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16306"/>
            <a:ext cx="2116053" cy="118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13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488601" y="434109"/>
            <a:ext cx="4144083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/>
              <a:t>Bunyaviruses</a:t>
            </a:r>
            <a:endParaRPr lang="en-US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Hantavirus (Sin </a:t>
            </a:r>
            <a:r>
              <a:rPr lang="en-US" altLang="en-US" sz="2800" dirty="0" err="1"/>
              <a:t>Nombre</a:t>
            </a:r>
            <a:r>
              <a:rPr lang="en-US" altLang="en-US" sz="2800" dirty="0"/>
              <a:t>)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676400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Sin </a:t>
            </a:r>
            <a:r>
              <a:rPr lang="en-US" altLang="en-US" sz="2400" dirty="0" err="1">
                <a:latin typeface="Arial" charset="0"/>
                <a:cs typeface="Arial" charset="0"/>
              </a:rPr>
              <a:t>Nombre</a:t>
            </a:r>
            <a:r>
              <a:rPr lang="en-US" altLang="en-US" sz="2400" dirty="0">
                <a:latin typeface="Arial" charset="0"/>
                <a:cs typeface="Arial" charset="0"/>
              </a:rPr>
              <a:t> virus is a type of Hantavirus (genus) that causes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a fatal hemorrhagic fever and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respiratory</a:t>
            </a:r>
            <a:r>
              <a:rPr lang="en-US" altLang="en-US" sz="2400" dirty="0">
                <a:latin typeface="Arial" charset="0"/>
                <a:cs typeface="Arial" charset="0"/>
              </a:rPr>
              <a:t> failure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First major outbreak occurred in the Four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Corners region of southwest U.S. in 1993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- 24 cases of hemorrhagic fever &amp; pneumonia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amongst the Navajo and others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- 12 died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Discovered to be spread by the inhalation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of dried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deer mouse feces</a:t>
            </a:r>
            <a:r>
              <a:rPr lang="en-US" altLang="en-US" sz="2400" b="1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sz="2400" dirty="0">
                <a:latin typeface="Arial" charset="0"/>
                <a:cs typeface="Arial" charset="0"/>
              </a:rPr>
              <a:t>(after sweeping)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Wet winters and increases in food let to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major increase in mouse population</a:t>
            </a:r>
          </a:p>
        </p:txBody>
      </p:sp>
      <p:pic>
        <p:nvPicPr>
          <p:cNvPr id="22530" name="Picture 2" descr="http://www.photonics.com/images/Web/Articles/2002/12/5/deermous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516" y="5073969"/>
            <a:ext cx="2355589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http://www.worldatlas.com/aatlas/infopage/fourcorner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545" y="2596545"/>
            <a:ext cx="1869532" cy="197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82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328574" y="434109"/>
            <a:ext cx="2464136" cy="95410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/>
              <a:t>Arenaviruses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Overview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28600" y="1735753"/>
            <a:ext cx="8610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Bipartite genomes w/in helical NC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surrounded by an enveloped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- Accidentally package host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ribosomes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into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particles - No known function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  - Gives </a:t>
            </a:r>
            <a:r>
              <a:rPr lang="en-US" altLang="en-US" sz="2400" dirty="0" err="1">
                <a:latin typeface="Arial" charset="0"/>
                <a:cs typeface="Arial" charset="0"/>
              </a:rPr>
              <a:t>virion</a:t>
            </a:r>
            <a:r>
              <a:rPr lang="en-US" altLang="en-US" sz="2400" dirty="0">
                <a:latin typeface="Arial" charset="0"/>
                <a:cs typeface="Arial" charset="0"/>
              </a:rPr>
              <a:t> sandy appearance (arena= Latin for sand)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Separated into Old World vs New World based on sequence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Most are </a:t>
            </a:r>
            <a:r>
              <a:rPr lang="en-US" altLang="en-US" sz="2400" b="1" u="sng" dirty="0" err="1">
                <a:solidFill>
                  <a:srgbClr val="FF0000"/>
                </a:solidFill>
                <a:latin typeface="Arial" charset="0"/>
                <a:cs typeface="Arial" charset="0"/>
              </a:rPr>
              <a:t>roboviruses</a:t>
            </a:r>
            <a:r>
              <a:rPr lang="en-US" altLang="en-US" sz="2400" dirty="0">
                <a:latin typeface="Arial" charset="0"/>
                <a:cs typeface="Arial" charset="0"/>
              </a:rPr>
              <a:t> (spread by rodent vectors)</a:t>
            </a:r>
          </a:p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• Causes a wide array of very serious diseases in humans 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LCMV – flu-like disease in mice, encephalitis in humans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</a:t>
            </a:r>
            <a:r>
              <a:rPr lang="en-US" altLang="en-US" sz="2400" b="1" u="sng" dirty="0">
                <a:solidFill>
                  <a:srgbClr val="FF0000"/>
                </a:solidFill>
                <a:latin typeface="Arial" charset="0"/>
                <a:cs typeface="Arial" charset="0"/>
              </a:rPr>
              <a:t>Lassa</a:t>
            </a:r>
            <a:r>
              <a:rPr lang="en-US" altLang="en-US" sz="2400" dirty="0">
                <a:latin typeface="Arial" charset="0"/>
                <a:cs typeface="Arial" charset="0"/>
              </a:rPr>
              <a:t> fever – hemorrhagic fever in W. Africa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    - Several S. American hemorrhagic fever viruses</a:t>
            </a:r>
          </a:p>
        </p:txBody>
      </p:sp>
      <p:pic>
        <p:nvPicPr>
          <p:cNvPr id="23554" name="Picture 2" descr="https://upload.wikimedia.org/wikipedia/commons/1/1a/Lassa_virus_virions_TEM_8699_lor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911162"/>
            <a:ext cx="2445756" cy="212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0" name="Picture 8" descr="http://thumbs.dreamstime.com/z/arena-virus-background-eps-vector-illustration-4358534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2" y="153037"/>
            <a:ext cx="1355105" cy="144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4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71462</TotalTime>
  <Words>2356</Words>
  <Application>Microsoft Office PowerPoint</Application>
  <PresentationFormat>On-screen Show (4:3)</PresentationFormat>
  <Paragraphs>355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Joshua Loomis</cp:lastModifiedBy>
  <cp:revision>1251</cp:revision>
  <dcterms:created xsi:type="dcterms:W3CDTF">2015-01-10T02:03:23Z</dcterms:created>
  <dcterms:modified xsi:type="dcterms:W3CDTF">2020-06-13T02:32:23Z</dcterms:modified>
</cp:coreProperties>
</file>