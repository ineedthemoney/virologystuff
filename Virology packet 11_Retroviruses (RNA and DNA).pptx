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3" r:id="rId23"/>
    <p:sldId id="284" r:id="rId24"/>
    <p:sldId id="285" r:id="rId25"/>
    <p:sldId id="286" r:id="rId26"/>
    <p:sldId id="287" r:id="rId27"/>
    <p:sldId id="281" r:id="rId28"/>
    <p:sldId id="288" r:id="rId29"/>
    <p:sldId id="260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E502E-4520-4905-8C82-D6C560ADAA0F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49DD-EF03-4E2A-8932-7F7B374EE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0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3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0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0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4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6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8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6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8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7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youtube.com/watch?v=xtnejNGOONk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4415547" y="1676400"/>
            <a:ext cx="3129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71335" y="1114961"/>
            <a:ext cx="684392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Lecture 11</a:t>
            </a:r>
          </a:p>
          <a:p>
            <a:pPr algn="ctr"/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RNA and DNA Retroviruses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HIV and beyond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637" y="3669506"/>
            <a:ext cx="4889631" cy="272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414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033" y="5715000"/>
            <a:ext cx="3973767" cy="726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198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25121"/>
            <a:ext cx="1676401" cy="1372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15" y="0"/>
            <a:ext cx="248888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87648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Defined by the production of reverse transcriptase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its ability to convert viral genomic RNA into DNA</a:t>
            </a:r>
          </a:p>
          <a:p>
            <a:pPr>
              <a:spcBef>
                <a:spcPct val="0"/>
              </a:spcBef>
              <a:buNone/>
            </a:pPr>
            <a:endParaRPr lang="en-US" altLang="en-US" sz="2400" b="1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General </a:t>
            </a:r>
            <a:r>
              <a:rPr lang="en-US" altLang="en-US" sz="2400" b="1" u="sng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 structure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u="sng" dirty="0">
                <a:latin typeface="Arial" charset="0"/>
                <a:cs typeface="Arial" charset="0"/>
              </a:rPr>
              <a:t>Genome</a:t>
            </a:r>
            <a:r>
              <a:rPr lang="en-US" altLang="en-US" sz="2400" dirty="0">
                <a:latin typeface="Arial" charset="0"/>
                <a:cs typeface="Arial" charset="0"/>
              </a:rPr>
              <a:t>: Single-stranded, positive sense RNA genome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Always package two copies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Needed for reverse transcription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Resemble cellular mRNA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5’ cap, 3’ poly A tail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Coated w/ NC protein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Simple retroviruses have three major regions genetically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</a:t>
            </a:r>
            <a:r>
              <a:rPr lang="en-US" altLang="en-US" sz="2400" i="1" dirty="0">
                <a:latin typeface="Arial" charset="0"/>
                <a:cs typeface="Arial" charset="0"/>
              </a:rPr>
              <a:t>gag</a:t>
            </a:r>
            <a:r>
              <a:rPr lang="en-US" altLang="en-US" sz="2400" dirty="0">
                <a:latin typeface="Arial" charset="0"/>
                <a:cs typeface="Arial" charset="0"/>
              </a:rPr>
              <a:t> (encodes MA, CA, NC)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</a:t>
            </a:r>
            <a:r>
              <a:rPr lang="en-US" altLang="en-US" sz="2400" i="1" dirty="0">
                <a:latin typeface="Arial" charset="0"/>
                <a:cs typeface="Arial" charset="0"/>
              </a:rPr>
              <a:t>pol</a:t>
            </a:r>
            <a:r>
              <a:rPr lang="en-US" altLang="en-US" sz="2400" dirty="0">
                <a:latin typeface="Arial" charset="0"/>
                <a:cs typeface="Arial" charset="0"/>
              </a:rPr>
              <a:t> (encodes PR, RT, IN)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</a:t>
            </a:r>
            <a:r>
              <a:rPr lang="en-US" altLang="en-US" sz="2400" i="1" dirty="0" err="1">
                <a:latin typeface="Arial" charset="0"/>
                <a:cs typeface="Arial" charset="0"/>
              </a:rPr>
              <a:t>env</a:t>
            </a:r>
            <a:r>
              <a:rPr lang="en-US" altLang="en-US" sz="2400" dirty="0">
                <a:latin typeface="Arial" charset="0"/>
                <a:cs typeface="Arial" charset="0"/>
              </a:rPr>
              <a:t> (encodes glycoproteins)</a:t>
            </a:r>
          </a:p>
        </p:txBody>
      </p:sp>
    </p:spTree>
    <p:extLst>
      <p:ext uri="{BB962C8B-B14F-4D97-AF65-F5344CB8AC3E}">
        <p14:creationId xmlns:p14="http://schemas.microsoft.com/office/powerpoint/2010/main" val="294482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137849"/>
            <a:ext cx="3428999" cy="272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764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General structure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u="sng" dirty="0">
                <a:latin typeface="Arial" charset="0"/>
                <a:cs typeface="Arial" charset="0"/>
              </a:rPr>
              <a:t>Capsid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Cone-shaped capsid (CA) surrounds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Also includes RT, PR, and IN inside w/ the genome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u="sng" dirty="0">
                <a:latin typeface="Arial" charset="0"/>
                <a:cs typeface="Arial" charset="0"/>
              </a:rPr>
              <a:t>Beyond the capsid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Matrix (MA) protein and host-derived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envelope surround the capsid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Envelope has a complex viral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glycoprotein composed of two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non-covalently linked polypeptides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Called SU (surface) and TM (transmembrane)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Has ability to mediate both attachment and fusion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198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 </a:t>
            </a:r>
          </a:p>
        </p:txBody>
      </p:sp>
    </p:spTree>
    <p:extLst>
      <p:ext uri="{BB962C8B-B14F-4D97-AF65-F5344CB8AC3E}">
        <p14:creationId xmlns:p14="http://schemas.microsoft.com/office/powerpoint/2010/main" val="9921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8243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Entry is usually at the PM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Combo SU-TM glycoprotein changes shape after binding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to the receptor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SU attaches to receptor, TM mediates fusion w/ PM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Uncoating</a:t>
            </a:r>
            <a:r>
              <a:rPr lang="en-US" altLang="en-US" sz="2400" b="1" dirty="0">
                <a:latin typeface="Arial" charset="0"/>
                <a:cs typeface="Arial" charset="0"/>
              </a:rPr>
              <a:t> and reverse transcription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Most models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HIV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uncoats</a:t>
            </a:r>
            <a:endParaRPr lang="en-US" altLang="en-US" sz="2400" dirty="0">
              <a:latin typeface="Arial" charset="0"/>
              <a:cs typeface="Arial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gradually on its way to the nucleus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Capsid needed for movement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nucleus on MF and MT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Reverse transcription takes place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inside of the capsid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Gone before reaching </a:t>
            </a:r>
            <a:r>
              <a:rPr lang="en-US" altLang="en-US" sz="2400" dirty="0" err="1">
                <a:latin typeface="Arial" charset="0"/>
                <a:cs typeface="Arial" charset="0"/>
              </a:rPr>
              <a:t>nuc</a:t>
            </a:r>
            <a:r>
              <a:rPr lang="en-US" altLang="en-US" sz="2400" dirty="0">
                <a:latin typeface="Arial" charset="0"/>
                <a:cs typeface="Arial" charset="0"/>
              </a:rPr>
              <a:t> pore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078226" y="434109"/>
            <a:ext cx="496482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Unique features of replication </a:t>
            </a:r>
          </a:p>
        </p:txBody>
      </p:sp>
      <p:pic>
        <p:nvPicPr>
          <p:cNvPr id="4098" name="Picture 2" descr="http://education.expasy.org/images/HIV_cyc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581400"/>
            <a:ext cx="3319613" cy="290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73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Nuclear entry and integration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Pre-integration complex must form before nuclear entry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PIC includes dsDNA viral genome, viral proteins (IN, </a:t>
            </a:r>
            <a:r>
              <a:rPr lang="en-US" altLang="en-US" sz="2400" dirty="0" err="1">
                <a:latin typeface="Arial" charset="0"/>
                <a:cs typeface="Arial" charset="0"/>
              </a:rPr>
              <a:t>Vpr</a:t>
            </a:r>
            <a:r>
              <a:rPr lang="en-US" altLang="en-US" sz="2400" dirty="0">
                <a:latin typeface="Arial" charset="0"/>
                <a:cs typeface="Arial" charset="0"/>
              </a:rPr>
              <a:t>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RT, and PR) and some host proteins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Nuclear entry occurs via 1 of 2 mechanisms: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</a:t>
            </a:r>
            <a:r>
              <a:rPr lang="en-US" altLang="en-US" sz="2400" dirty="0">
                <a:latin typeface="Arial" charset="0"/>
                <a:cs typeface="Arial" charset="0"/>
              </a:rPr>
              <a:t>- PIC actively moves through </a:t>
            </a:r>
            <a:r>
              <a:rPr lang="en-US" altLang="en-US" sz="2400" dirty="0" err="1">
                <a:latin typeface="Arial" charset="0"/>
                <a:cs typeface="Arial" charset="0"/>
              </a:rPr>
              <a:t>nuc</a:t>
            </a:r>
            <a:r>
              <a:rPr lang="en-US" altLang="en-US" sz="2400" dirty="0">
                <a:latin typeface="Arial" charset="0"/>
                <a:cs typeface="Arial" charset="0"/>
              </a:rPr>
              <a:t> pore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</a:t>
            </a:r>
            <a:r>
              <a:rPr lang="en-US" altLang="en-US" sz="2400" dirty="0">
                <a:latin typeface="Arial" charset="0"/>
                <a:cs typeface="Arial" charset="0"/>
              </a:rPr>
              <a:t>- Most require cell to be mitosis so that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 </a:t>
            </a:r>
            <a:r>
              <a:rPr lang="en-US" altLang="en-US" sz="2400" dirty="0">
                <a:latin typeface="Arial" charset="0"/>
                <a:cs typeface="Arial" charset="0"/>
              </a:rPr>
              <a:t>nuclear membrane breaks down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Integrase cuts host DNA at “random” sites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Cuts 2 </a:t>
            </a:r>
            <a:r>
              <a:rPr lang="en-US" altLang="en-US" sz="2400" dirty="0" err="1">
                <a:latin typeface="Arial" charset="0"/>
                <a:cs typeface="Arial" charset="0"/>
              </a:rPr>
              <a:t>nt</a:t>
            </a:r>
            <a:r>
              <a:rPr lang="en-US" altLang="en-US" sz="2400" dirty="0">
                <a:latin typeface="Arial" charset="0"/>
                <a:cs typeface="Arial" charset="0"/>
              </a:rPr>
              <a:t> off each viral LTR and 2 </a:t>
            </a:r>
            <a:r>
              <a:rPr lang="en-US" altLang="en-US" sz="2400" dirty="0" err="1">
                <a:latin typeface="Arial" charset="0"/>
                <a:cs typeface="Arial" charset="0"/>
              </a:rPr>
              <a:t>nt</a:t>
            </a:r>
            <a:r>
              <a:rPr lang="en-US" altLang="en-US" sz="2400" dirty="0">
                <a:latin typeface="Arial" charset="0"/>
                <a:cs typeface="Arial" charset="0"/>
              </a:rPr>
              <a:t> off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host DNA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ends ligated and fixed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- Inserted genome called provirus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078226" y="434109"/>
            <a:ext cx="496482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Unique features of replication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731" y="4183538"/>
            <a:ext cx="2476869" cy="2509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6401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8243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Transcription and genome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Viral transcription factors bind to viral promoter found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in the upstream LTR region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Turns on transcription of viral gag-pol-</a:t>
            </a:r>
            <a:r>
              <a:rPr lang="en-US" altLang="en-US" sz="2400" dirty="0" err="1">
                <a:latin typeface="Arial" charset="0"/>
                <a:cs typeface="Arial" charset="0"/>
              </a:rPr>
              <a:t>env</a:t>
            </a:r>
            <a:r>
              <a:rPr lang="en-US" altLang="en-US" sz="2400" dirty="0">
                <a:latin typeface="Arial" charset="0"/>
                <a:cs typeface="Arial" charset="0"/>
              </a:rPr>
              <a:t> genes by host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RNA pol (</a:t>
            </a:r>
            <a:r>
              <a:rPr lang="en-US" altLang="en-US" sz="2400" dirty="0" err="1">
                <a:latin typeface="Arial" charset="0"/>
                <a:cs typeface="Arial" charset="0"/>
              </a:rPr>
              <a:t>DdRp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Product of transcription is viral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mRNA (+ sense)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Get a 5’ cap and 3’ poly A tail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Some remain full-length and become new genomes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Some are spliced into smaller mRNAs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new viral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 proteins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078226" y="434109"/>
            <a:ext cx="496482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Unique features of replication </a:t>
            </a:r>
          </a:p>
        </p:txBody>
      </p:sp>
      <p:pic>
        <p:nvPicPr>
          <p:cNvPr id="6146" name="Picture 2" descr="http://www.intechopen.com/source/html/18457/media/image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581400"/>
            <a:ext cx="3568860" cy="167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87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8243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Assembly, budding, and maturation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Gag and Gag-pol polyproteins go to the PM carrying two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copies of the + sense RNA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Gag proteins aggregate together and begin pushing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membrane out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Budding is ESCRT-dependent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Protease cuts itself out and then cuts Gag and Gag-pol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into individual MA,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NC, CA, RT,SU, TM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NC coats genome,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CA assembles into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the capsid,….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078226" y="434109"/>
            <a:ext cx="496482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Unique features of replication </a:t>
            </a:r>
          </a:p>
        </p:txBody>
      </p:sp>
      <p:pic>
        <p:nvPicPr>
          <p:cNvPr id="5" name="Picture 2" descr="http://jbiol.com/content/figures/1475-4924-3-3-1-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100" y="4648200"/>
            <a:ext cx="511810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043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Endogenous retroviruses (ERVs) overview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Exogenous retroviruses invaded gamete-forming tissue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(sperm and eggs) and stayed in genome there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Passed to next generation in gamete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Usually defective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can’t produce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anymore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Abundant  Human genomes have &gt;100,000 ERVs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Found in most animals (humans, pigs, dogs,…)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ERVs sometimes copy themselves and move to other parts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of the same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Called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retrotransposition</a:t>
            </a:r>
            <a:endParaRPr lang="en-US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ERVs can sometimes make actual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If one lacks a gene, can be supplied by another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67758" y="434109"/>
            <a:ext cx="418576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Endogenous retroviruses</a:t>
            </a:r>
          </a:p>
        </p:txBody>
      </p:sp>
      <p:pic>
        <p:nvPicPr>
          <p:cNvPr id="7170" name="Picture 2" descr="http://acronymsandslang.com/acronym_image/2094/b8dfd640bfd52de208597c9671eb472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684" y="407785"/>
            <a:ext cx="1993516" cy="119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www.relatably.com/m/img/sharing-is-caring-memes/6411618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5257800"/>
            <a:ext cx="1676400" cy="138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066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ERVs and the animal placenta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HERV </a:t>
            </a:r>
            <a:r>
              <a:rPr lang="en-US" altLang="en-US" sz="2400" dirty="0" err="1">
                <a:latin typeface="Arial" charset="0"/>
                <a:cs typeface="Arial" charset="0"/>
              </a:rPr>
              <a:t>Env</a:t>
            </a:r>
            <a:r>
              <a:rPr lang="en-US" altLang="en-US" sz="2400" dirty="0">
                <a:latin typeface="Arial" charset="0"/>
                <a:cs typeface="Arial" charset="0"/>
              </a:rPr>
              <a:t> proteins can be expressed in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Some of these can cause two adjacent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to fuse with one another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Creates syncytia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Early development of mammalian placenta requires fusion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of trophoblast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Recent evidence suggests the fusion uses HERV </a:t>
            </a:r>
            <a:r>
              <a:rPr lang="en-US" altLang="en-US" sz="2400" dirty="0" err="1">
                <a:latin typeface="Arial" charset="0"/>
                <a:cs typeface="Arial" charset="0"/>
              </a:rPr>
              <a:t>Env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Did ERVs play a role in mammalian evolution?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Virus Hunter video clip (25min – 33 min)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</a:t>
            </a:r>
            <a:r>
              <a:rPr lang="en-US" altLang="en-US" sz="1800" dirty="0">
                <a:latin typeface="Arial" charset="0"/>
                <a:cs typeface="Arial" charset="0"/>
                <a:hlinkClick r:id="rId2"/>
              </a:rPr>
              <a:t>https://www.youtube.com/watch?v=xtnejNGOONk</a:t>
            </a:r>
            <a:r>
              <a:rPr lang="en-US" altLang="en-US" sz="180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67758" y="434109"/>
            <a:ext cx="418576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Endogenous retroviruses</a:t>
            </a: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143000"/>
            <a:ext cx="1923789" cy="2380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508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3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HTLV-1 and 2</a:t>
            </a:r>
          </a:p>
        </p:txBody>
      </p:sp>
      <p:pic>
        <p:nvPicPr>
          <p:cNvPr id="11266" name="Picture 2" descr="http://www.intechopen.com/source/html/43115/media/image1_w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4109"/>
            <a:ext cx="2933392" cy="144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764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Human T cell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lymphotrophic</a:t>
            </a:r>
            <a:r>
              <a:rPr lang="en-US" altLang="en-US" sz="2400" b="1" dirty="0">
                <a:latin typeface="Arial" charset="0"/>
                <a:cs typeface="Arial" charset="0"/>
              </a:rPr>
              <a:t> viruses (HTLV)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Rare in humans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Type of complex retrovirus (more than gag-pol-</a:t>
            </a:r>
            <a:r>
              <a:rPr lang="en-US" altLang="en-US" sz="2400" dirty="0" err="1">
                <a:latin typeface="Arial" charset="0"/>
                <a:cs typeface="Arial" charset="0"/>
              </a:rPr>
              <a:t>env</a:t>
            </a:r>
            <a:r>
              <a:rPr lang="en-US" altLang="en-US" sz="2400" dirty="0">
                <a:latin typeface="Arial" charset="0"/>
                <a:cs typeface="Arial" charset="0"/>
              </a:rPr>
              <a:t>)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Spread via sexual contact, blood, and breast-feeding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HTLV-1 and 2 can cause significant human disease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Adult T cell lymphoma and leukemia (ATL) </a:t>
            </a:r>
            <a:r>
              <a:rPr lang="en-US" altLang="en-US" sz="2400" dirty="0">
                <a:latin typeface="Arial" charset="0"/>
                <a:cs typeface="Arial" charset="0"/>
              </a:rPr>
              <a:t>– HTLV-1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</a:t>
            </a:r>
            <a:r>
              <a:rPr lang="en-US" altLang="en-US" sz="2400" dirty="0">
                <a:latin typeface="Arial" charset="0"/>
                <a:cs typeface="Arial" charset="0"/>
              </a:rPr>
              <a:t>- Slow progressing cancer of T cells that can take &gt;40 </a:t>
            </a:r>
            <a:r>
              <a:rPr lang="en-US" altLang="en-US" sz="2400" dirty="0" err="1">
                <a:latin typeface="Arial" charset="0"/>
                <a:cs typeface="Arial" charset="0"/>
              </a:rPr>
              <a:t>yrs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</a:t>
            </a:r>
            <a:r>
              <a:rPr lang="en-US" altLang="en-US" sz="2400" dirty="0">
                <a:latin typeface="Arial" charset="0"/>
                <a:cs typeface="Arial" charset="0"/>
              </a:rPr>
              <a:t>- Cancerous T cells can be in bone marrow and blood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(leukemia) or in lymph nodes (lymphoma)</a:t>
            </a:r>
            <a:r>
              <a:rPr lang="en-US" altLang="en-US" sz="2400" b="1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</a:t>
            </a:r>
            <a:r>
              <a:rPr lang="en-US" altLang="en-US" sz="2400" dirty="0">
                <a:latin typeface="Arial" charset="0"/>
                <a:cs typeface="Arial" charset="0"/>
              </a:rPr>
              <a:t>- Largely due to the production of viral </a:t>
            </a:r>
            <a:r>
              <a:rPr lang="en-US" altLang="en-US" sz="2400" b="1" dirty="0">
                <a:latin typeface="Arial" charset="0"/>
                <a:cs typeface="Arial" charset="0"/>
              </a:rPr>
              <a:t>Tax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oncoprotein</a:t>
            </a:r>
            <a:endParaRPr lang="en-US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Tax turns on cell division, blocks p53, blocks cell death,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   </a:t>
            </a:r>
            <a:r>
              <a:rPr lang="en-US" altLang="en-US" sz="2400" dirty="0">
                <a:latin typeface="Arial" charset="0"/>
                <a:cs typeface="Arial" charset="0"/>
              </a:rPr>
              <a:t>and inhibits DNA repair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16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18821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HTLV-1 and 2 can cause significant human disease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Tropical spastic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paraparesis</a:t>
            </a:r>
            <a:r>
              <a:rPr lang="en-US" altLang="en-US" sz="2400" b="1" dirty="0">
                <a:latin typeface="Arial" charset="0"/>
                <a:cs typeface="Arial" charset="0"/>
              </a:rPr>
              <a:t> (myelopathy)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</a:t>
            </a:r>
            <a:r>
              <a:rPr lang="en-US" altLang="en-US" sz="2400" dirty="0">
                <a:latin typeface="Arial" charset="0"/>
                <a:cs typeface="Arial" charset="0"/>
              </a:rPr>
              <a:t>- Release of cytokines from CTLs fighting infected cells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leads to inflammation and demyelination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</a:t>
            </a:r>
            <a:r>
              <a:rPr lang="en-US" altLang="en-US" sz="2400" dirty="0">
                <a:latin typeface="Arial" charset="0"/>
                <a:cs typeface="Arial" charset="0"/>
              </a:rPr>
              <a:t>- Causes chronic muscle weakness, spasms, and sensory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disturbances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dirty="0">
                <a:latin typeface="Arial" charset="0"/>
                <a:cs typeface="Arial" charset="0"/>
              </a:rPr>
              <a:t>Immunodeficiency</a:t>
            </a:r>
            <a:r>
              <a:rPr lang="en-US" altLang="en-US" sz="2400" dirty="0">
                <a:latin typeface="Arial" charset="0"/>
                <a:cs typeface="Arial" charset="0"/>
              </a:rPr>
              <a:t> – due to T cell activation in wrong way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HTLVs are way more common in tropical areas like Japan,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Caribbean, and Africa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Infects mostly CD4+ helper T cells, but can also infect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CD8+ cytotoxic T cells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3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HTLV-1 and 2</a:t>
            </a:r>
          </a:p>
        </p:txBody>
      </p:sp>
      <p:pic>
        <p:nvPicPr>
          <p:cNvPr id="12290" name="Picture 2" descr="http://images.freecreatives.com/wp-content/uploads/2016/03/21094400/Stunning-Tropical-Backgroun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96795"/>
            <a:ext cx="2133600" cy="133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52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First retrovirus found to cause cancer 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animals was Rous Sarcoma Virus (RSV)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Discovered Peyton Rous 1911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Chicken sarcoma virus passed through filter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Mechanism of cancer induction by RSV (and others)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Viral genome integrates into host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genome near a gene important for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cell division (</a:t>
            </a:r>
            <a:r>
              <a:rPr lang="en-US" altLang="en-US" sz="2400" b="1" dirty="0">
                <a:latin typeface="Arial" charset="0"/>
                <a:cs typeface="Arial" charset="0"/>
              </a:rPr>
              <a:t>proto-oncogene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Provirus decides to exit the host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genome at some point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Accidentally grabs that cell division gene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767522" y="434109"/>
            <a:ext cx="358623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Retroviral oncogenes</a:t>
            </a:r>
          </a:p>
        </p:txBody>
      </p:sp>
      <p:pic>
        <p:nvPicPr>
          <p:cNvPr id="13314" name="Picture 2" descr="https://www.bioscience.org/2003/v8/d/967/fig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114800"/>
            <a:ext cx="2971800" cy="205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encrypted-tbn2.gstatic.com/images?q=tbn:ANd9GcT4RtS-KIEMBALIAra6IzsYEV3XVVHZZa75c6wjg2YBKdCzY4k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462100"/>
            <a:ext cx="194310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842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00200"/>
            <a:ext cx="86106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Mechanism of cancer induction by RSV (and others)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created that have modified genome with cellular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gene inside it (a gene that controls cell division)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That cellular gene can mutate to be ON all the time (now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called a </a:t>
            </a:r>
            <a:r>
              <a:rPr lang="en-US" altLang="en-US" sz="2400" b="1" dirty="0">
                <a:latin typeface="Arial" charset="0"/>
                <a:cs typeface="Arial" charset="0"/>
              </a:rPr>
              <a:t>viral oncogene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infects a new cell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Delivers the mutant cell division gene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Cell immediately starts to replicate uncontrollably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767522" y="434109"/>
            <a:ext cx="358623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Retroviral oncogenes</a:t>
            </a:r>
          </a:p>
        </p:txBody>
      </p:sp>
      <p:pic>
        <p:nvPicPr>
          <p:cNvPr id="14338" name="Picture 2" descr="http://www.biodados.icb.ufmg.br/cromatina/ciclo_celular/oncogenes_arquivos/image0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729942"/>
            <a:ext cx="3191982" cy="182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367" y="4820973"/>
            <a:ext cx="3609975" cy="1557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3477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Retroviruses can cause great harm to a variety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of animals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Equine infectious anemia virus </a:t>
            </a:r>
            <a:r>
              <a:rPr lang="en-US" altLang="en-US" sz="2400" dirty="0">
                <a:latin typeface="Arial" charset="0"/>
                <a:cs typeface="Arial" charset="0"/>
              </a:rPr>
              <a:t>(EIAV)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Transmitted by insects that bite an infected horse and by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medical equipment (e.g. needles)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very contagious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Type of lentivirus like HIV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Induces severe anemia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must quarantine or euthanize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  <a:sym typeface="Wingdings" panose="05000000000000000000" pitchFamily="2" charset="2"/>
              </a:rPr>
              <a:t>Feline leukemia virus (</a:t>
            </a:r>
            <a:r>
              <a:rPr lang="en-US" altLang="en-US" sz="2400" b="1" dirty="0" err="1">
                <a:latin typeface="Arial" charset="0"/>
                <a:cs typeface="Arial" charset="0"/>
                <a:sym typeface="Wingdings" panose="05000000000000000000" pitchFamily="2" charset="2"/>
              </a:rPr>
              <a:t>FeLV</a:t>
            </a:r>
            <a:r>
              <a:rPr lang="en-US" altLang="en-US" sz="2400" b="1" dirty="0">
                <a:latin typeface="Arial" charset="0"/>
                <a:cs typeface="Arial" charset="0"/>
                <a:sym typeface="Wingdings" panose="05000000000000000000" pitchFamily="2" charset="2"/>
              </a:rPr>
              <a:t>) and FIV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Both retroviruses, but belong to different genera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FeLV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is extremely dangerous – causes pathology in 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large number of tissues and is spread by saliva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FIV mimics HIV in its pathogenesis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28487" y="434109"/>
            <a:ext cx="4264309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Some animal retroviruses</a:t>
            </a:r>
          </a:p>
        </p:txBody>
      </p:sp>
      <p:pic>
        <p:nvPicPr>
          <p:cNvPr id="16386" name="Picture 2" descr="https://s-media-cache-ak0.pinimg.com/236x/fe/86/30/fe863026d04efd73f0ac39e53c8cfcd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841" y="434109"/>
            <a:ext cx="1841359" cy="209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http://i.dailymail.co.uk/i/pix/2014/08/05/1407225932091_wps_6_SANTA_MONICA_CA_AUGUST_0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63" y="379994"/>
            <a:ext cx="1830218" cy="1062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891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900535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Different from the lentiviruses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other retroviruses in their structure,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replication, and genetics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Has prominent spikes and 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strange looking capsid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Buds into the ER (not PM)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About 25% of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will begin reverse transcription while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still outside of cells (have dsDNA)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A few varieties can infect humans,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but no disease </a:t>
            </a:r>
            <a:r>
              <a:rPr lang="en-US" altLang="en-US" sz="2400" dirty="0" err="1">
                <a:latin typeface="Arial" charset="0"/>
                <a:cs typeface="Arial" charset="0"/>
              </a:rPr>
              <a:t>knonwn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Human foamy virus (HFV)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/>
              <a:t>Spumaviruses</a:t>
            </a:r>
            <a:endParaRPr lang="en-US" altLang="en-US" sz="2800" dirty="0"/>
          </a:p>
        </p:txBody>
      </p:sp>
      <p:pic>
        <p:nvPicPr>
          <p:cNvPr id="15362" name="Picture 2" descr="http://education.expasy.org/images/Spumavirus_vir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929" y="4648200"/>
            <a:ext cx="3221033" cy="168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://web.stanford.edu/group/virus/retro/2004ahmed/images/HFV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9820"/>
            <a:ext cx="1747381" cy="140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http://jvi.asm.org/content/85/10/4761/F2.larg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29" y="1612503"/>
            <a:ext cx="3460635" cy="261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942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52600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HIV/AIDS disease stats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Has killed nearly 40 million people since 1980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Currently infects nearly 80 million worldwide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HIV continues to kill about 1.5 million people/year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Currently worst microbial killer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Nearly 75% of these are in sub-Saharan Africa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Has dropped from peak of ~2-2.5 million in 2005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Number of new HIV cases peaked 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1997 (world) and has since been declining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Increase in anti-retroviral drugs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Education and condom usage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pic>
        <p:nvPicPr>
          <p:cNvPr id="7" name="Picture 5" descr="http://upload.wikimedia.org/wikipedia/commons/d/d0/AIDS_Deaths-US_1987-199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444" y="4517112"/>
            <a:ext cx="1905000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903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HIV mode of transmission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Fragile virus that only infects humans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transmitted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person-to-person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All transmission involves the transfer of infected body fluids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Major modes of transmission</a:t>
            </a:r>
            <a:r>
              <a:rPr lang="en-US" altLang="en-US" sz="2400" dirty="0">
                <a:latin typeface="Arial" charset="0"/>
                <a:cs typeface="Arial" charset="0"/>
              </a:rPr>
              <a:t>: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1) </a:t>
            </a:r>
            <a:r>
              <a:rPr lang="en-US" altLang="en-US" sz="2400" b="1" dirty="0">
                <a:latin typeface="Arial" charset="0"/>
                <a:cs typeface="Arial" charset="0"/>
              </a:rPr>
              <a:t>Sexual intercourse </a:t>
            </a:r>
            <a:r>
              <a:rPr lang="en-US" altLang="en-US" sz="2400" dirty="0">
                <a:latin typeface="Arial" charset="0"/>
                <a:cs typeface="Arial" charset="0"/>
              </a:rPr>
              <a:t>(semen/vaginal secretions)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Most common, mostly heterosexual worldwide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2) </a:t>
            </a:r>
            <a:r>
              <a:rPr lang="en-US" altLang="en-US" sz="2400" b="1" dirty="0">
                <a:latin typeface="Arial" charset="0"/>
                <a:cs typeface="Arial" charset="0"/>
              </a:rPr>
              <a:t>Blood transfusion </a:t>
            </a:r>
            <a:r>
              <a:rPr lang="en-US" altLang="en-US" sz="2400" dirty="0">
                <a:latin typeface="Arial" charset="0"/>
                <a:cs typeface="Arial" charset="0"/>
              </a:rPr>
              <a:t>(blood)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Very rare since 1985 (blood screening)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3) </a:t>
            </a:r>
            <a:r>
              <a:rPr lang="en-US" altLang="en-US" sz="2400" b="1" dirty="0">
                <a:latin typeface="Arial" charset="0"/>
                <a:cs typeface="Arial" charset="0"/>
              </a:rPr>
              <a:t>Injected during IV drug use </a:t>
            </a:r>
            <a:r>
              <a:rPr lang="en-US" altLang="en-US" sz="2400" dirty="0">
                <a:latin typeface="Arial" charset="0"/>
                <a:cs typeface="Arial" charset="0"/>
              </a:rPr>
              <a:t>(blood)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Shared needles/syringes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4) </a:t>
            </a:r>
            <a:r>
              <a:rPr lang="en-US" altLang="en-US" sz="2400" b="1" dirty="0">
                <a:latin typeface="Arial" charset="0"/>
                <a:cs typeface="Arial" charset="0"/>
              </a:rPr>
              <a:t>Vertically</a:t>
            </a:r>
            <a:r>
              <a:rPr lang="en-US" altLang="en-US" sz="2400" dirty="0">
                <a:latin typeface="Arial" charset="0"/>
                <a:cs typeface="Arial" charset="0"/>
              </a:rPr>
              <a:t> (blood, breast milk)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Crossing of the placenta?, during birth, or during breast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feeding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</a:t>
            </a:r>
            <a:r>
              <a:rPr lang="en-US" altLang="en-US" sz="2400" dirty="0">
                <a:latin typeface="Arial" charset="0"/>
                <a:cs typeface="Arial" charset="0"/>
              </a:rPr>
              <a:t>W/o anti-</a:t>
            </a:r>
            <a:r>
              <a:rPr lang="en-US" altLang="en-US" sz="2400" dirty="0" err="1">
                <a:latin typeface="Arial" charset="0"/>
                <a:cs typeface="Arial" charset="0"/>
              </a:rPr>
              <a:t>retrovirals</a:t>
            </a:r>
            <a:r>
              <a:rPr lang="en-US" altLang="en-US" sz="2400" dirty="0">
                <a:latin typeface="Arial" charset="0"/>
                <a:cs typeface="Arial" charset="0"/>
              </a:rPr>
              <a:t>, baby at great risk    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pic>
        <p:nvPicPr>
          <p:cNvPr id="5" name="Picture 8" descr="http://www.heroinhell.com/sitebuildercontent/sitebuilderpictures/needles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38872"/>
            <a:ext cx="2549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http://epicodescollide.files.wordpress.com/2010/02/blood-2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2406"/>
            <a:ext cx="2133600" cy="142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6022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HIV mode of transmission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Workplace exposure </a:t>
            </a:r>
            <a:r>
              <a:rPr lang="en-US" altLang="en-US" sz="2400" dirty="0">
                <a:latin typeface="Arial" charset="0"/>
                <a:cs typeface="Arial" charset="0"/>
              </a:rPr>
              <a:t>(blood)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Medical workers </a:t>
            </a:r>
            <a:r>
              <a:rPr lang="en-US" altLang="en-US" sz="2400" dirty="0">
                <a:latin typeface="Arial" charset="0"/>
                <a:cs typeface="Arial" charset="0"/>
              </a:rPr>
              <a:t>exposed to infected blood via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accidental needle sticks or splash to eyes/mouth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If exposed, &lt;0.5% become infected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Infected medical workers rarely pass onto patients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Case of dentist David Acer and his patient Kim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</a:t>
            </a:r>
            <a:r>
              <a:rPr lang="en-US" altLang="en-US" sz="2400" dirty="0" err="1">
                <a:latin typeface="Arial" charset="0"/>
                <a:cs typeface="Arial" charset="0"/>
              </a:rPr>
              <a:t>Bergalis</a:t>
            </a:r>
            <a:r>
              <a:rPr lang="en-US" altLang="en-US" sz="2400" dirty="0">
                <a:latin typeface="Arial" charset="0"/>
                <a:cs typeface="Arial" charset="0"/>
              </a:rPr>
              <a:t> (FL)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Prostitutes/porn workers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In some African countries, nearly 40% have HIV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Almost 10x more likely to get HIV than rest of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population 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pic>
        <p:nvPicPr>
          <p:cNvPr id="17410" name="Picture 2" descr="http://img2.timeinc.net/people/i/2007/archive/covers/90/10_22_90_205x27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8600"/>
            <a:ext cx="1618207" cy="215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643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95021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HIV progression and disease symptoms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HIV initially causes an acute infection by 24 weeks post-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Most cases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fever and sore throat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Immune system recovers and destroys most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 Clinical latency follows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months – 15 </a:t>
            </a:r>
            <a:r>
              <a:rPr lang="en-US" altLang="en-US" sz="2400" dirty="0" err="1">
                <a:latin typeface="Arial" charset="0"/>
                <a:cs typeface="Arial" charset="0"/>
              </a:rPr>
              <a:t>yrs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Skin issues (dermatitis, eczema, psoriasis)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common early on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As T</a:t>
            </a:r>
            <a:r>
              <a:rPr lang="en-US" altLang="en-US" sz="2400" baseline="-25000" dirty="0">
                <a:latin typeface="Arial" charset="0"/>
                <a:cs typeface="Arial" charset="0"/>
              </a:rPr>
              <a:t>H</a:t>
            </a:r>
            <a:r>
              <a:rPr lang="en-US" altLang="en-US" sz="2400" dirty="0">
                <a:latin typeface="Arial" charset="0"/>
                <a:cs typeface="Arial" charset="0"/>
              </a:rPr>
              <a:t> cell counts drop (&lt;600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cells/mL), characteristic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symptoms of AIDS observed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pic>
        <p:nvPicPr>
          <p:cNvPr id="5" name="Picture 12" descr="http://pt.wkhealth.com/FullTextService/CT%7b06b9ee1beed59419dca31751313659160b0e61cd2e90dea599debb0abe0c126421276e693de4b97033ee759d821282aa%7d/DA3C71FF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4876800"/>
            <a:ext cx="3575050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8135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HIV progression and disease symptoms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"</a:t>
            </a:r>
            <a:r>
              <a:rPr lang="en-US" altLang="en-US" sz="2400" b="1" dirty="0">
                <a:latin typeface="Arial" charset="0"/>
                <a:cs typeface="Arial" charset="0"/>
              </a:rPr>
              <a:t>Reactivation" of chronic infections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HSV (cold sores), EBV (hairy leukoplakia), CMV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(various), VZV (zoster), TB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Recurrent yeast/fungal infections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Oral/vaginal </a:t>
            </a:r>
            <a:r>
              <a:rPr lang="en-US" altLang="en-US" sz="2400" i="1" dirty="0">
                <a:latin typeface="Arial" charset="0"/>
                <a:cs typeface="Arial" charset="0"/>
              </a:rPr>
              <a:t>Candida</a:t>
            </a:r>
            <a:r>
              <a:rPr lang="en-US" altLang="en-US" sz="2400" dirty="0">
                <a:latin typeface="Arial" charset="0"/>
                <a:cs typeface="Arial" charset="0"/>
              </a:rPr>
              <a:t> (thrush)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Pneumocystis pneumonia (</a:t>
            </a:r>
            <a:r>
              <a:rPr lang="en-US" altLang="en-US" sz="2400" i="1" dirty="0">
                <a:latin typeface="Arial" charset="0"/>
                <a:cs typeface="Arial" charset="0"/>
              </a:rPr>
              <a:t>P. </a:t>
            </a:r>
            <a:r>
              <a:rPr lang="en-US" altLang="en-US" sz="2400" i="1" dirty="0" err="1">
                <a:latin typeface="Arial" charset="0"/>
                <a:cs typeface="Arial" charset="0"/>
              </a:rPr>
              <a:t>carinii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dirty="0">
                <a:latin typeface="Arial" charset="0"/>
                <a:cs typeface="Arial" charset="0"/>
              </a:rPr>
              <a:t>Gastrointestinal illnesses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Great susceptibility to bacteria, fungi,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protozoa that cause diarrhea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Ex</a:t>
            </a:r>
            <a:r>
              <a:rPr lang="en-US" altLang="en-US" sz="2400" dirty="0">
                <a:latin typeface="Arial" charset="0"/>
                <a:cs typeface="Arial" charset="0"/>
              </a:rPr>
              <a:t>: </a:t>
            </a:r>
            <a:r>
              <a:rPr lang="en-US" altLang="en-US" sz="2400" i="1" dirty="0">
                <a:latin typeface="Arial" charset="0"/>
                <a:cs typeface="Arial" charset="0"/>
              </a:rPr>
              <a:t>Salmonella</a:t>
            </a:r>
            <a:r>
              <a:rPr lang="en-US" altLang="en-US" sz="2400" dirty="0">
                <a:latin typeface="Arial" charset="0"/>
                <a:cs typeface="Arial" charset="0"/>
              </a:rPr>
              <a:t>,</a:t>
            </a:r>
            <a:r>
              <a:rPr lang="en-US" altLang="en-US" sz="2400" i="1" dirty="0">
                <a:latin typeface="Arial" charset="0"/>
                <a:cs typeface="Arial" charset="0"/>
              </a:rPr>
              <a:t> </a:t>
            </a:r>
            <a:r>
              <a:rPr lang="en-US" altLang="en-US" sz="2400" i="1" dirty="0" err="1">
                <a:latin typeface="Arial" charset="0"/>
                <a:cs typeface="Arial" charset="0"/>
              </a:rPr>
              <a:t>Shigella</a:t>
            </a:r>
            <a:r>
              <a:rPr lang="en-US" altLang="en-US" sz="2400" dirty="0">
                <a:latin typeface="Arial" charset="0"/>
                <a:cs typeface="Arial" charset="0"/>
              </a:rPr>
              <a:t>,</a:t>
            </a:r>
            <a:r>
              <a:rPr lang="en-US" altLang="en-US" sz="2400" i="1" dirty="0">
                <a:latin typeface="Arial" charset="0"/>
                <a:cs typeface="Arial" charset="0"/>
              </a:rPr>
              <a:t> Giardia</a:t>
            </a:r>
            <a:r>
              <a:rPr lang="en-US" altLang="en-US" sz="2400" dirty="0">
                <a:latin typeface="Arial" charset="0"/>
                <a:cs typeface="Arial" charset="0"/>
              </a:rPr>
              <a:t>,</a:t>
            </a:r>
            <a:r>
              <a:rPr lang="en-US" altLang="en-US" sz="2400" i="1" dirty="0">
                <a:latin typeface="Arial" charset="0"/>
                <a:cs typeface="Arial" charset="0"/>
              </a:rPr>
              <a:t> Cryptosporidium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pic>
        <p:nvPicPr>
          <p:cNvPr id="6" name="Picture 10" descr="http://www.edhivtestguide.org/uploads/hretHIV-oralThrus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874" y="3124200"/>
            <a:ext cx="1808162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6" name="Picture 2" descr="http://img.webmd.com/dtmcms/live/webmd/consumer_assets/site_images/articles/health_tools/shingles_slideshow/phototake_rm_photo_of_shingles_on_tors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67609"/>
            <a:ext cx="2120948" cy="144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545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HIV progression and disease symptoms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Cancers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Kaposi's sarcoma (skin cancer) caused by HHV8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Variety of lymphomas (B and T cell)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Central nervous system destruction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HIV directly infects and destroys various CNS cells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Many often develop brain cancers and/or brain infections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End result</a:t>
            </a:r>
            <a:r>
              <a:rPr lang="en-US" altLang="en-US" sz="2400" dirty="0">
                <a:latin typeface="Arial" charset="0"/>
                <a:cs typeface="Arial" charset="0"/>
              </a:rPr>
              <a:t>: Severe inflammation and dementia very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common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dirty="0">
                <a:latin typeface="Arial" charset="0"/>
                <a:cs typeface="Arial" charset="0"/>
              </a:rPr>
              <a:t>Chronic wasting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Unknown mechanism – progressive weight loss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5181"/>
            <a:ext cx="1868487" cy="121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 descr="https://classconnection.s3.amazonaws.com/205/flashcards/3898205/jpg/piis1470204511701139fx1lrg-142548485A61EA43E1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006" y="434109"/>
            <a:ext cx="2448194" cy="162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97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pic>
        <p:nvPicPr>
          <p:cNvPr id="23556" name="Picture 4" descr="http://www.scripps.edu/mosier/images/donsresearch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04800"/>
            <a:ext cx="2618984" cy="2134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4478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HIV replication</a:t>
            </a:r>
            <a:endParaRPr lang="en-US" altLang="en-US" sz="2400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Attachment and entry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HIV primarily targets two types of cells initially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T</a:t>
            </a:r>
            <a:r>
              <a:rPr lang="en-US" altLang="en-US" sz="2400" baseline="-25000" dirty="0">
                <a:latin typeface="Arial" charset="0"/>
                <a:cs typeface="Arial" charset="0"/>
              </a:rPr>
              <a:t>H</a:t>
            </a:r>
            <a:r>
              <a:rPr lang="en-US" altLang="en-US" sz="2400" dirty="0">
                <a:latin typeface="Arial" charset="0"/>
                <a:cs typeface="Arial" charset="0"/>
              </a:rPr>
              <a:t> cells and macrophages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Requires presence of CD4 (primary receptor) and one of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several co-receptors (CCR5 and CXCR4 are most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common)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Different strains of HIV use different co-receptors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R5 strain </a:t>
            </a:r>
            <a:r>
              <a:rPr lang="en-US" altLang="en-US" sz="2400" dirty="0">
                <a:latin typeface="Arial" charset="0"/>
                <a:cs typeface="Arial" charset="0"/>
              </a:rPr>
              <a:t>– prefers CCR5, targets high levels of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macrophages and T cells, usually early in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Called </a:t>
            </a:r>
            <a:r>
              <a:rPr lang="en-US" altLang="en-US" sz="2400" b="1" dirty="0">
                <a:latin typeface="Arial" charset="0"/>
                <a:cs typeface="Arial" charset="0"/>
              </a:rPr>
              <a:t>macrophage tropic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X4 strain </a:t>
            </a:r>
            <a:r>
              <a:rPr lang="en-US" altLang="en-US" sz="2400" dirty="0">
                <a:latin typeface="Arial" charset="0"/>
                <a:cs typeface="Arial" charset="0"/>
              </a:rPr>
              <a:t>– prefers CXCR4, see later in infection,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targets most T cells, usually later in infection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- Called </a:t>
            </a:r>
            <a:r>
              <a:rPr lang="en-US" altLang="en-US" sz="2400" b="1" dirty="0">
                <a:latin typeface="Arial" charset="0"/>
                <a:cs typeface="Arial" charset="0"/>
              </a:rPr>
              <a:t>T-cell tropic </a:t>
            </a:r>
          </a:p>
        </p:txBody>
      </p:sp>
    </p:spTree>
    <p:extLst>
      <p:ext uri="{BB962C8B-B14F-4D97-AF65-F5344CB8AC3E}">
        <p14:creationId xmlns:p14="http://schemas.microsoft.com/office/powerpoint/2010/main" val="3920313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83353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HIV replication</a:t>
            </a:r>
            <a:endParaRPr lang="en-US" altLang="en-US" sz="2400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Attachment and entry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After HIV enters, it prevents additional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from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attaching using its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Nef</a:t>
            </a:r>
            <a:r>
              <a:rPr lang="en-US" altLang="en-US" sz="2400" b="1" dirty="0">
                <a:latin typeface="Arial" charset="0"/>
                <a:cs typeface="Arial" charset="0"/>
              </a:rPr>
              <a:t> protein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HIV </a:t>
            </a:r>
            <a:r>
              <a:rPr lang="en-US" altLang="en-US" sz="2400" u="sng" dirty="0" err="1">
                <a:latin typeface="Arial" charset="0"/>
                <a:cs typeface="Arial" charset="0"/>
              </a:rPr>
              <a:t>Nef</a:t>
            </a:r>
            <a:r>
              <a:rPr lang="en-US" altLang="en-US" sz="2400" u="sng" dirty="0">
                <a:latin typeface="Arial" charset="0"/>
                <a:cs typeface="Arial" charset="0"/>
              </a:rPr>
              <a:t> functions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- Binds to surface CD4 and pulls it into inside of cell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- Internalizes MHC 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surface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- Prevents immune cell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   activation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Increases cholesterol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content (lipid rafts)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Changes cytoskeleton </a:t>
            </a:r>
          </a:p>
        </p:txBody>
      </p:sp>
      <p:pic>
        <p:nvPicPr>
          <p:cNvPr id="26626" name="Picture 2" descr="http://www.inef.ugent.be/index_files/image00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962400"/>
            <a:ext cx="3886200" cy="252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2733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83353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HIV replication</a:t>
            </a:r>
            <a:endParaRPr lang="en-US" altLang="en-US" sz="2400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Gene expression and genome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Transcription of viral genes uses host RNA pol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several host transcription factors (TFs)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Bind to promoters in HIV LTR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</a:t>
            </a:r>
            <a:r>
              <a:rPr lang="en-US" altLang="en-US" sz="2400" b="1" dirty="0">
                <a:latin typeface="Arial" charset="0"/>
                <a:cs typeface="Arial" charset="0"/>
              </a:rPr>
              <a:t>HIV Tat protein</a:t>
            </a:r>
            <a:r>
              <a:rPr lang="en-US" altLang="en-US" sz="2400" dirty="0">
                <a:latin typeface="Arial" charset="0"/>
                <a:cs typeface="Arial" charset="0"/>
              </a:rPr>
              <a:t> enhances HIV transcription </a:t>
            </a:r>
            <a:endParaRPr lang="en-US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 </a:t>
            </a:r>
            <a:r>
              <a:rPr lang="en-US" altLang="en-US" sz="2400" dirty="0">
                <a:latin typeface="Arial" charset="0"/>
                <a:cs typeface="Arial" charset="0"/>
              </a:rPr>
              <a:t>- Binds to HIV RNA that is in the process of being made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and stabilizes it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   </a:t>
            </a:r>
            <a:r>
              <a:rPr lang="en-US" altLang="en-US" sz="2400" dirty="0">
                <a:latin typeface="Arial" charset="0"/>
                <a:cs typeface="Arial" charset="0"/>
              </a:rPr>
              <a:t>- Gives host RNA pol time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      </a:t>
            </a:r>
            <a:r>
              <a:rPr lang="en-US" altLang="en-US" sz="2400" dirty="0">
                <a:latin typeface="Arial" charset="0"/>
                <a:cs typeface="Arial" charset="0"/>
              </a:rPr>
              <a:t>finish transcription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Acts an HIV-specific TF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Unique as a RNA binding TF      </a:t>
            </a:r>
          </a:p>
        </p:txBody>
      </p:sp>
      <p:pic>
        <p:nvPicPr>
          <p:cNvPr id="28674" name="Picture 2" descr="http://www.bioafrica.net/proteomics/HIV-TAT_FUNC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648200"/>
            <a:ext cx="3733800" cy="1932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899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://www.scripps.edu/news/sr/sr2008/images/williamson.mb.fi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114800"/>
            <a:ext cx="3207975" cy="2392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83353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HIV replication</a:t>
            </a:r>
            <a:endParaRPr lang="en-US" altLang="en-US" sz="2400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Gene expression and genome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Viral mRNAs are capped, </a:t>
            </a:r>
            <a:r>
              <a:rPr lang="en-US" altLang="en-US" sz="2400" dirty="0" err="1">
                <a:latin typeface="Arial" charset="0"/>
                <a:cs typeface="Arial" charset="0"/>
              </a:rPr>
              <a:t>polyadenylated</a:t>
            </a:r>
            <a:r>
              <a:rPr lang="en-US" altLang="en-US" sz="2400" dirty="0">
                <a:latin typeface="Arial" charset="0"/>
                <a:cs typeface="Arial" charset="0"/>
              </a:rPr>
              <a:t>, and sent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out of the nucleus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Major problem with full-length HIV mRNAs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Looks like it has introns w/in it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Nuclear pore doesn’t want to let it out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HIV Rev protein</a:t>
            </a:r>
            <a:r>
              <a:rPr lang="en-US" altLang="en-US" sz="2400" dirty="0">
                <a:latin typeface="Arial" charset="0"/>
                <a:cs typeface="Arial" charset="0"/>
              </a:rPr>
              <a:t> goes into the nucleus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  </a:t>
            </a:r>
            <a:r>
              <a:rPr lang="en-US" altLang="en-US" sz="2400" dirty="0">
                <a:latin typeface="Arial" charset="0"/>
                <a:cs typeface="Arial" charset="0"/>
              </a:rPr>
              <a:t>and attaches to the </a:t>
            </a:r>
            <a:r>
              <a:rPr lang="en-US" altLang="en-US" sz="2400" dirty="0" err="1">
                <a:latin typeface="Arial" charset="0"/>
                <a:cs typeface="Arial" charset="0"/>
              </a:rPr>
              <a:t>unspliced</a:t>
            </a:r>
            <a:r>
              <a:rPr lang="en-US" altLang="en-US" sz="2400" dirty="0">
                <a:latin typeface="Arial" charset="0"/>
                <a:cs typeface="Arial" charset="0"/>
              </a:rPr>
              <a:t> HIV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  </a:t>
            </a:r>
            <a:r>
              <a:rPr lang="en-US" altLang="en-US" sz="2400" dirty="0">
                <a:latin typeface="Arial" charset="0"/>
                <a:cs typeface="Arial" charset="0"/>
              </a:rPr>
              <a:t>mRNAs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Escorts those mRNAs out through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the pore           </a:t>
            </a:r>
          </a:p>
        </p:txBody>
      </p:sp>
    </p:spTree>
    <p:extLst>
      <p:ext uri="{BB962C8B-B14F-4D97-AF65-F5344CB8AC3E}">
        <p14:creationId xmlns:p14="http://schemas.microsoft.com/office/powerpoint/2010/main" val="1205126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95271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HIV replication</a:t>
            </a:r>
            <a:endParaRPr lang="en-US" altLang="en-US" sz="2400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Assembly and budding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HIV Gag polyproteins clump up together on the plasma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membrane at lipid rafts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Aggregation pushes membrane out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budding starts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Process enhanced by several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other HIV accessory 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- </a:t>
            </a:r>
            <a:r>
              <a:rPr lang="en-US" altLang="en-US" sz="2400" b="1" dirty="0" err="1">
                <a:latin typeface="Arial" charset="0"/>
                <a:cs typeface="Arial" charset="0"/>
                <a:sym typeface="Wingdings" panose="05000000000000000000" pitchFamily="2" charset="2"/>
              </a:rPr>
              <a:t>Vif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– blocks inhibitory cellular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 proteins from getting packaged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  - So RT works well at entry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- </a:t>
            </a:r>
            <a:r>
              <a:rPr lang="en-US" altLang="en-US" sz="2400" b="1" dirty="0" err="1">
                <a:latin typeface="Arial" charset="0"/>
                <a:cs typeface="Arial" charset="0"/>
                <a:sym typeface="Wingdings" panose="05000000000000000000" pitchFamily="2" charset="2"/>
              </a:rPr>
              <a:t>Vpu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– loosens budding 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 so viruses don’t stay stuck on PM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663315"/>
            <a:ext cx="3124200" cy="288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9131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905000"/>
            <a:ext cx="89154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HIV is very good at hiding from the immune response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Downregulation of class I/II MHC and CD4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HIV </a:t>
            </a:r>
            <a:r>
              <a:rPr lang="en-US" altLang="en-US" sz="2400" dirty="0" err="1">
                <a:latin typeface="Arial" charset="0"/>
                <a:cs typeface="Arial" charset="0"/>
              </a:rPr>
              <a:t>Nef</a:t>
            </a:r>
            <a:r>
              <a:rPr lang="en-US" altLang="en-US" sz="2400" dirty="0">
                <a:latin typeface="Arial" charset="0"/>
                <a:cs typeface="Arial" charset="0"/>
              </a:rPr>
              <a:t>  and </a:t>
            </a:r>
            <a:r>
              <a:rPr lang="en-US" altLang="en-US" sz="2400" dirty="0" err="1">
                <a:latin typeface="Arial" charset="0"/>
                <a:cs typeface="Arial" charset="0"/>
              </a:rPr>
              <a:t>Vpu</a:t>
            </a:r>
            <a:r>
              <a:rPr lang="en-US" altLang="en-US" sz="2400" dirty="0">
                <a:latin typeface="Arial" charset="0"/>
                <a:cs typeface="Arial" charset="0"/>
              </a:rPr>
              <a:t> binds to each of the above on the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plasma membrane and triggers internalization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T cells can’t be activated   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Kills T</a:t>
            </a:r>
            <a:r>
              <a:rPr lang="en-US" altLang="en-US" sz="2400" baseline="-25000" dirty="0">
                <a:latin typeface="Arial" charset="0"/>
                <a:cs typeface="Arial" charset="0"/>
              </a:rPr>
              <a:t>H</a:t>
            </a:r>
            <a:r>
              <a:rPr lang="en-US" altLang="en-US" sz="2400" dirty="0">
                <a:latin typeface="Arial" charset="0"/>
                <a:cs typeface="Arial" charset="0"/>
              </a:rPr>
              <a:t> cells and inactivates macrophages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Creates ineffective innate and adaptive immune responses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Hides in macrophages and stem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Infects them and  produces low levels of viral products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Creates a stable reservoir of virus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pic>
        <p:nvPicPr>
          <p:cNvPr id="6" name="Picture 5" descr="http://1.bp.blogspot.com/_4NuelCCran0/RpPi3POPSRI/AAAAAAAAAJw/esBYH5Ms5_M/s400/hid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032" y="228600"/>
            <a:ext cx="2103437" cy="1529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740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917680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HIV is very good at hiding from the immune response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Reverse transcriptase creates lots of mutations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Surface proteins constantly change so that immune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system no longer recognizes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Low </a:t>
            </a:r>
            <a:r>
              <a:rPr lang="en-US" altLang="en-US" sz="2400" dirty="0" err="1">
                <a:latin typeface="Arial" charset="0"/>
                <a:cs typeface="Arial" charset="0"/>
              </a:rPr>
              <a:t>immunogenecity</a:t>
            </a:r>
            <a:r>
              <a:rPr lang="en-US" altLang="en-US" sz="2400" dirty="0">
                <a:latin typeface="Arial" charset="0"/>
                <a:cs typeface="Arial" charset="0"/>
              </a:rPr>
              <a:t> of most HIV products (except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gp120)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HIV MA, NC, CA, </a:t>
            </a:r>
            <a:r>
              <a:rPr lang="en-US" altLang="en-US" sz="2400" dirty="0" err="1">
                <a:latin typeface="Arial" charset="0"/>
                <a:cs typeface="Arial" charset="0"/>
              </a:rPr>
              <a:t>etc</a:t>
            </a:r>
            <a:r>
              <a:rPr lang="en-US" altLang="en-US" sz="2400" dirty="0">
                <a:latin typeface="Arial" charset="0"/>
                <a:cs typeface="Arial" charset="0"/>
              </a:rPr>
              <a:t>  are largely ignored by host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immune system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</a:t>
            </a:r>
            <a:r>
              <a:rPr lang="en-US" altLang="en-US" sz="2400" dirty="0">
                <a:latin typeface="Arial" charset="0"/>
                <a:cs typeface="Arial" charset="0"/>
              </a:rPr>
              <a:t>-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express very low levels of gp120 and gp41 on their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surface (only 14 spikes per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206" y="434109"/>
            <a:ext cx="312887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HIV</a:t>
            </a:r>
          </a:p>
        </p:txBody>
      </p:sp>
      <p:pic>
        <p:nvPicPr>
          <p:cNvPr id="6" name="Picture 5" descr="http://1.bp.blogspot.com/_4NuelCCran0/RpPi3POPSRI/AAAAAAAAAJw/esBYH5Ms5_M/s400/hid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381" y="304800"/>
            <a:ext cx="2103437" cy="1529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12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159979" y="434109"/>
            <a:ext cx="4801315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RNA retroviruses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Retroviruses as viral vectors 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28600" y="1917680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Retroviruses are commonly use to deliver genes to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Advantages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They permanently integrate themselves into the host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No risk of losing the added gene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High levels of expression (promoters in LTRs are very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active)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dirty="0">
                <a:latin typeface="Arial" charset="0"/>
                <a:cs typeface="Arial" charset="0"/>
              </a:rPr>
              <a:t>Disadvantages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Still can’t control where the viral genome integrates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Bad integration can inactivate virus or cause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dangerous situation for the host</a:t>
            </a:r>
          </a:p>
        </p:txBody>
      </p:sp>
      <p:pic>
        <p:nvPicPr>
          <p:cNvPr id="30722" name="Picture 2" descr="http://cbsnews1.cbsistatic.com/hub/i/2011/08/31/8ab2884a-a643-11e2-a3f0-029118418759/bubbleboy1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34109"/>
            <a:ext cx="1725460" cy="129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753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078497" y="434109"/>
            <a:ext cx="296427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Hepadnaviruses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52600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Named because they cause </a:t>
            </a:r>
            <a:r>
              <a:rPr lang="en-US" altLang="en-US" sz="2400" b="1" dirty="0">
                <a:latin typeface="Arial" charset="0"/>
                <a:cs typeface="Arial" charset="0"/>
              </a:rPr>
              <a:t>hepa</a:t>
            </a:r>
            <a:r>
              <a:rPr lang="en-US" altLang="en-US" sz="2400" dirty="0">
                <a:latin typeface="Arial" charset="0"/>
                <a:cs typeface="Arial" charset="0"/>
              </a:rPr>
              <a:t>titis and are </a:t>
            </a:r>
            <a:r>
              <a:rPr lang="en-US" altLang="en-US" sz="2400" b="1" dirty="0">
                <a:latin typeface="Arial" charset="0"/>
                <a:cs typeface="Arial" charset="0"/>
              </a:rPr>
              <a:t>DNA</a:t>
            </a:r>
            <a:r>
              <a:rPr lang="en-US" altLang="en-US" sz="2400" dirty="0">
                <a:latin typeface="Arial" charset="0"/>
                <a:cs typeface="Arial" charset="0"/>
              </a:rPr>
              <a:t>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Infects mammals and some birds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Most common one in humans is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hepatitis B virus </a:t>
            </a:r>
            <a:r>
              <a:rPr lang="en-US" altLang="en-US" sz="2400" dirty="0">
                <a:latin typeface="Arial" charset="0"/>
                <a:cs typeface="Arial" charset="0"/>
              </a:rPr>
              <a:t>(HBV)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HBV is found all over the world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Most common in Asia, Africa,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and parts of S. America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Infects about 350 million 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world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About 50 million new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infections per year</a:t>
            </a:r>
          </a:p>
        </p:txBody>
      </p:sp>
      <p:pic>
        <p:nvPicPr>
          <p:cNvPr id="4098" name="Picture 2" descr="http://img.medscape.com/fullsize/migrated/editorial/casecme/2008/17750/fig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46462"/>
            <a:ext cx="3652873" cy="266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98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158375" y="434109"/>
            <a:ext cx="480452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HBV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Genome and </a:t>
            </a:r>
            <a:r>
              <a:rPr lang="en-US" altLang="en-US" sz="2800" dirty="0" err="1"/>
              <a:t>virion</a:t>
            </a:r>
            <a:r>
              <a:rPr lang="en-US" altLang="en-US" sz="2800" dirty="0"/>
              <a:t> structure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Genome is partly ssDNA, partly dsDNA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Even has a short section that is triple helix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- 5’ end of each strand is bound to something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One has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polymerase</a:t>
            </a:r>
            <a:r>
              <a:rPr lang="en-US" altLang="en-US" sz="2400" dirty="0">
                <a:latin typeface="Arial" charset="0"/>
                <a:cs typeface="Arial" charset="0"/>
              </a:rPr>
              <a:t> protein (RT)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One has a piece of RNA attached (serves as cap)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- 4 genes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7 proteins (in just 3,200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nt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)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Icosahedral capsid that has holes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and spikes protruding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Surrounded by envelope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Has 3 glycoproteins (S, M, L)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Collectively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surface Ag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No matrix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441" y="1143000"/>
            <a:ext cx="1833562" cy="2118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http://education.expasy.org/images/hepadnaviridae_vir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283" y="4572000"/>
            <a:ext cx="3341435" cy="175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http://web.stanford.edu/group/virus/hepadna/2004tansilvis/hepb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36473"/>
            <a:ext cx="1356320" cy="1149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0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658514" y="434109"/>
            <a:ext cx="380424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HBV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Noninfectious particles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HBV makes an enormous amount of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noninfectious</a:t>
            </a:r>
            <a:r>
              <a:rPr lang="en-US" altLang="en-US" sz="2400" dirty="0">
                <a:latin typeface="Arial" charset="0"/>
                <a:cs typeface="Arial" charset="0"/>
              </a:rPr>
              <a:t> particles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that get released into blood of infected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Outnumber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by far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Purpose</a:t>
            </a:r>
            <a:r>
              <a:rPr lang="en-US" altLang="en-US" sz="2400" dirty="0">
                <a:latin typeface="Arial" charset="0"/>
                <a:cs typeface="Arial" charset="0"/>
              </a:rPr>
              <a:t>: Possibly to act as a decoy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for host antibodies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Composed of only membrane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glycoproteins</a:t>
            </a:r>
            <a:r>
              <a:rPr lang="en-US" altLang="en-US" sz="2400" dirty="0">
                <a:latin typeface="Arial" charset="0"/>
                <a:cs typeface="Arial" charset="0"/>
              </a:rPr>
              <a:t> (no </a:t>
            </a:r>
            <a:r>
              <a:rPr lang="en-US" altLang="en-US" sz="2400" dirty="0" err="1">
                <a:latin typeface="Arial" charset="0"/>
                <a:cs typeface="Arial" charset="0"/>
              </a:rPr>
              <a:t>nucleocapsid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Opposite of most VLPs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Two major shapes seen – spherical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and filamentous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HBV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vaccine</a:t>
            </a:r>
            <a:r>
              <a:rPr lang="en-US" altLang="en-US" sz="2400" dirty="0">
                <a:latin typeface="Arial" charset="0"/>
                <a:cs typeface="Arial" charset="0"/>
              </a:rPr>
              <a:t> is just </a:t>
            </a:r>
            <a:r>
              <a:rPr lang="en-US" altLang="en-US" sz="2400" dirty="0" err="1">
                <a:latin typeface="Arial" charset="0"/>
                <a:cs typeface="Arial" charset="0"/>
              </a:rPr>
              <a:t>HBsAg</a:t>
            </a:r>
            <a:r>
              <a:rPr lang="en-US" altLang="en-US" sz="2400" dirty="0">
                <a:latin typeface="Arial" charset="0"/>
                <a:cs typeface="Arial" charset="0"/>
              </a:rPr>
              <a:t> that was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made in yeast cells</a:t>
            </a:r>
          </a:p>
        </p:txBody>
      </p:sp>
      <p:pic>
        <p:nvPicPr>
          <p:cNvPr id="2050" name="Picture 2" descr="http://www.wjgnet.com/esps%5CPub%5C10.3748%5Cv20%5Ci33%5CWJG-20-11650-g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19136"/>
            <a:ext cx="3190875" cy="365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52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577838" y="434109"/>
            <a:ext cx="196560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HBV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Replication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55339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HBV attachment was not understood until recently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Virus very specific for hepatocytes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Receptor was unknown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Found to be a bile acid receptor called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NTCP</a:t>
            </a:r>
            <a:r>
              <a:rPr lang="en-US" altLang="en-US" sz="2400" dirty="0">
                <a:latin typeface="Arial" charset="0"/>
                <a:cs typeface="Arial" charset="0"/>
              </a:rPr>
              <a:t> in 2012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Only on liver cells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Entry and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uncoating</a:t>
            </a:r>
            <a:endParaRPr lang="en-US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Enters via endocytosis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endosome escape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Moves to nucleus as intact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capsid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and enters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the nuclear pore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Uncoats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w/in the nuclear pore  only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is released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3074" name="Picture 2" descr="http://www.nature.com/nrgastro/journal/v12/n2/images/nrgastro.2014.226-f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286000"/>
            <a:ext cx="2063961" cy="1936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4495800"/>
            <a:ext cx="838200" cy="2146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830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577838" y="434109"/>
            <a:ext cx="196560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HBV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Replication</a:t>
            </a:r>
          </a:p>
        </p:txBody>
      </p:sp>
      <p:pic>
        <p:nvPicPr>
          <p:cNvPr id="5122" name="Picture 2" descr="https://www.researchgate.net/profile/Teresa_Pollicino/publication/26680188/figure/fig3/AS:269648537059329@1441300629745/HBV-cccDNA-in-the-viral-life-cyc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659927"/>
            <a:ext cx="3989139" cy="281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55339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Released genome undergoes changes while in nucleus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RNA cap and RT get cut off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Host DNA pol finish the partial dsDNA into being fully 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All pieces get glued together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Final circular, dsDNA 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called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cccDNA</a:t>
            </a:r>
            <a:endParaRPr lang="en-US" altLang="en-US" sz="2400" b="1" u="sng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Host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topoisomerase</a:t>
            </a:r>
            <a:r>
              <a:rPr lang="en-US" altLang="en-US" sz="2400" dirty="0">
                <a:latin typeface="Arial" charset="0"/>
                <a:cs typeface="Arial" charset="0"/>
              </a:rPr>
              <a:t> turns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loose circular DNA into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supercoiled 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Can persist in nucleus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for a long time</a:t>
            </a:r>
          </a:p>
        </p:txBody>
      </p:sp>
    </p:spTree>
    <p:extLst>
      <p:ext uri="{BB962C8B-B14F-4D97-AF65-F5344CB8AC3E}">
        <p14:creationId xmlns:p14="http://schemas.microsoft.com/office/powerpoint/2010/main" val="342450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577838" y="434109"/>
            <a:ext cx="196560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HBV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Replication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55339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Fully dsDNA from HBV is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transcribed</a:t>
            </a:r>
            <a:r>
              <a:rPr lang="en-US" altLang="en-US" sz="2400" dirty="0">
                <a:latin typeface="Arial" charset="0"/>
                <a:cs typeface="Arial" charset="0"/>
              </a:rPr>
              <a:t> by host RNA pol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Uses transcription factors only expressed in liver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Can just add receptor to cell and make it permissive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All HBV mRNAs (+ sense RNA) made are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capped</a:t>
            </a:r>
            <a:r>
              <a:rPr lang="en-US" altLang="en-US" sz="2400" dirty="0">
                <a:latin typeface="Arial" charset="0"/>
                <a:cs typeface="Arial" charset="0"/>
              </a:rPr>
              <a:t>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given a poly A tail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Some are full length and others shorter (for translation)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dirty="0" err="1">
                <a:latin typeface="Arial" charset="0"/>
                <a:cs typeface="Arial" charset="0"/>
              </a:rPr>
              <a:t>Nucleocapsid</a:t>
            </a:r>
            <a:r>
              <a:rPr lang="en-US" altLang="en-US" sz="2400" dirty="0">
                <a:latin typeface="Arial" charset="0"/>
                <a:cs typeface="Arial" charset="0"/>
              </a:rPr>
              <a:t> assembly occurs in the nucleus and budding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occurs at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ERGIC</a:t>
            </a:r>
            <a:r>
              <a:rPr lang="en-US" altLang="en-US" sz="2400" dirty="0">
                <a:latin typeface="Arial" charset="0"/>
                <a:cs typeface="Arial" charset="0"/>
              </a:rPr>
              <a:t> membrane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One single copy of + sense HBV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genome is packaged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As </a:t>
            </a:r>
            <a:r>
              <a:rPr lang="en-US" altLang="en-US" sz="2400" dirty="0" err="1">
                <a:latin typeface="Arial" charset="0"/>
                <a:cs typeface="Arial" charset="0"/>
              </a:rPr>
              <a:t>nucleocapsids</a:t>
            </a:r>
            <a:r>
              <a:rPr lang="en-US" altLang="en-US" sz="2400" dirty="0">
                <a:latin typeface="Arial" charset="0"/>
                <a:cs typeface="Arial" charset="0"/>
              </a:rPr>
              <a:t> start egress, reverse transcription begins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Doesn’t finish 2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nd</a:t>
            </a:r>
            <a:r>
              <a:rPr lang="en-US" altLang="en-US" sz="2400" dirty="0">
                <a:latin typeface="Arial" charset="0"/>
                <a:cs typeface="Arial" charset="0"/>
              </a:rPr>
              <a:t> strand b/c it runs out of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nucleotides</a:t>
            </a:r>
          </a:p>
        </p:txBody>
      </p:sp>
      <p:pic>
        <p:nvPicPr>
          <p:cNvPr id="6148" name="Picture 4" descr="http://education.expasy.org/images/HBV_maturation_sm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572000"/>
            <a:ext cx="270304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45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378265" y="434109"/>
            <a:ext cx="236475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HBV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Pathogenesis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55339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HBV is transmitted in the same way as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HIV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Sexual contact, shared blood (e.g. needles), breastfeeding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From blood, HBV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go to the liver and infect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hepatocytes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Virus replicates and spreads throughout the liver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Establishes a long-term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persistent</a:t>
            </a:r>
            <a:r>
              <a:rPr lang="en-US" altLang="en-US" sz="2400" dirty="0">
                <a:latin typeface="Arial" charset="0"/>
                <a:cs typeface="Arial" charset="0"/>
              </a:rPr>
              <a:t>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More likely if exposed to HBV as a kid (90%)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Rare for adults infected for 1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st</a:t>
            </a:r>
            <a:r>
              <a:rPr lang="en-US" altLang="en-US" sz="2400" dirty="0">
                <a:latin typeface="Arial" charset="0"/>
                <a:cs typeface="Arial" charset="0"/>
              </a:rPr>
              <a:t> time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HBV usually doesn’t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kill</a:t>
            </a:r>
            <a:r>
              <a:rPr lang="en-US" altLang="en-US" sz="2400" dirty="0">
                <a:latin typeface="Arial" charset="0"/>
                <a:cs typeface="Arial" charset="0"/>
              </a:rPr>
              <a:t> the hepatocyte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Almost all death due to T</a:t>
            </a:r>
            <a:r>
              <a:rPr lang="en-US" altLang="en-US" sz="2400" baseline="-25000" dirty="0">
                <a:latin typeface="Arial" charset="0"/>
                <a:cs typeface="Arial" charset="0"/>
              </a:rPr>
              <a:t>c</a:t>
            </a:r>
            <a:r>
              <a:rPr lang="en-US" altLang="en-US" sz="2400" dirty="0">
                <a:latin typeface="Arial" charset="0"/>
                <a:cs typeface="Arial" charset="0"/>
              </a:rPr>
              <a:t> cell killing of infected cells</a:t>
            </a:r>
          </a:p>
        </p:txBody>
      </p:sp>
      <p:pic>
        <p:nvPicPr>
          <p:cNvPr id="7170" name="Picture 2" descr="https://encrypted-tbn3.gstatic.com/images?q=tbn:ANd9GcTyHzOQUFn2hAZx6XR7DcRWithZVAuAuYqFKA4XRIv0b70OG09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17364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39" y="457073"/>
            <a:ext cx="2995612" cy="996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424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378265" y="434109"/>
            <a:ext cx="236475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HBV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Pathogenesis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55339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HBV liver infection can produce serious long-term illness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Liver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cirrhosis</a:t>
            </a:r>
            <a:r>
              <a:rPr lang="en-US" altLang="en-US" sz="2400" b="1" dirty="0">
                <a:latin typeface="Arial" charset="0"/>
                <a:cs typeface="Arial" charset="0"/>
              </a:rPr>
              <a:t> 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Due to chronic inflammation over many years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Gradual build-up of damage over time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Liver failure results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Heptocellular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 carcinoma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Deadly liver cancer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Mechanism not fully understood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No clear oncogenes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Some evidence that parts of HBV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genome may integrate into host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May insert near cell division gene</a:t>
            </a:r>
          </a:p>
        </p:txBody>
      </p:sp>
      <p:pic>
        <p:nvPicPr>
          <p:cNvPr id="8194" name="Picture 2" descr="http://www.intechopen.com/source/html/43243/media/image1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114800"/>
            <a:ext cx="3078310" cy="199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12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75139</TotalTime>
  <Words>3446</Words>
  <Application>Microsoft Office PowerPoint</Application>
  <PresentationFormat>On-screen Show (4:3)</PresentationFormat>
  <Paragraphs>542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Joshua Loomis</cp:lastModifiedBy>
  <cp:revision>1314</cp:revision>
  <dcterms:created xsi:type="dcterms:W3CDTF">2015-01-10T02:03:23Z</dcterms:created>
  <dcterms:modified xsi:type="dcterms:W3CDTF">2020-06-13T02:35:44Z</dcterms:modified>
</cp:coreProperties>
</file>