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1" r:id="rId4"/>
    <p:sldId id="262" r:id="rId5"/>
    <p:sldId id="268" r:id="rId6"/>
    <p:sldId id="269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3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502E-4520-4905-8C82-D6C560ADAA0F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49DD-EF03-4E2A-8932-7F7B374E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3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0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415547" y="1676400"/>
            <a:ext cx="3129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5952" y="1114961"/>
            <a:ext cx="707469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Lecture 12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Viral vaccines and immunity</a:t>
            </a: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9" descr="http://turbo.inquisitr.com/wp-content/2011/01/andrew-wakefield-vaccine-study-discredit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08" y="3352800"/>
            <a:ext cx="3388692" cy="240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i.imgur.com/CaiCC9u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575202"/>
            <a:ext cx="3573528" cy="19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14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272492" y="434109"/>
            <a:ext cx="257628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What are viral vaccines?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Parts of or whole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that are injected into animals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for the purposes of inducing some immune response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What are viral vaccines designed to do?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Produce long-term B cell and T cell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memory</a:t>
            </a:r>
            <a:r>
              <a:rPr lang="en-US" altLang="en-US" sz="2400" dirty="0">
                <a:latin typeface="Arial" charset="0"/>
                <a:cs typeface="Arial" charset="0"/>
              </a:rPr>
              <a:t> so that the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person is protected in case of a later infection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Challenges to successful viral vaccine programs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Mistrust and bad science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viruses resistant to vaccine development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Mutation rate, poorly immunogenic proteins, latency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Improper completion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injection series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Cost/distribution for third world</a:t>
            </a:r>
          </a:p>
        </p:txBody>
      </p:sp>
      <p:pic>
        <p:nvPicPr>
          <p:cNvPr id="2050" name="Picture 2" descr="https://s-media-cache-ak0.pinimg.com/236x/bf/ae/b5/bfaeb5c1ea6698053e0a89a1a19e4a8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860" y="304800"/>
            <a:ext cx="22479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82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cdn.yourarticlelibrary.com/wp-content/uploads/2013/12/b56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677" y="1385209"/>
            <a:ext cx="2514723" cy="219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136737" y="434109"/>
            <a:ext cx="484780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Considerations during design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83603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Active vs passive immunity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>
                <a:latin typeface="Arial" charset="0"/>
                <a:cs typeface="Arial" charset="0"/>
              </a:rPr>
              <a:t>Passive immunity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Person receives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already formed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antibodies or cytokines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Happens naturally while in the womb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Can be done artificially if person is dying of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Fast response, but poor long term immunity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Active immunity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Immune system of person exposed to actual viral antigens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Can be from natural infection or artificial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Person develops full immune response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long-term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immunity</a:t>
            </a:r>
          </a:p>
        </p:txBody>
      </p:sp>
    </p:spTree>
    <p:extLst>
      <p:ext uri="{BB962C8B-B14F-4D97-AF65-F5344CB8AC3E}">
        <p14:creationId xmlns:p14="http://schemas.microsoft.com/office/powerpoint/2010/main" val="190614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136737" y="434109"/>
            <a:ext cx="484780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Considerations during design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83603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What type of immunity is needed?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types of viral vaccines lead to great B cell responses,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others great T cell responses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Have to know what type is most effective against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specific virus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How long is immunity needed?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diseases primarily affect kids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Don’t necessarily need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lifelong</a:t>
            </a:r>
            <a:r>
              <a:rPr lang="en-US" altLang="en-US" sz="2400" dirty="0">
                <a:latin typeface="Arial" charset="0"/>
                <a:cs typeface="Arial" charset="0"/>
              </a:rPr>
              <a:t> immunity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are only ineffective in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short-term due to viral mutation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Only need immunity for short time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May need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boosters</a:t>
            </a:r>
            <a:r>
              <a:rPr lang="en-US" altLang="en-US" sz="2400" dirty="0">
                <a:latin typeface="Arial" charset="0"/>
                <a:cs typeface="Arial" charset="0"/>
              </a:rPr>
              <a:t> to keep memory strong</a:t>
            </a:r>
          </a:p>
        </p:txBody>
      </p:sp>
      <p:pic>
        <p:nvPicPr>
          <p:cNvPr id="5" name="Picture 2" descr="http://www.lorprotection.com/images/Security-Guard-with-ear-pie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34109"/>
            <a:ext cx="1601724" cy="107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://images.memes.com/meme/4544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495800"/>
            <a:ext cx="2287524" cy="169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1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277804" y="434109"/>
            <a:ext cx="456567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Increasing immunogenicity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00285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Several factors determine how well a viral vaccine induces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a memory immune response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Amount of viral antigen injected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Too little and too much antigen can cause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a poor immune response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Too much –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desensitization</a:t>
            </a:r>
            <a:r>
              <a:rPr lang="en-US" altLang="en-US" sz="2400" dirty="0">
                <a:latin typeface="Arial" charset="0"/>
                <a:cs typeface="Arial" charset="0"/>
              </a:rPr>
              <a:t> effect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Site</a:t>
            </a:r>
            <a:r>
              <a:rPr lang="en-US" altLang="en-US" sz="2400" b="1" dirty="0">
                <a:latin typeface="Arial" charset="0"/>
                <a:cs typeface="Arial" charset="0"/>
              </a:rPr>
              <a:t> of injection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Viral vaccines can be administered IV, IP, nasal, IM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Different sites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different lymphatic tissues get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- IV – antigen goes to spleen, IM – antigen to lymph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 nodes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- Goal is to mimic natural infection as much as possible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2050" name="Picture 2" descr="http://www.santagames.net/images/stories/goldilocks/goldilocks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600" y="2491650"/>
            <a:ext cx="20002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4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277804" y="434109"/>
            <a:ext cx="456567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Increasing immunogenicity</a:t>
            </a:r>
          </a:p>
        </p:txBody>
      </p:sp>
      <p:pic>
        <p:nvPicPr>
          <p:cNvPr id="1026" name="Picture 2" descr="http://tools.thermofisher.com/content/sfs/prodImages/high/77140-Freunds-Adjuvan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810000"/>
            <a:ext cx="2349403" cy="216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103" y="152400"/>
            <a:ext cx="199759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9154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Some viral vaccines are naturally not very good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Need ways of sparking a better immune response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Adjuvants</a:t>
            </a:r>
            <a:r>
              <a:rPr lang="en-US" altLang="en-US" sz="2400" dirty="0">
                <a:latin typeface="Arial" charset="0"/>
                <a:cs typeface="Arial" charset="0"/>
              </a:rPr>
              <a:t> – chemicals added to vaccines to improve their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effectiveness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Three major mechanisms of action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Those that prolong persistence in body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Include use of oil droplets (Freund’s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complete adjuvant)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Those that increase rate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phagocytosis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Cause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to clump up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Includes use of alum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Those that spark inflammation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Includes use of </a:t>
            </a:r>
            <a:r>
              <a:rPr lang="en-US" altLang="en-US" sz="2400" i="1" dirty="0">
                <a:latin typeface="Arial" charset="0"/>
                <a:cs typeface="Arial" charset="0"/>
              </a:rPr>
              <a:t>Mycobacterium</a:t>
            </a:r>
            <a:r>
              <a:rPr lang="en-US" altLang="en-US" sz="2400" dirty="0">
                <a:latin typeface="Arial" charset="0"/>
                <a:cs typeface="Arial" charset="0"/>
              </a:rPr>
              <a:t> “parts”</a:t>
            </a:r>
          </a:p>
        </p:txBody>
      </p:sp>
    </p:spTree>
    <p:extLst>
      <p:ext uri="{BB962C8B-B14F-4D97-AF65-F5344CB8AC3E}">
        <p14:creationId xmlns:p14="http://schemas.microsoft.com/office/powerpoint/2010/main" val="195647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748135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Attenuation</a:t>
            </a:r>
            <a:r>
              <a:rPr lang="en-US" altLang="en-US" sz="2400" dirty="0">
                <a:latin typeface="Arial" charset="0"/>
                <a:cs typeface="Arial" charset="0"/>
              </a:rPr>
              <a:t> – Alteration of microbes in order to drastically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reduce their ability to cause disease in the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Keep it "alive" – allows for low levels of replication upon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inoculation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Attenuation is achieved by: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Growing the pathogen in an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abnormal</a:t>
            </a:r>
            <a:r>
              <a:rPr lang="en-US" altLang="en-US" sz="2400" b="1" dirty="0">
                <a:latin typeface="Arial" charset="0"/>
                <a:cs typeface="Arial" charset="0"/>
              </a:rPr>
              <a:t> environment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Pathogens mutate and become adapted 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replicate in these alternative environments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Move back into humans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Fail to grow well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Direct removal/mutation of virulence genes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Can replicate, but no disease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Live attenuated</a:t>
            </a:r>
          </a:p>
        </p:txBody>
      </p:sp>
      <p:pic>
        <p:nvPicPr>
          <p:cNvPr id="21506" name="Picture 2" descr="https://upload.wikimedia.org/wikipedia/commons/f/f1/Chicken_embry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45" y="4343400"/>
            <a:ext cx="2173266" cy="217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://elephantroom4.files.wordpress.com/2009/10/flu-shot.jpg?w=500&amp;h=3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222" y="244771"/>
            <a:ext cx="2257978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23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524000"/>
            <a:ext cx="8784102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Example</a:t>
            </a:r>
            <a:r>
              <a:rPr lang="en-US" altLang="en-US" sz="2400" dirty="0">
                <a:latin typeface="Arial" charset="0"/>
                <a:cs typeface="Arial" charset="0"/>
              </a:rPr>
              <a:t>: Yellow fever virus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One of the most feared diseases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history due to severity of the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Hemorrhaging out of eyes, nose, mouth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Black vomit and liver failure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Early YFV vaccines were attenuated by growing them 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mouse brains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Lost liver tropism (good), but gained </a:t>
            </a:r>
            <a:r>
              <a:rPr lang="en-US" altLang="en-US" sz="2400" dirty="0" err="1">
                <a:latin typeface="Arial" charset="0"/>
                <a:cs typeface="Arial" charset="0"/>
              </a:rPr>
              <a:t>neurotropism</a:t>
            </a:r>
            <a:r>
              <a:rPr lang="en-US" altLang="en-US" sz="2400" dirty="0">
                <a:latin typeface="Arial" charset="0"/>
                <a:cs typeface="Arial" charset="0"/>
              </a:rPr>
              <a:t> (bad)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Max Theiler </a:t>
            </a:r>
            <a:r>
              <a:rPr lang="en-US" altLang="en-US" sz="2400" dirty="0">
                <a:latin typeface="Arial" charset="0"/>
                <a:cs typeface="Arial" charset="0"/>
              </a:rPr>
              <a:t>(1937) – grew YFV in cells derived from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chicken embryos that lacked nervous tissue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176th</a:t>
            </a:r>
            <a:r>
              <a:rPr lang="en-US" altLang="en-US" sz="2400" dirty="0">
                <a:latin typeface="Arial" charset="0"/>
                <a:cs typeface="Arial" charset="0"/>
              </a:rPr>
              <a:t> passage – mutation took place in virus that caused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it to ignore nervous tissue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Success (1951 Nobel)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905000"/>
            <a:ext cx="2205038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Live attenuated</a:t>
            </a:r>
          </a:p>
        </p:txBody>
      </p:sp>
    </p:spTree>
    <p:extLst>
      <p:ext uri="{BB962C8B-B14F-4D97-AF65-F5344CB8AC3E}">
        <p14:creationId xmlns:p14="http://schemas.microsoft.com/office/powerpoint/2010/main" val="362123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735753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Major advantages of live vaccines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Transient growth mimics more of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natural</a:t>
            </a:r>
            <a:r>
              <a:rPr lang="en-US" altLang="en-US" sz="2400" dirty="0">
                <a:latin typeface="Arial" charset="0"/>
                <a:cs typeface="Arial" charset="0"/>
              </a:rPr>
              <a:t>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Prolonged exposure leads to a greater immune response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and better memory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Often just need a single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dose (no boosters)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Very important in Third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World!!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Virus goes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normal tissues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and  proper 2° lymphoid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tissues involved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Can get a good cell-mediated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and humoral response        </a:t>
            </a:r>
          </a:p>
        </p:txBody>
      </p:sp>
      <p:pic>
        <p:nvPicPr>
          <p:cNvPr id="5" name="Picture 6" descr="https://www.health.harvard.edu/flu-resource-center/YI0607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360" y="251458"/>
            <a:ext cx="243404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08" y="2971800"/>
            <a:ext cx="3458152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Live attenuated</a:t>
            </a:r>
          </a:p>
        </p:txBody>
      </p:sp>
    </p:spTree>
    <p:extLst>
      <p:ext uri="{BB962C8B-B14F-4D97-AF65-F5344CB8AC3E}">
        <p14:creationId xmlns:p14="http://schemas.microsoft.com/office/powerpoint/2010/main" val="74845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600200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Major disadvantages of live vaccines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replicate enough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spread</a:t>
            </a:r>
            <a:r>
              <a:rPr lang="en-US" altLang="en-US" sz="2400" dirty="0">
                <a:latin typeface="Arial" charset="0"/>
                <a:cs typeface="Arial" charset="0"/>
              </a:rPr>
              <a:t> and cause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real disease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</a:t>
            </a:r>
            <a:r>
              <a:rPr lang="en-US" altLang="en-US" sz="2400" dirty="0">
                <a:latin typeface="Arial" charset="0"/>
                <a:cs typeface="Arial" charset="0"/>
              </a:rPr>
              <a:t>: MMR vaccine and measles-induced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encephalitis (1/million)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Common w/ immunocompromised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mutate</a:t>
            </a:r>
            <a:r>
              <a:rPr lang="en-US" altLang="en-US" sz="2400" dirty="0">
                <a:latin typeface="Arial" charset="0"/>
                <a:cs typeface="Arial" charset="0"/>
              </a:rPr>
              <a:t> back to virulent form and cause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severe natural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That infected individual can spread it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other unvaccinated individuals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</a:t>
            </a:r>
            <a:r>
              <a:rPr lang="en-US" altLang="en-US" sz="2400" dirty="0">
                <a:latin typeface="Arial" charset="0"/>
                <a:cs typeface="Arial" charset="0"/>
              </a:rPr>
              <a:t>: Sabin polio vaccine – virus re-entered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water supply in some Third World countries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Vaccine requires prolonged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refrigeration</a:t>
            </a:r>
          </a:p>
        </p:txBody>
      </p:sp>
      <p:pic>
        <p:nvPicPr>
          <p:cNvPr id="6" name="Picture 6" descr="http://immunodefence.com/ii/guillain_barre_syndro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755" y="1847655"/>
            <a:ext cx="21463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http://img.dailymail.co.uk/i/pix/2007/12_03/polioDM_468x70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909100"/>
            <a:ext cx="1652588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Live attenuated</a:t>
            </a:r>
          </a:p>
        </p:txBody>
      </p:sp>
    </p:spTree>
    <p:extLst>
      <p:ext uri="{BB962C8B-B14F-4D97-AF65-F5344CB8AC3E}">
        <p14:creationId xmlns:p14="http://schemas.microsoft.com/office/powerpoint/2010/main" val="405146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824335"/>
            <a:ext cx="8784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Inactivated/killed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600200"/>
            <a:ext cx="8784102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Use heat or chemicals to destroy the pathogen enough 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prevent its replication (don’t want to destroy Ag though)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Heat – often too much denaturation of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Common to use formaldehyde and alkylating agents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Induces more of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humoral</a:t>
            </a:r>
            <a:r>
              <a:rPr lang="en-US" altLang="en-US" sz="2400" dirty="0">
                <a:latin typeface="Arial" charset="0"/>
                <a:cs typeface="Arial" charset="0"/>
              </a:rPr>
              <a:t> response (antibodies)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Benefits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Much safer than live vaccines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Little risk of real infection (unless improperly inactivated)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No refrigeration required (more stable)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Drawbacks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Fails to elicit long-term memory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frequent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boosters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Must be injected</a:t>
            </a:r>
          </a:p>
        </p:txBody>
      </p:sp>
      <p:pic>
        <p:nvPicPr>
          <p:cNvPr id="6" name="Picture 6" descr="http://www.treehugger.com/formaldehyde-danger-warning-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89643"/>
            <a:ext cx="1998662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23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824335"/>
            <a:ext cx="8784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Inactivated/killed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905000"/>
            <a:ext cx="8784102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Major problems can arise if whole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vaccine not fully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inactivated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Poliovirus (Salk) vaccine – 1955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- 4 million doses were improperly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inactivated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- 204 cases of paralytic polio, 11 deaths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Foot and mouth disease vaccine – 1979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Bad inactivation led to widespread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outbreak of FMD in France and UK  </a:t>
            </a:r>
          </a:p>
        </p:txBody>
      </p:sp>
      <p:pic>
        <p:nvPicPr>
          <p:cNvPr id="3074" name="Picture 2" descr="http://1.bp.blogspot.com/_lEL2HABW_Ro/SOQFVwvDjfI/AAAAAAAAANY/DtMc5nbsf94/s400/salk+vacci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664460"/>
            <a:ext cx="2308486" cy="15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nd.gov/ndda/files/Animal_Health/Pictures/NoseAre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980" y="5204652"/>
            <a:ext cx="2077834" cy="145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24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3698" y="1824335"/>
            <a:ext cx="8784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818365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Subunit vaccines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905000"/>
            <a:ext cx="8784102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Subunit vaccines </a:t>
            </a:r>
            <a:r>
              <a:rPr lang="en-US" altLang="en-US" sz="2400" dirty="0">
                <a:latin typeface="Arial" charset="0"/>
                <a:cs typeface="Arial" charset="0"/>
              </a:rPr>
              <a:t>– Injecting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purified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 into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a person in order to develop immunity to that product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Developing an immune response against one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can help destroy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entire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virions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Can be created in a couple of ways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Express a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 in a cell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purify it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Inject just that one protein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Take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and destroy certain parts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Inject just the parts that remain</a:t>
            </a:r>
          </a:p>
        </p:txBody>
      </p:sp>
      <p:pic>
        <p:nvPicPr>
          <p:cNvPr id="4098" name="Picture 2" descr="http://www.kelmacmedical.us/virology/images/9583_340_29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038600"/>
            <a:ext cx="2497423" cy="215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99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403961" y="434109"/>
            <a:ext cx="424507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Live recombinant vaccine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81200"/>
            <a:ext cx="2530732" cy="29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765280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Live recombinant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Put gene encoding important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protein into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genome</a:t>
            </a:r>
            <a:r>
              <a:rPr lang="en-US" altLang="en-US" sz="2400" dirty="0">
                <a:latin typeface="Arial" charset="0"/>
                <a:cs typeface="Arial" charset="0"/>
              </a:rPr>
              <a:t> of a harmless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virus (e.g. vaccinia)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Produce and purify those harmless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that are carrying the foreign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Vaccinate individual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their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infected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will make the foreign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Person will develop immune response against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both the viral vector and foreign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  <a:sym typeface="Wingdings" panose="05000000000000000000" pitchFamily="2" charset="2"/>
              </a:rPr>
              <a:t>Example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: Rabies virus G protein made by vaccinia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- Inject into wild animals  develop antibodies against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rabies G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2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818366" y="434109"/>
            <a:ext cx="34162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VLPs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765280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Virus-like particles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Parts of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assembled into 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structure that resembles a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Non-infectious b/c lacks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be empty capsids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Express proteins in a cell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they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spontaneously assemble in vitro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E.g. </a:t>
            </a:r>
            <a:r>
              <a:rPr lang="en-US" altLang="en-US" sz="2400" b="1" dirty="0">
                <a:latin typeface="Arial" charset="0"/>
                <a:cs typeface="Arial" charset="0"/>
                <a:sym typeface="Wingdings" panose="05000000000000000000" pitchFamily="2" charset="2"/>
              </a:rPr>
              <a:t>HPV vaccine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(major capsid)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- Can also be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envelope + glycoproteins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E.g. HBV vaccine (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HBsAg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622" y="4876800"/>
            <a:ext cx="2560009" cy="137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 descr="http://img.medscape.com/slide/migrated/editorial/cmecircle/2006/5476/images/partridge/slide01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767" y="2133600"/>
            <a:ext cx="3040596" cy="22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6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static.bio-rad-antibodies.com/2014/western-blotting/antibody-antigen-interac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4008"/>
            <a:ext cx="1799019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305665" y="434109"/>
            <a:ext cx="4441665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vaccine types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Peptide and DNA vaccines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689080"/>
            <a:ext cx="878410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Synthetic peptide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Theory</a:t>
            </a:r>
            <a:r>
              <a:rPr lang="en-US" altLang="en-US" sz="2400" dirty="0">
                <a:latin typeface="Arial" charset="0"/>
                <a:cs typeface="Arial" charset="0"/>
              </a:rPr>
              <a:t>: Find the exact portion of a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 that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antibodies target (called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epitope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Can make just that short peptide </a:t>
            </a:r>
            <a:r>
              <a:rPr lang="en-US" altLang="en-US" sz="2400" i="1" dirty="0">
                <a:latin typeface="Arial" charset="0"/>
                <a:cs typeface="Arial" charset="0"/>
              </a:rPr>
              <a:t>in vitro </a:t>
            </a:r>
            <a:r>
              <a:rPr lang="en-US" altLang="en-US" sz="2400" dirty="0">
                <a:latin typeface="Arial" charset="0"/>
                <a:cs typeface="Arial" charset="0"/>
              </a:rPr>
              <a:t>and inject 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Antibodies would be created against just that epitope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If that protein is on the surface of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, whole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indirectly targeted by antibodies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DNA 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Inject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gene</a:t>
            </a:r>
            <a:r>
              <a:rPr lang="en-US" altLang="en-US" sz="2400" dirty="0">
                <a:latin typeface="Arial" charset="0"/>
                <a:cs typeface="Arial" charset="0"/>
              </a:rPr>
              <a:t> that encodes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Host cells make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protein (as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 normal viral infection)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Immune cells come over to “infected” cell</a:t>
            </a:r>
          </a:p>
        </p:txBody>
      </p:sp>
      <p:pic>
        <p:nvPicPr>
          <p:cNvPr id="6" name="Picture 13" descr="http://www.bio.davidson.edu/courses/Bio111/gun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109"/>
            <a:ext cx="1093788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6747330" y="4800600"/>
            <a:ext cx="2091870" cy="1693863"/>
            <a:chOff x="3529" y="2500"/>
            <a:chExt cx="2117" cy="1687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" y="2500"/>
              <a:ext cx="1959" cy="1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529" y="3410"/>
              <a:ext cx="823" cy="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325" y="3515"/>
              <a:ext cx="321" cy="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009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698" y="1929348"/>
            <a:ext cx="8784102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Viruses represent a unique problem for the immune system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Infect host cells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turns them “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foreign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”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Incredibly small  not “eaten” well by immune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Most have very few proteins on their outer surface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Immune system general responses to viruses include: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Identifying that a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is foreign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Differentiate a normal cell from one that is infected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Kill the infected cell and destroy free-floating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Do not kill normal cells nearby accidentally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Secrete antibodies to attack any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further away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Create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memory</a:t>
            </a:r>
            <a:r>
              <a:rPr lang="en-US" altLang="en-US" sz="2400" dirty="0">
                <a:latin typeface="Arial" charset="0"/>
                <a:cs typeface="Arial" charset="0"/>
              </a:rPr>
              <a:t> cells for future infections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5057"/>
            <a:ext cx="1378986" cy="1372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19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vs adaptive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81000" y="1518821"/>
            <a:ext cx="868362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branches of the immune system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1) </a:t>
            </a:r>
            <a:r>
              <a:rPr lang="en-US" altLang="en-US" sz="2400" b="1" dirty="0">
                <a:latin typeface="Arial" charset="0"/>
                <a:cs typeface="Arial" charset="0"/>
              </a:rPr>
              <a:t>Innate immune system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First line of defense against a pathogen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Always present and ready for an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Not specific </a:t>
            </a:r>
            <a:r>
              <a:rPr lang="en-US" altLang="en-US" sz="2400" dirty="0">
                <a:latin typeface="Arial" charset="0"/>
                <a:cs typeface="Arial" charset="0"/>
              </a:rPr>
              <a:t>for a particular pathogen – recognizes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microbial patterns (e.g. dsRNA)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Response is immediate (within minutes-hours)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No memory</a:t>
            </a:r>
            <a:r>
              <a:rPr lang="en-US" altLang="en-US" sz="2400" b="1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- response not better w/ repeated exposures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2) </a:t>
            </a:r>
            <a:r>
              <a:rPr lang="en-US" altLang="en-US" sz="2400" b="1" dirty="0">
                <a:latin typeface="Arial" charset="0"/>
                <a:cs typeface="Arial" charset="0"/>
              </a:rPr>
              <a:t>Adaptive immune system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Extremely specific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for particular molecules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antigens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)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Response time is slower (days)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Response time gets faster if previously exposed to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same antigen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h</a:t>
            </a:r>
            <a:r>
              <a:rPr lang="en-US" altLang="en-US" sz="2400" dirty="0">
                <a:latin typeface="Arial" charset="0"/>
                <a:cs typeface="Arial" charset="0"/>
              </a:rPr>
              <a:t>as immunological memory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3286"/>
            <a:ext cx="2115526" cy="157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45743"/>
            <a:ext cx="1517709" cy="1071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3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48135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innate anti-viral defenses exist: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1)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Natural killer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Target host cells infected with viruses rather than free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floating pathogens (also kill tumor cells)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Prevents the cell from releasing millions of new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Identification of virus-infected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Virus-infected (and tumor) cells express less of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surface protein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class I MHC</a:t>
            </a:r>
            <a:r>
              <a:rPr lang="en-US" altLang="en-US" sz="24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than normal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NK cells recognize the abnormality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kill their target host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Doesn’t look for specific viral products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(b/c its innate)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800600"/>
            <a:ext cx="2008414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2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48135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innate anti-viral defenses exist: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1) </a:t>
            </a:r>
            <a:r>
              <a:rPr lang="en-US" altLang="en-US" sz="2400" b="1" dirty="0">
                <a:latin typeface="Arial" charset="0"/>
                <a:cs typeface="Arial" charset="0"/>
              </a:rPr>
              <a:t>Natural killer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NK cells kill targets using: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a) </a:t>
            </a:r>
            <a:r>
              <a:rPr lang="en-US" altLang="en-US" sz="2400" b="1" dirty="0">
                <a:latin typeface="Arial" charset="0"/>
                <a:cs typeface="Arial" charset="0"/>
              </a:rPr>
              <a:t>Perforin and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granzyme</a:t>
            </a:r>
            <a:r>
              <a:rPr lang="en-US" altLang="en-US" sz="2400" b="1" dirty="0">
                <a:latin typeface="Arial" charset="0"/>
                <a:cs typeface="Arial" charset="0"/>
              </a:rPr>
              <a:t> B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Perforin protein is spit out by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NK cells onto the surface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the infected host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Perforin self assembles into 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pore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pops holes in target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cell membrane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- Important nutrients leak out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cell dies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Pore also lets in </a:t>
            </a:r>
            <a:r>
              <a:rPr lang="en-US" altLang="en-US" sz="2400" dirty="0" err="1">
                <a:latin typeface="Arial" charset="0"/>
                <a:cs typeface="Arial" charset="0"/>
              </a:rPr>
              <a:t>granzyme</a:t>
            </a:r>
            <a:r>
              <a:rPr lang="en-US" altLang="en-US" sz="2400" dirty="0">
                <a:latin typeface="Arial" charset="0"/>
                <a:cs typeface="Arial" charset="0"/>
              </a:rPr>
              <a:t> B into target cell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- Activates cell suicide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apoptosis</a:t>
            </a:r>
            <a:r>
              <a:rPr lang="en-US" altLang="en-US" sz="2400" dirty="0">
                <a:latin typeface="Arial" charset="0"/>
                <a:cs typeface="Arial" charset="0"/>
              </a:rPr>
              <a:t>) caspase enzymes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276600"/>
            <a:ext cx="3066554" cy="19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3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48135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innate anti-viral defenses exist: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1) </a:t>
            </a:r>
            <a:r>
              <a:rPr lang="en-US" altLang="en-US" sz="2400" b="1" dirty="0">
                <a:latin typeface="Arial" charset="0"/>
                <a:cs typeface="Arial" charset="0"/>
              </a:rPr>
              <a:t>Natural killer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NK cells kill targets using: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b)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Fas</a:t>
            </a:r>
            <a:r>
              <a:rPr lang="en-US" altLang="en-US" sz="2400" b="1" dirty="0">
                <a:latin typeface="Arial" charset="0"/>
                <a:cs typeface="Arial" charset="0"/>
              </a:rPr>
              <a:t> and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FasL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All cells express a protein on their surface called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Fas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Activated NK cells express ligand for </a:t>
            </a:r>
            <a:r>
              <a:rPr lang="en-US" altLang="en-US" sz="2400" dirty="0" err="1">
                <a:latin typeface="Arial" charset="0"/>
                <a:cs typeface="Arial" charset="0"/>
              </a:rPr>
              <a:t>Fas</a:t>
            </a:r>
            <a:r>
              <a:rPr lang="en-US" altLang="en-US" sz="2400" dirty="0">
                <a:latin typeface="Arial" charset="0"/>
                <a:cs typeface="Arial" charset="0"/>
              </a:rPr>
              <a:t> called </a:t>
            </a:r>
            <a:r>
              <a:rPr lang="en-US" altLang="en-US" sz="2400" dirty="0" err="1">
                <a:latin typeface="Arial" charset="0"/>
                <a:cs typeface="Arial" charset="0"/>
              </a:rPr>
              <a:t>FasL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Binding of </a:t>
            </a:r>
            <a:r>
              <a:rPr lang="en-US" altLang="en-US" sz="2400" dirty="0" err="1">
                <a:latin typeface="Arial" charset="0"/>
                <a:cs typeface="Arial" charset="0"/>
              </a:rPr>
              <a:t>FasL</a:t>
            </a:r>
            <a:r>
              <a:rPr lang="en-US" altLang="en-US" sz="2400" dirty="0">
                <a:latin typeface="Arial" charset="0"/>
                <a:cs typeface="Arial" charset="0"/>
              </a:rPr>
              <a:t> to </a:t>
            </a:r>
            <a:r>
              <a:rPr lang="en-US" altLang="en-US" sz="2400" dirty="0" err="1">
                <a:latin typeface="Arial" charset="0"/>
                <a:cs typeface="Arial" charset="0"/>
              </a:rPr>
              <a:t>Fas</a:t>
            </a:r>
            <a:r>
              <a:rPr lang="en-US" altLang="en-US" sz="2400" dirty="0">
                <a:latin typeface="Arial" charset="0"/>
                <a:cs typeface="Arial" charset="0"/>
              </a:rPr>
              <a:t> initiates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signaling pathway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End result</a:t>
            </a:r>
            <a:r>
              <a:rPr lang="en-US" altLang="en-US" sz="2400" dirty="0">
                <a:latin typeface="Arial" charset="0"/>
                <a:cs typeface="Arial" charset="0"/>
              </a:rPr>
              <a:t>: Caspases activated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 in the target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Caspases have variety of activities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- Destroy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cytoskeleton</a:t>
            </a:r>
            <a:r>
              <a:rPr lang="en-US" altLang="en-US" sz="2400" dirty="0">
                <a:latin typeface="Arial" charset="0"/>
                <a:cs typeface="Arial" charset="0"/>
              </a:rPr>
              <a:t>, fragment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 DNA, destroy membrane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230" y="4163643"/>
            <a:ext cx="2100543" cy="24156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511" y="1732371"/>
            <a:ext cx="2169980" cy="14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6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48135"/>
            <a:ext cx="868362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innate anti-viral defenses exist: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2) </a:t>
            </a:r>
            <a:r>
              <a:rPr lang="en-US" altLang="en-US" sz="2400" b="1" dirty="0">
                <a:latin typeface="Arial" charset="0"/>
                <a:cs typeface="Arial" charset="0"/>
              </a:rPr>
              <a:t>Interferons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Viral replication in cells creates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unique by-products (e.g. dsRNA)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that are recognized by special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cell receptors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Toll-like receptors</a:t>
            </a:r>
            <a:endParaRPr lang="en-US" altLang="en-US" sz="2400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Induce a signaling event in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infected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Triggers anti-viral response in that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cell (e.g. slicer/dicer, PKR)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Also causes cell to secrete IFNs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86000"/>
            <a:ext cx="2574351" cy="359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144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Innate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48135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Two major innate anti-viral defenses exist: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2) </a:t>
            </a:r>
            <a:r>
              <a:rPr lang="en-US" altLang="en-US" sz="2400" b="1" dirty="0">
                <a:latin typeface="Arial" charset="0"/>
                <a:cs typeface="Arial" charset="0"/>
              </a:rPr>
              <a:t>Interferons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Small cytokine released by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virally-infected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Attaches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receptors</a:t>
            </a:r>
            <a:r>
              <a:rPr lang="en-US" altLang="en-US" sz="2400" dirty="0">
                <a:latin typeface="Arial" charset="0"/>
                <a:cs typeface="Arial" charset="0"/>
              </a:rPr>
              <a:t> on nearby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uninfected cells and induces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signaling cascade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End result</a:t>
            </a:r>
            <a:r>
              <a:rPr lang="en-US" altLang="en-US" sz="2400" dirty="0">
                <a:latin typeface="Arial" charset="0"/>
                <a:cs typeface="Arial" charset="0"/>
              </a:rPr>
              <a:t>: Cells turn on hundreds of genes that encode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various anti-viral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Block viral RNA synthesis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Block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translation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Change membrane composition to block entry/budding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Ribonucleases </a:t>
            </a:r>
          </a:p>
        </p:txBody>
      </p:sp>
      <p:pic>
        <p:nvPicPr>
          <p:cNvPr id="1026" name="Picture 2" descr="https://s3.amazonaws.com/classconnection/63/flashcards/1770063/png/asvsasfb-14C70EDFAC6085DCA3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348" y="2439281"/>
            <a:ext cx="3084452" cy="175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20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Adaptive defenses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900535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Adaptive immune response centers around the activation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B cells and T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Divided into humoral and cell-mediated branches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Humoral</a:t>
            </a:r>
            <a:r>
              <a:rPr lang="en-US" altLang="en-US" sz="2400" b="1" dirty="0">
                <a:latin typeface="Arial" charset="0"/>
                <a:cs typeface="Arial" charset="0"/>
              </a:rPr>
              <a:t> immunity </a:t>
            </a:r>
            <a:r>
              <a:rPr lang="en-US" altLang="en-US" sz="2400" dirty="0">
                <a:latin typeface="Arial" charset="0"/>
                <a:cs typeface="Arial" charset="0"/>
              </a:rPr>
              <a:t>– Defends the body against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pathogens that are free floating in the body fluids                  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Mediated primarily by soluble antibodies that are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made by B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Attack free-floating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Cell-mediated</a:t>
            </a:r>
            <a:r>
              <a:rPr lang="en-US" altLang="en-US" sz="2400" b="1" dirty="0">
                <a:latin typeface="Arial" charset="0"/>
                <a:cs typeface="Arial" charset="0"/>
              </a:rPr>
              <a:t> immunity </a:t>
            </a:r>
            <a:r>
              <a:rPr lang="en-US" altLang="en-US" sz="2400" dirty="0">
                <a:latin typeface="Arial" charset="0"/>
                <a:cs typeface="Arial" charset="0"/>
              </a:rPr>
              <a:t>– Attacks body cells that have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been infected or are altered (e.g. cancer)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Mediated primarily by T cells (cytotoxic T cells)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Attack virally-infected cells</a:t>
            </a:r>
          </a:p>
        </p:txBody>
      </p:sp>
    </p:spTree>
    <p:extLst>
      <p:ext uri="{BB962C8B-B14F-4D97-AF65-F5344CB8AC3E}">
        <p14:creationId xmlns:p14="http://schemas.microsoft.com/office/powerpoint/2010/main" val="126247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virology.ws/wp-content/uploads/2009/07/antibody-neutralization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794" y="3886200"/>
            <a:ext cx="542363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Adaptive defenses - antibodies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52600"/>
            <a:ext cx="86836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Antibodies that are made by B cells are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SPECIFIC</a:t>
            </a:r>
            <a:r>
              <a:rPr lang="en-US" altLang="en-US" sz="2400" dirty="0">
                <a:latin typeface="Arial" charset="0"/>
                <a:cs typeface="Arial" charset="0"/>
              </a:rPr>
              <a:t>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a given viral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E.g. antibodies against HIV gp120 or HSV </a:t>
            </a:r>
            <a:r>
              <a:rPr lang="en-US" altLang="en-US" sz="2400" dirty="0" err="1">
                <a:latin typeface="Arial" charset="0"/>
                <a:cs typeface="Arial" charset="0"/>
              </a:rPr>
              <a:t>gB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They can attach to that free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and neutralize them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Block attachment to receptor, clump it up, block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</a:t>
            </a:r>
            <a:r>
              <a:rPr lang="en-US" altLang="en-US" sz="2400" dirty="0" err="1">
                <a:latin typeface="Arial" charset="0"/>
                <a:cs typeface="Arial" charset="0"/>
              </a:rPr>
              <a:t>uncoating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968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Adaptive defenses - antibodies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52600"/>
            <a:ext cx="8683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Antibodies that are made by B cells are SPECIFIC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a given viral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Antibody attachment to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can also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cause them to be eaten easier by phagocytes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Antibody “tags” it for recognition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Called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opsonization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Antibodies can also attach to virally-infected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cells and call over an NK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Antibody is again “tagging”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the altered host cell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NK cell kills 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ADCC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713" y="2209800"/>
            <a:ext cx="1817712" cy="277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848600" y="2743200"/>
            <a:ext cx="6096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http://faculty.ccbcmd.edu/courses/bio141/lecguide/unit6/humoral/abystructure/images/NK_Fc_granu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889911"/>
            <a:ext cx="2133600" cy="171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7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4515" y="434109"/>
            <a:ext cx="536396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Host defenses against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Adaptive defenses – Tc cells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1752600"/>
            <a:ext cx="86836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Cytotoxic T cells recognize specific viral antigens that are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being presented on the surface of infected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Presented by a host protein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MHC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Binding activates T</a:t>
            </a:r>
            <a:r>
              <a:rPr lang="en-US" altLang="en-US" sz="2400" baseline="-25000" dirty="0">
                <a:latin typeface="Arial" charset="0"/>
                <a:cs typeface="Arial" charset="0"/>
              </a:rPr>
              <a:t>C</a:t>
            </a:r>
            <a:r>
              <a:rPr lang="en-US" altLang="en-US" sz="2400" dirty="0">
                <a:latin typeface="Arial" charset="0"/>
                <a:cs typeface="Arial" charset="0"/>
              </a:rPr>
              <a:t> cells to release </a:t>
            </a:r>
            <a:r>
              <a:rPr lang="en-US" altLang="en-US" sz="2400" dirty="0" err="1">
                <a:latin typeface="Arial" charset="0"/>
                <a:cs typeface="Arial" charset="0"/>
              </a:rPr>
              <a:t>granzyme</a:t>
            </a:r>
            <a:r>
              <a:rPr lang="en-US" altLang="en-US" sz="2400" dirty="0">
                <a:latin typeface="Arial" charset="0"/>
                <a:cs typeface="Arial" charset="0"/>
              </a:rPr>
              <a:t> B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perforin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Target cells (w/ virus inside) are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killed</a:t>
            </a:r>
          </a:p>
        </p:txBody>
      </p:sp>
      <p:pic>
        <p:nvPicPr>
          <p:cNvPr id="6146" name="Picture 2" descr="http://bio1152.nicerweb.com/Locked/media/ch43/43_16CytotoxicTcel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93" y="4191000"/>
            <a:ext cx="6269038" cy="230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85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79976</TotalTime>
  <Words>2529</Words>
  <Application>Microsoft Office PowerPoint</Application>
  <PresentationFormat>On-screen Show (4:3)</PresentationFormat>
  <Paragraphs>383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Joshua Loomis</cp:lastModifiedBy>
  <cp:revision>1394</cp:revision>
  <dcterms:created xsi:type="dcterms:W3CDTF">2015-01-10T02:03:23Z</dcterms:created>
  <dcterms:modified xsi:type="dcterms:W3CDTF">2020-06-13T02:37:50Z</dcterms:modified>
</cp:coreProperties>
</file>