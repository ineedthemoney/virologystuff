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1" r:id="rId4"/>
    <p:sldId id="260" r:id="rId5"/>
    <p:sldId id="262" r:id="rId6"/>
    <p:sldId id="273" r:id="rId7"/>
    <p:sldId id="263" r:id="rId8"/>
    <p:sldId id="274" r:id="rId9"/>
    <p:sldId id="264" r:id="rId10"/>
    <p:sldId id="265" r:id="rId11"/>
    <p:sldId id="266" r:id="rId12"/>
    <p:sldId id="275" r:id="rId13"/>
    <p:sldId id="267" r:id="rId14"/>
    <p:sldId id="268" r:id="rId15"/>
    <p:sldId id="269" r:id="rId16"/>
    <p:sldId id="276" r:id="rId17"/>
    <p:sldId id="270" r:id="rId18"/>
    <p:sldId id="271" r:id="rId19"/>
    <p:sldId id="277" r:id="rId20"/>
    <p:sldId id="278" r:id="rId21"/>
    <p:sldId id="272" r:id="rId22"/>
    <p:sldId id="279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502E-4520-4905-8C82-D6C560ADAA0F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49DD-EF03-4E2A-8932-7F7B374E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3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0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415547" y="1676400"/>
            <a:ext cx="3129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0882" y="1114961"/>
            <a:ext cx="794480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Lecture 6</a:t>
            </a: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Viral replication</a:t>
            </a:r>
          </a:p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Gene expression and genome rep</a:t>
            </a:r>
          </a:p>
        </p:txBody>
      </p:sp>
      <p:pic>
        <p:nvPicPr>
          <p:cNvPr id="3" name="Picture 2" descr="http://darwin.bio.uci.edu/%7Efaculty/wagner/hsvimg04z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778" y="3886200"/>
            <a:ext cx="260398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abbottmolecular.com/en-us/staticAssets/images/realtimehiv1-primerandprob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4267200"/>
            <a:ext cx="39528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14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7" descr="data:image/png;base64,iVBORw0KGgoAAAANSUhEUgAAAUAAAADwCAYAAABxLb1rAAAgAElEQVR4nNS9Z3Nj25Wmmb9mpiNmpidmuqSbJLwHyWS66yRV/4KJiY6omSgj3ZsE4T0JWnjv6NJcI92Sqv/b2x/2Wfusvc8+B2BmSlX94Q0AB46EebD8enLQuMOz5j3267dIVVaIF+dIlBZIlpdIlpdIVVZIV9fYa9zi4ORe6sX5e3zV/hnf9v6Ib3t/xDfdnxV92/sjftP/E37T/xN+O/gFvxv+K/5+9Gf81/Ff8PejP+O3g1/w28EveH75Dgdn99hv3Sk6OLvH4cVbPDt/wOHFWxxevMXzy3dSdOzg7F5qv3WHvdNbKXoc/hjPzh+0+9xuVPpkjWRjiWRjiVRzhVRzhUR9gXht7jiePlnL86nmCpHyFKHiGKHiGJHyFPHaAon6EqnmGnunN3h+do9nrTX2m2uk60ukakskqwskKkskKktECwtE8nOpcG6GcG4mL8cKM+U9S1fX2Kvd4KC+xkF9jWRphmRphkRxgnhhjFh+JBXJDxErjhEpjBApjBAtjpEoj5GsTJCsTJAojxEvjRAvjZAoW9eVpkgUJ0gUJ0iWpogXLZUmDsWsx+OKl0aIFYeIFYeIl8TfwBUtjITyY8QKE8QKE0TzY0RyI0Ry9vFofizOF82iv4Eej47Lx7cUL0ykYvmxFD1+tOD2Nw4QLQyM/7f+GvDLibL6Wu3XVjior7FfWyFdWVjv1RSJ0gzJ8hyp2sKhdH3p+Ny5KX2yRvpEfNZIdEzcZo30yY3yveHfn72Te+yd3CPdvEOqcYtU4xbppn18r7bCfn1tq3mD/eYNDk5ucXByq5x/dmp/H+k7Kb/PV+/w/Pq91DNLzzW9urT14kro8MrmwYtzW8/PHvD87AGHrXsctu7x7NTmQ+r0BqnTGzzZr9/ioHGHvdoNkuUl4sW5VKwwQ6K0QKK0QKq2xn7zTurZ6QNenL/Hy4t3Ui/O38rz9Ee+vvqA11cf8FX7R3zd+Qlfd37CV+0f8eX1D3h99QHpkxskGysk6ktFycYK6ZMbpJpr+SbRG0Xn6b6p5hrJxko+Try2kKCh6+n2/LZCS0X6h4bgF6vOEKvOEK/NEa/NEavOEK1MEa/NkagvpJKNpXKZABgsjCQEI+UpopUZ4taHOVWfIVGZIV6eIl6eIV6eIVaaI1aaGwHIL8cKMwWCBMJUeY5UeS6+TMUp4oWxAsBobrg1ADnAHgNAAYChhGisOES0MEAk35cAcQUMA2AkN0LoeIDQ8QDh7FDCMJIbuQLQDXgkei4OQAWGBF+X+9sQ3wxAE5g5AEl71aX9npVmSJRmGwG4SfSZdAfkzacBsLH+mwLwxZUKQLovGTc6AAl+JDKw9s6EnqSrS+zVVkhXl4gXp4gUxlLh/Ajh/AiRwhix0lRYJwwyCctiIauFRMfS9RXS9ZV4kdgLQS/MXmONaGWGcGkirSRSuDSR1xEwdBFMSPrjuN2XbiuutxWtTBGrzpQPTaK+QKw6Q6Q8Qbg0Vm4fLo0RrUzl/Uh0LFoR8Avkh/Bl+/DnBgjkhwjkhwgWRvL5wyX2vxemCBdnCBcXCBXmDgXzM+VytDhDtDhDpDBFpDBFND9FJCegEc4OnZbSBgDqwNMtQIIfabP1M1JEECSA6FBygMqCX+Coh8BRD8FMX4IwnB1qUHo8AGMMdkZpj+UFMy8AOgEq7r9XXUqlKwukynMkSzP5w2ICYKq2UABHoh9nLv7DTZ9rLh2A/DJ5VOmTG6Sbd4o4AEkEv/2mE6jcs+MAPLx6J8XBp4sDkCBIAHx2+VZ9zAsnALnXd3B2j/1zoSfp6hLp6hLJ8lxCjwMwlBsilBsKGFpQIjAFCyMJSf229BjR4gTR4gSxkm3dCAtnimhxIgFBcPDnBhIWwcJIwoIsKBId4yK46KAhGBIg+X1CRVUENfrARCtTRMoTx21IHIgEMy5/boDd4x52Ml3sHvcUENLzBwtD++/NTywILlwh6AbAcH6CUG6M0PEIwUwfwUxfWkwOCOSGCOcGiBRGCOeHUsKtU4HFrTiyJKUMlo7iYhoeiz+mF6R0APrfdBE46ikAfIwFqF9+LAAfCz96Xei5wrmBeM0t0MeKY2mppysLCcBUeS4twGR17lCqtlDAp8OP/xhz0fX8ftw74l6SfmwTAL3g5wbAZ5efDsDDKxWA0rK03F+SI/RFAEzVFkhW54iVJgjnhwjlBsqXPFgYKgqXxghXJgiWRvAXbNAQePiXm0OLrDFufdFxDi83a0m3EN2gyO/D4eduJY4dEOTWoG2hmQGoS7+dPzfATqaLp0cdCUBftq/8X8rfbQHQhtxSkwpAYS0KhQpTcf/cGMHsAMHsgP0oDaWlF84PEc71EMr37PfcUrjQR6TILbSBq8Wmx9Z0V1a16ITrS6LHdIOnvJwfI5wdKhYgwc8LgG4uqAOMLN73GBA+FoDh3AChbB+hbB/h3MC2AgsTJIpTJEszBYbJ8lyoOkeiMlOUrM6NMDMB0GQVqgC0XWEKN1HYSAGhCwAdoOTWZEuI3E2CzsHFAw4uHrB/+RYHV++k3ODn5gq/uHov4KcB8Nn5w0YAShdYBNyFRRbIDyzXbGzBQv1iB0sjhMoCgKHyGIHi0NUi41YXj3vp7qvJKiOQ6gDVZTq+yQXmAOYuKIcXWXbChXVaiRyCm68fS6uWwK7/fzoAhWaWu2vDL5h3WoSRkpADhAXbKhcW+lBRKK8CMJjtI5jti2MFO0bHYeUGQN3C4V90G4Yq/Gy3eqokBhywYjFAbtE+JgboZRVSYkUXT8BQMsTkan8sAKUVaCVdCIQEwJQlEwATFbM1Z3KD9et5rFpN3jnj424AlNafBkAdfBx+OgD3PiMADy5suHkBkENQAjBeXSFWFV8iikGFyhOESjMES2OEyhOEK1OEK1MES2OhyhSB8gS+4ggBJn9hKM/TbUPlifIYusgF5labyfLjMDXB8DEA1GOAbtabsOD61g/D0BV25Mbq9xVusfo/cgUL4nUKFEfw58eWpggUZlLB4lIqUFggWJxLhUoLhEozhEozhMtzhMtz+XqHyvTDolrwwWIfwWIfgUIPgUIPkcLICMBIcYBoSY3XCRmsNAZA+pKbIWg/XrIyQao6ZQmXqSNDqgDEsvgcwPJwn13jiuzv4SGccN4MQw5c/fm3AbD+2pgASBBMlmbCHa4uJQBN2gQ4L+nJPq5Uc2Vdv3ZagTxZQgBs3boq2bpF6uxOKn1+j/T5PfYsAO5dPGD/+p3UQfu91LYgdAPgJpEV+iRWWSNWWSJSWgrrobRAuDxHsDiFLye+mMHSWALRVxzBXxrDXxpjJz+Aj2k318durg9ffgB/YWgEoi5uHekxPJMbbQKdm2vMoelmAbq5ryRftqdAkKRfJnELUliRM9eYZbgkQBUsjREoTCzNFMhx+HkBUIoBMMj+J/l3W+DjAORusAI/BkA7jud0BWPFsRGA4dwAweOedqyHaGGARHmMVHXKIDgzQpAD0FQGY3K7t5G0VnmMO+8EnA4/HYSPASAXz0LH8mNEcwKGBECyAJXEhyEGuA0I+W04/HhpDC+R4eUxpiqMbQCY1ABI8PvcACSQbQNASpAcXryVrvOTaPUWkcoKodIKweLc+qIxC6SyRKA8g780R6A8s85PsVsY42luiC+yPVc9zfWxkx9gtzA0yl8YSvjtHveUJAGPJ+oWIrcU+W10V9POtE4Rq86FpeviAuvWXCA/gD/Xl/DTRbDjIHSzAPUEDf3NoeJYWMHlCYLFKQKFCfz5qcMKtK1BDj8BPHpPgpWpVICgWhwhUBxa6iNYGigKlQYI54cIZvvwZ7oIHAu3mAAYKQ6keNkKgU/ASiQ3Ivk+QtkuApku/EcdBDJdKf9RB/6jDoLHPfGlL9kWH1mAet0h3cYVKlaWm6AbPO4psOXH+WWKv0XyQ3GdBUAFgqwSgmDH4466NepmHfL7kQvPs9iR3EgBYLwwQao8F1lhq74uXV9ir7GyakTVMhgOPj0rTJd1QLqVeun1grY1qLrEOgyTJ2skTm8cwKPL6fN7ceziHunLB6QvH+R5Dj8CIIfdNm4xxf+4ey3jglaShV/WY4ZPwuU1wuW1YmUQBIPFOQLlBQLlhQXAhfzC+YoT7ORHrnDzFUfwFUfYyQ+kjBC0oMUByKUnQ3Tx21K2dSfTVRINbkkQkdWeOrK3HIK662uy+twASDFADj4OwHDJDg2ESjMLgk7wOQE4RbAo7uMvTa33ZOIAoIDgEMHSyAG/YGmAQNGC+3EP/kwX/kxXusBcPCnC4ZeqziW4ooWBBGAg01VgRHAK5waIFccW+GaW1WculOZFw/z2ycpMFDgTePJD5Tl0i5P+Fi6CYSDT1RJFI4e8AEgQc3PP9fvy7LW0IC34RbJDxPJjGQfkMUA3C5CXbLnV/ulA1AG437qV0NOL/zcBMN0SAIxrECQlTm9sGJ4LCKYu7uX5vau3DuvPC3gmyYYIyxI0wo7BUGacrfrDJ8HCCsHCSoPfwna9LPjpACQr0A2ApE0A5JacnijYJhusZ6G5O02Fx1R0HK8tEKvOpTsszk8lBHkpC8HOlOU1Qc9NemkPT4BQWZEC58JUyQLbyZCpQ0ErFOEvjREoTyQEA+UJApUx/OUR/OURApUxQuUhQuWhCj8LgNzS5e5vpKi6xLHySIFfuraQLmysKDLLweMOgscdhLJ9GefiGeF4aaLAzARAXnuYrMzkc4nnm0vLkLuzweOeAl8St0R1MBMA+WfMCcAJwtmxVOh4hNDxCOGMEBVoc6tuW/eZA5BEyRBZYF6eyswvJUAIgG61fdt0iRAAD87uFD07v8fB2R32Tm/kbcXjOQGYOr1BorlCnEHQobNbxFs3iLdukDy/Q/L8DokzAUSyAk3g011dR+yPbmd1hXH4HVpJlf3Lt1K81IaSKC+vP+CJP7eAPz9XJCwOYQUK+E3Z6dSy7ibYLQzxNNeXru4mbQKgye01lbWYpJfTEPxi1bnSEaJ3nVDhsqmeT4/n6QDcJhtMdYC7xz0HzI0JGpnRXbDCZw1+FO+kBIoGQQIglxcAuVsvY38bAEhg4q5rJC9ifOFcTxZZ6/FC2/W1AejZemc9D0lagFZmlQBLQDNZfLp1SHE4kfjxBiCHHwEwmBkidCREbq3u2nq5xvw6vQVPirLQxTHi5elGANqg8gag7upy8JF0AFJM0JQY8QJg/GSNeOsGsVNxmji7lUBMnN0iffngsPwO2x9w2P6wFQCfWwCUxdAMdAcMggdarSHPIj8R0JvCl5tIUTbSnx8Ld6s0luDbLQyxW/SGGneBN1mIJuuPg29TssMUE+QlJmTpEfDICoxV54jXFkYL0Kv2z63cxXRdsOD+v9nWKXWRzNVEDStp0cEnH7802ghAKllyALDURaDYhy/bUxM9xb6IDTL3l0MxWhxLxUoTJUNsxwl57aB3uQiPARIEbfhNFPCRS8yTCxyAOuj4qck9NgFQJqjyE1UaAINvRgi+sTtUeIE2ByAv2zG5xhFL3Ap0AyB3gbmry2G3LfzI1T04v8HB+Y0DgHpPuw5AgmDyZC3jgCYA8tNkywlA3QLUAaXLrRxGBxzFEEnc/X12aSdDngjojWCfjkQ2NzvEbq5vxZKEK+UrDbFT6ONpvoOn+R6e5nsSdG7SgcgVsCwkt5ifTBQYsr/bAJBcTB2AugvsBT8vV3dTITR3gelv4pasDkBStLIZfjYEbTdYgaC0/MYOAAaKfQRKXfiLHcX9DRaGCFnJESUBwq1CKqSmwmpW2+eE31BJmpjq/NwASJfdAGgqMdHhR6IkDFmH8tRglbsBkFxhDsDA930EjgaOIm1u+emX9bhg4E0XwaMeQpm+AsNYYWK1po6k1efWC6yDjsf59EEdHIAHZ3cSgNwK5BYgzwqb5AZAbhVuAuD+9buPBuDL6w/K8RftD3jR/mAEIFmJBxd2ZviJ79jKxFqnopSlJ09FEN12m3YKXTzNX2On0MVusQd/YaCUu2ySXgajFwLrH8RNJTD6cV5iwuFHgVxuAboBUHd3t4Wf2RU2d63I6TBWjMeO88wRL88QLU7UbKSU6OaIFAdGAFLMj+Sa/Ch1ESh1Ha58pDJCpDJCvDJGvDJW3F8dgNRRoosXT/O2L0cHRmHkGgPkENTrBPnjuLm6PO7ne9PG7vfXEoISiMc98QNVcIZYqLda77EOZ6cIZsYOAOou8CbpAAwfDyQAI9yK1ADILcBNsT7divOyALkleHB2J5Mj6uQYJwgTzRUSzZUEISnWXCHWXCkw5MmRxNktUhf3DheV+nv1oSpuIHx5/UFA0ALf884POGQA5CDc1wB4cHaPJxSfogysgJ8tEwAJfr5S37reXOO3jXht3jadHSa5Z3hnyvgpDkCvJMg2LjDFBjdBkI/D0v8nAqAa6H4cAENlAT4CIVnrZPm5AtCSI3tdHiJSGYl43yMAGMp2Ecp2rQRIF5F830qMDBQA0hiuaG4kkyJuvceJ8pjVIKq1gZQAMSU5CIAEvE0ADBSdP1DuABwrFqBbDHBbhY8H0u2lbHCEZ5jzI8TLUwcA9bIWL5eXAGYqd3l2cesAIIfgtgDkEKTL0cZSwpCsxJRlIVKJzL4Wu6OY3scC8GXnBzzv/CBqBFk80NUCfHrcBWkn25OiomZR0DyAvzCAL9+HL9+XlwPFocP627YDhOrfOJD0PmFTH7Gzjs+7M8RUCK13gvDpLRyGPBGiJ0Ns0JljlF7JGr0OkdzgeE0A2ZRt9iq5CZXHjlO3bhU3l96rv9lUJxks2MMTIvk+ItkewsddhI+7iGR7iOUHiBeGiOUHiuI5cdtopo/wcX9jobKzp3jkyP5usv78Rx0E3tgKHnURyVqPXXC+P5HyVA7v4ImLcHaIUKaP4FFPWH/WcAayAPVJNdsAMJabIp6fIZ6fIZabIpqdIHIs4o288Jtc4lRtKYcOpOveswC5O2wC4H7rFs/O73F48SBlw09MguFzNqkljsZipRq3SrG03kqXaIqEY/JkbbfIWdnjdOtW1u2Z5n2SKFury81FJjhKSLJxWTQyi+sJhx3v5CBRi5suL/eWdyNsAiCHn5s7bILgttKtRFMniNdEl08FoMn1dQMgZaRNQyjcALatK+4GUHPxtvO1cHs82TPMAEgQjOb6UnFLsWwPMQuAoUwPoYxLgsKQuNB7jXXYmQAoHyPTQ/Coi+BRF6FMD5GslUEuON8XAmCsNHUHoOW6+t905ZQaUybYq6sknB0inp8hUZgjUZirEMxNEM1PFQAmSjOk6ys8O73Ds9M7AUFDO5tu+bnBT88AqxC0hwx7AdA0h5O8LjpGsz05LPnAYn1oMRdBbVv4OWB46Q4/EQO0QLcN5EzHTW7ttvALlW0LjhcM86SIqZjZZNGZAOfWR6wCyQmRTXB4LAC9Snj44AU3688Enk1W27aF2/w+brFQtzKfYIFlf3N9BwQJhFzR4y4imQ4imQ6CR20E3lzDf6QqkGlLmY6p13ccnSdcHJT+o460CGVPbsH5GSEARosTVwCS/JoVGDoeKPCLF6eOqdb8+kRhjmRxgWRxgURhLgHIW/7I+hMDUpfKTM1NFiBpv7lWdHByg2enduEzgdCGoJA+ZV0OTajfCFnw0+trCYKmMjTKIPPHdozKoqEGlhW4jUyWotL+xnuBLfA+2SZp8djrN0FQ6VfVCqF5TJLXzunDDSiJYXKF+WPqfcEmAHqVumx2DT8dgDyeuMlV3cb6+xgAmuC3CYChIpvxl3dCMJTpOIGY6SB81EbozTX8319JAPreXDmkHzfBkIDGIWhyiQl+u99fw/embbXBDcTEHIOHQXMsHW1txwOEMn1bWiG0bv0lrOGmprH+8eJUAjBVWiJZXNhWoOb6khKVuRw0LIYOu0+D5i7wXkMVQZB3gahF0dbUFG2unw5Aghq1mfLvJwGQT2cnUSud3lrH5wYenN0bXWKy7Exw9AKgCYRPNpWxKBnG0thcyuJiOeruMG/Sl7JgxVvZnh51pHhXhwmAponQ/PG2AeAmyH0KADfLCV7XWJ8GZrckzDYA1B/nkwFIk54NIORAJKsv+P0VfN9dKgDc/f4Su99fYue7C4foOh2GOgC9YoL8djQMlluAOgD1nuBw1ln4bByQwKCVqiwUCOoWHcGPABgrzByurwLA0gzp6hLpmtomR+UxJAIdP68DcL/pTIrYMg80JQiS5acDkL5j3BI0AVAftuAGQg4uU4zQDYSyPlC7rw7BjQDUIajX9/kLQ2UaDHepdQja/am2tUhWElmABMAv3rTxxZu20QLUIcinVG8CoJsFpltif2sAmlxck6X3OQC4TezPFAvdBEBuCbpBUAcgh9/Odxd4+odzo3QY2iD0tv5M7jH1A0es0IqpmoAAaHeEOAca6FlfcnnlQqPKAnu1lQJBPmQ1XpxuBCB/THrcdHWJvfrSbg+sLcRlDXb7zbUCO7psAqBTKoz0xWOp5loCkCw9eu14iErf88Nb6tyKq/nUGdMkl22hyIGnQ/BRAOQgNAHQq5jZ5A7qhc66FciHGpjG2rvFAvlj0d9k6iHWR+J/igW4KQO9WTZgvOJzJm0DQJPr7PbYXuBzex7ToFEagBrOeVuB/u+vXAFosgJNANzU/qbDMXDcQzDbl4Xcbu8LAZAGJQSzAwSO+/BnevBnnEXPDsvOAqCc61eeOyw5cTuxeZHfhgNSArBsi/dGy17pin1sr75UtN9YYb+xchzfc4GRPv+Px+fILXZkfLUkCC8/06dMm57LDYKOHSIb5Jj7Z0iwKDHAxwBQh99OfmBMXOjz/Lw6Nvh5t1FYQZcPqp7wcBusoP8taob5UyH47wNAtx0kmyy2x/yv29zHNBJfZGut+sBMxxELJAgGj+xEB3eBOeC4+HV2PLBrzBib+n8jrIOFWvnMlQETGQPkACT4cQCapkhzCCbZfg9uxdlwFGtnCZRkKdJjyMdjcxKplzpRVjf0pcozR++0PkhCUW2x0QIjAHKo7LfutoKavmfEBDy+iMkNgNtAUE9u8Ay2nlzh1z3RrToT6LymvOgWm57EMA02MLWHmaa5uI3YN1mTHKImuQ1Y8KrR092ij9GmOkAvaOmu6baA84obbnv/bUGr9+byEfiUHSZ3mEpjItkewtk2QsfXCB53lGyvHdu7ckDRFAc0TXlRxmFZFl8w27eSHvZulIhLfFhtiRtJV5hDMJQbilIZbXQ+lask2UirFN/xwUQQ1OGnxP5KE8X603upCX4EwHRljr3qAvu1JfZrSyMEE7wA32Cl6StneUyOxwL1chaTlWXKvPLHcB215WKBmkCn7wTn9zfB02gBbhpqoFt+T3N9fJHtOebw6QB0m/NH0iFmstpM4HCDoOk5vCbMbAPAT7fy3LUp5rgtALcZ0fUxVuImAMY0ANrFy1aPMAMgrwuM5DoIZ9tyfJazvMUdgtwC3FQrSINeudurA9Dtx5UDkNxhDsBo0bk8SXeBdenHOQB1N5kD0G1iNsGPA5AguFd1usQEQRqsoANQr9njGVs9Hshd1OeX7/Dy+gNetX/A686PeN35Ea/aPxjjcbolZtoip1ugJuDtt+6MViaXaRUnf/4n3JozjbUyWX4Ev20BqM/522QVqmsjnVk6blmZ3OrPCUB3cD2uENv9fmbAbZuV3ZTl/VQAbvp7KFZmWv1IO0CUhUj5LqL5LiK5jlC+i3Chi1C+oyiYayOYa2P36MIhX+YS/uMrBDJtAb1jG3ybAOj84XCPD+vlSxSnph/uaHHiAJYOP4KbLgLfXm0l93JzK5BbfcpAWGsxPQefDkFyhZOVmQQgZYf5YNVkVe2Tp/MEPLICRc2eXS9ItYIHZ3cyA/uq/QO+7P6Er3o/4+v+H6V44bIpMcEtMjcY6gDktzN1oHCL0qvG8ODsHk90oNF8P5M4KJ9S54jmAnMI7mS6xlWZpnicDkDTIAS3Qmc3N1qHoBtc/5oA3CS3XmQFMi4tel4A3Cbp4QXBjwWgU311TmCuIwEYznUQLfQQLnQdIgi6wi97jWCuLVrasuriJQ5B31FHTLq23F9nzNUbgPS54NUKfNqQHt/zsv50+LkBMFGameFnAXCT+MJ6aT3SNrnyFLHSRLrAvFSFEhdUpEwSlpPQ88u3eHH1Di+u3uHw4gGv2j9Iq48A+GX3JylTZ4YOQS8Aull/vCbRDYIc5nrXicwCU/ub3gPMj+vHFGnwcwOgl3QIell/JitQT4BwCLrtGeEf7I9xgT8NejMmcx+yfpxf/x8NgCQzCAl+HYSybYQt8BEAQ9k2Atlro/zHV57wC+U7iOaGiOac4KVNd2QBBvIDl7CBNwD5e64n0LwAyON8XgDkRc3JqtkCTFZmtmUnQTdGsjRWjhH4lMy8leyJlcRsQf09jVZmiFWWCgB58oHKR15ev8eLK3H6uvMDXnd+wKv2Bwm6r3o/S9Gx150fHa1rpjIVPTHBZYIWL9A2AZCX3ngVWQsXeAMA9Y1v/LZPj7tG688t+WCCk5tb/CkWINfnAOD27uzjAUj9v5vEe4Uj5cmj4PfXAmC0YvfMUuuYc/fuwIKgDcAIucH57kYA+jKXijgAg7m2AkAOX9pyR+6vvt/Ffq3MCTb6TOg/uLplaCptcZMOxXR1iVRtacOvYpfBcAsuUZ4qABQusDcA5evPIMgBKN/D8gLxqg0NipvxmJnosHgv4fdV7yd83f8ZX/Wc8NPl1r9rigvqlh4/Zsri6i4w7z8mmVZ6cgg+0eGmD0MwQZAD0Je1a6MCx31lyYxp0QyvqQocm2N0ptaxbWKAm+KKbi62FwDdpsh8Lld4WwvQDYDbJkE+NwDp74qXZ5osF0taIhQH7NrwK/QQK/QQLfQcMUDuAofyHQWGBEQ67z++EkMNXCxAsgJDOXvkP0lMMho43vttPnP8er1TY5N0FzlZXdjwK88cy9zlDhYJujESxZHUJgCS9afHkOn9S9TWYqoLLT23io/1gQQEwLMxWHQAACAASURBVFftDwoAedLDJC/Lz6tHVy9j0YFoAqBu/XEL0ATB/dadE4Acfr78wNUylLfP9iXMCH68hUiH37YA5IDblAX2AmAgP0QgN0YgN4Y/O4LveAh/doRAboxgfmJPWy5YcCvOlNNYZSkAWLIq3bXrPycATYDZFoBGiJW3H5rwGADyvysh40tzR5xJgNCaI2iBLlroIVbsS+nA0+OAFAs0W4TXlns9cAWgtAQ1AFLbpttni/8AmrwOErn/scJEjNAqTuVl/ZSuj5cFBBOVuYRfojKXZTU0MDZWtIugOeRsAE6QKs/k9frU7YgFQD2JZk8gmiPdvMP+6QMOWm/FKXN7+TACYcWJTK9wgUWWV1p1l1bG9+KDcnp4brWjnb8XkDt7p5xuKmdxS4K4xQG3qUnkEHxCs/22Ee2YVY4b9ubyEet6AsQTVAYr0G2IgFvcxgy9MXzHY+xmRtg5GmI3M8JuZoLdzEQuHQoXFwgXZ4iUlgJ2paXlHtwICJZXclkRPw0Z4ipKmYjL0iUSBaM5NGKliZzITEpUJ1LxyhixsgBctDJFpDqVuz/4wNNguSdH4dv7QEZibmBlIlQeuipSGcnTaHUsFatNEKtNEK9PkWzOhRpLpE4WSJ0skGjMEKtNxP1K4rHiFXFf/vdHS31Eij2EC22EC22E8tdSBEH7Nl0Ec20Jwd2jK+y8uUQo25VTqCPFgWPRu2vsOTuCPztCMD+xfwgt0fu6qYVRSMAyWpw86pTCBmQ5J0oLxItzS1PECjOrtGbmtDJLzEUuzSRQBUxn8vPk+OGsThGpzhCtzRGrLxCvr50AbAlYHZ6/x7Ozd/L0oPVWAKglLDa6zUHrraX32D99wP7pO3m6d3KPVOPeGp3ldiqsT1q0ridA9Pid2x5jfa0nTbSmwa58/SfXZwOgWxyKQ8wUp/scADQGsK0PdiA3hT87gT87g+94KuXPzuDPzuT6SQG0hQVAW4naLeLVG0TLK0RKS3k7CcLSRLGQNlluXgBUMnQbABivDBGpDKwPNUFwJEEXqvQRrorTUKXPQDjeCoA0Gt8EQIKgAsDm3AHAaHWs3J/AGa2OrcfeDMBIsScBSC6xgOA1fJlrCUBa4ET1fTSx2g18XgBUd7BsB8DH138KD8AEQAE9XWYIxkpzxMsLZk0KK5wG7JKitZklG36Jxo0RgM/O3kno7Z8+SDiRm0zAEte9lUo3HxSlGvdI1G43aI1ETR2vpRdk6wA0AU9f78n1NwOguRNBLSMwdXx8CgDdEiI2AMfWh30iFchN2b7dufzVFxbgXFGitka8urKswIU8TrflAOTA4x++eG2uJDu8Sl04ZDh4CB62RohWh+yDPUGkOka4MkK4OkCkNkSkNlQhaIEwXBl9NgAmGjMkGjMFhI8BYKjUQ6jUQbDYRqBwjUChg0Chg2Cxi2Cxa13fk5cDhQ78+Tb8+S58uQ6COXuZe6Q4kEF/AqGjSP54KMMgPBTigODfEoDFqSv8xGAENh2GZXg5ACmWSPV9tDKTFG8sEKvPEW8sEW8skWjcINkUFtjeyb0CQBKHXqpxa0OqfiOtNxPU4tUbqWh55RA3MKLlBWKVpS2rLEfvDrEtQ3t0F02v1td6cukW4ScB0CgXANpuoBqzMw08/VQAGq1A60Ot/+IL+E0k+LjbYwIgvTHR8kIBIMUElYyoAX60v5VDUA9IKxBk8DMBMF6fIl6fIlYbCQjWJojVp4jVp4jWRxJ8HICKKqO/CgA5BBONGeL1qQJxDm83AAoImgGoK1jsI1jsO9d3agDUf3R3M4P/WACUVt3cBXw2AGmRlALB8gyJisgii4zywrEzhAAotBSj6hs3SDRuJACF22pr7+ReAR4ZArq84MY9JvK0VE0d3zc+S9Acz1PH+evw08f7ewFwv3X76QCknbJeFqDJ+vuru8CWHAXRWfF3BPPuJTCPK2WZelp+8hdYA6CjHkuzkAgSHBwCfmNFBD8OwHC15yENhJ8AQA5kDkICIP9f3AAoINhRLDw3AIrb238bxRhpaVOsbJd9cEApP7zMAqQ48X8MAE5ZzM8GYCQ3sWRNnaHsrmUByoxybWkEILcACYASgs0VkvUb6dJyFzdZv7EAt3B4PpvkCCcYRK+5HUayXxcao6UOW1B3Hiub7TysQN0N1rURgHwJkum63eMufNmeYgVyGOolKdu2xT0WgG6TZ9QYEGWczcXWJvHrTPAj8HH4cegpH0KDFUiWH4cIhwcBxpYBgI0x4s0JYo0xIrW+ArxIra/JsgwtAEYMEOSAcQMgtwK5TP+DarlyAA4lAMnN5fDjACRY6lYxj5PGyiOl3o0DUMaemeXnCr+/IQD59Bc7+WHrYwDo5gJzAJLIndXdXIKfG/S2gRz3rFzvZ/j+8W2OdlfHUlkGzxMgXnFADkGTPgsAdQtQqbfS4Mf7gz8HAJ3xP3NhcCA/QKDQk6eP6ZYwJTk4+Lg7yGNhJjmsI8uFTTTnSJ0ukTpdInmyQLwxQ6w+Rbw5kYo1xor4MXF+iGh9YEGwg3C1g0ita6kvrxPXC0twEwB1V5xf1sFmAqDTdXcCkFxhDj4bgGJRuymWSG62EjfVSj4cFQIMejr8lC/rRogRZD8dgCQ3VziSm8hSMjnKqyzWZTrGa9VU6XVxOgC5q0lFxDRk2Msjkv/LBmuQu7fG2xiMC3WMvlluGWATAL30yQA0ucCbAMg7Rj5XEsQGoeqGy9ax0kDGjUih0mAjAE3ZXS/4USY0fbpE+nSpHEudLBwQ5PDbO1tj72yNdGuF5MkCieYciRNvCEbrIwuAI8SbIwnBaL2HaL0nASiODRggbQDqEHwsAE3usBsAeWxwWwDyv2sTAPVEk8MrMIDv3wuAsZIZgByC5AobAVixp0XLVjsGv3TdLgxWVlU2VwoA6bp4beEYMOz9XRu7xs5lTE+Pm2sg1KGnj9Ani0/ff7wtACkWqIvihE8os+umbZMgeh0gifcF054PvWXO5A4T+NwGF9AbYr9hEzPAtC9vuNxX4k38C0aKVscSaHrsikOAfyFN1p8OPoKfYiVp1l/qdIl0a4XU6RKJ5hzJ0xkSJ1Mp29UVCQ4bhkPEGkPEmwOpWKMvT20NLUiKeKH62rgD0Ot6s6suQOj2WLYGiFQGLCGiurym98f0N0lp778JgFu5bFsC8GPgJ129ojU7kLnB9mgtAuBYLkjXARgrj4zTZ8gS5AA0WYKxujrBmVt/BEG+6Y1L7Wd3im7HW9OU52fPZdoZYoKeaem721InPSGiJ0e2tgC3ASBBkIPPl+3Bl+0ZAfj0qCMB6OYOPwaAwiQfOyw/iq1x9ytSGSjWhtsXjKC26QvsBkAOPx2CEoaW0q2VtP50KzDVUiHoBUBhBQ6QOHGCcBsAbtJjARivTz2tSB2AHIJ02atQ2yhHp4smj/jUx1iAnwOACQf8VABG89RZZU+ylgAsTx3DVbcFIFmAjus0IOqQNF3H4chvY5rQwkfo87IXHYBeaz71HcePASCH4CcD0GT5CfB1LanjsrgV6DWzjxdPewPQXiROf0eoaH8pOXCEyzR0+aKpxyKVAWK1keM2uiI1AZN4c4LEyRTJ0xmSpzOkWnMJLy+lWyukL26wf3WHvctb7F2usXe5Rup8iURrjuTZAonWHPHTGWInU0SbE4TrI4QbA4TqfQcAEydjS0MNgEN5GwJgtG5ObpiA6GWFbQNA02OHy2qZjlqwvUljq6vFeZxLd9k2gU8tcfISxRk/DYDx0gTxwhjxwgRxw3BVe9rOWIFfpCIAKHeC0MRngyusxgLV7LBXGxnFBb0g5nadXsysDy3VLUM747sBflqIybzS0wbg88u3DnEIfjIAlSSDBUHb+lMHpLq5wV7TYDbFAcny4y14HIC6y7kJgDz7yN1l0+0jlcFGAPJj+nWp1lzC7+D6HvtXd9i/usH+1Q3SFyskzxZInS8lBGMnU0QaYwnAcGMgQWYCoArBoYwTCgiOHQDUy1Q+FoA8bGDKINPjhUp2kbazTtEEN2rnEy19QgNXAIYrhnFmLgF6h/5GAIwVx4gXxojlLRkAKNrmRIeQLPepisy3Y+Q9G7LwWACa+mXd+mkJZm69uHQb06h6EwB5uQu38hyWnwU+klfy428KQA5CDkFu5XEIEgC3yQR7l7+oAKZkDLnA3E11fPk095cSJYFCTyZJlISJFpCPVKy6u/oI0eYEsZMpYidTxE9niJ/OJLRMx0mp8zX2Lm8l+LjSFyukzpcSgvHTGaInI0SaQ0SaQ0RPbJCRJWgDcKwAz5adTNkWgJtqBU11fl6WJL2WQatfmXqWOfxMECTwKTHq8gD+8sABQFnoXZkiXGGZy03gswL3prjWXwOA0cIIsTzXWFqC8aLdL0wtbry4nABIo+/TNbaFrrpCqraW2tYC1AGoL0jSl6TzvlyvGJ1+OyppoSSHm4vrBr691gp7rZVn+YsJgJ/dBTbNpVPd4b5jBiCfHfipANQTMI7yFg1a/AvoBUCCoAmA8stcGSFcHyHSGEsAEuR0AOrHScmzFVLnawV25AZzK5Bc4tjpGNGTkYDfqbMURgegE4TuAHQD1yYAurm4ptdbz8QTALklpwPQtvoGziSdBUD7/hx+KgDlNJ8NEPycAHQboxYqjuUAWR2AiiVoATBZnSsAjFRGngDk8NMByMtJ9HFSztYzb5ngZwIZByKHIMHPATx22/TJWoHeXmuF/bO1EGuLc8v0mmJ/sg7wU7PAxno7JSaorr407Qvxmge4aWCl6Xl1IOolLvrIKDcAcgiagBmuWPA7nSLWmiF+Nnco1ppJ8eOJ84VQa4nk2UrG+YRVuJRAlAC8mCN5PkO8NbHh1xJuN5XLcHfbCcCJdNPjTdY+tyEJsk3iwZlpt68LFHrw57tS9LpKKFouMIcchyF3eU2fT1+pLyEYqKgAFAMinBbgY1xgJ/gIZtslQR4DQDHcVUBQbpljAExW5w4AJiszZSewnQhZI13lELQGr2r1dBxEOpA4gPQ2Mh1sXgkLU9kKB6Hbcnbl9hr4Ds5vhDzq/UwlMPpwhE8vg2HJEH7qz/Xhy4s6P79VD+jLC0twx8oO0+muBUq/NaE3UBTjxkNUx2V90EJl8cEJFLlVOHLEIHlpDgegvlQoXBpvAGDHAmBXgSB3y2InNvwIahxyOhAl+Oi2pwKC8dOZtCLJMhSxPwFBAiJZgbHTMeJWPDF5sjAkX3RrUAWgtAI3lMFsm311s/h8uQ52s20pX64jAUg/IgQ6GuMVKPaZxUfHzJ/PbQEYrkwRKlndCCV7nNlj44CPzQJvA0BloTxbtB4piHmDmwBIMcBUzS6GpnH7HH5uANQh6AUlpyyXucFd6RVM8TyesCAAuT2XY3CBCX4WAN2KnAmA6mQYem5hvT7xl8Yw6TFL0n1FASlfcQS/tT3OTys1rUVKdMqv1099RQE/f2mMoPV30GmoPEGgPJGnQes6NwuULm+qH9O/uGoRLvWltu1YVaWPYHWAUG2IUG0o3Vuy3JIXQonLJeIXC8TO54hfLBC/WCBxaR8nONoW4gKx1gLxs6VQa4342RKJsxskzoWbTOKZYRK52hx6plhgojFCrDZAtNpHuNyVZShuciR9LPGBBKb3gJJgO5mOIr1w3m2KtZ3k8FagMrQ0VmV9TgLlGdMCodLCOl0hVFogWJwjVFogXF4iXF4iUlkhVhOKVBYIl+cIlWa2rM+g1IaBsnSesrhcYmyXc1o6TVKnJJ/bmLV4zd7uRv2/+mnc0Besd1SYYnMm15SDKdUUWeB0/Qbp+g32ajfS2kxWF0jXb3Bwcqtkd9Mna6RbN0i3brB3dou9s9uN8Ns08mr/XOjg4kGVNkpfDls9uRfJmeYd9hoeANwWgqbdwbRO023fsNtjuf0d9ofZFl3Hv0SmWKCX1WKOARIA23JKSajUQajSFf21ddvtjZ5OlRhd6nKF1OVKASAHnyLNWpTwa62ROLsRALTOJ85ukDq/tbRWXGYdghx8ZAUqAGwOEKv3EK11Ea60HZDTgWfKflN2PFDoKK+3qRyKwEdlUbxv3GuM/+cHoABfoLRSFCzOJfxsAN58FAC9JnSb4BdRQjnqQF879KMCUJ8+pPefbyM3a0+Py+mZWA6pZENkcROlBZLltVS8vLDGc62QVub7WY91akMw3XK60ps6PHR3lkC6d3aniI/T32/dyQk3NOxh39ITE2AeA0EONL472A10j4Ebvz5YmUrx2zgnTTvjf4qYe6bH9TgARYO+rXC1J1rJmhMBHMudJfilL1Y2AK9WtrV3tUL8ShwjKXCUIBSWX+J8hcT5SgFg0gKfbQGulEQKh6BdbjNR3GCHBWgBUO/A8JJeLsQB6F4I35XnTV1DEoIbQOcvm+UA30cAUJ1Pt1Jm2XlOQCk5AegG9E0A1Ad62HFvFYDqRrfpJwPQKwnhlt1NNVeI10SIIJoXAxyofS9aFBKZa7unN9FcIXmyRvJkpWgbAHrF+WyY3iJ1eoPUqTjvyFazuYYKAE0A4oB5jCvMl6ybrL1NYCO4meQFQHXKdN/zi2YCIEFQnKcvfAfhclee6gBMnC+Epddicb3LpQK6pAW/+NUKqes1UtdrBwCTF0tXAMZOV1sBkEPQjgVOkWpNHRBMNEaI14eI1rqIVPh8PWcfrlv9o8kCVEufegr09Knh/D7/3gDUp4A/CoAaBL22820DQL3uVcQQ1VmTn8MC5BDk01VMMiU0EvWF1Wctdvzw0V2h3BiRgl2+I9vi6jSLUNUmAG4abJBu3SB1ukbq9MYCrDivF17TAFfSnqXPAkAOPl06CN2sPx2EOhDdAKiP2TKtwaQRWMZfZ0d2l9y/HqJVcRqpiLFSsYYd8zMlNAiA8Q2KsfigbgHyGCABMHF2YyVFbOkA5BBMtOYSgByCfGACjc3aBEBTDFCxAl0L4IVMljgvlaJkxmPB99EA1BQurhAprT0AaFiDYGiZc7PiZMdS0alIwTzVSO904qDjo9f4sN3HApAPS93UdsatxUR9gVh1hlBxBH+ur2x+DGYHCGYHInljgU/2E9dsCPJ5hJ8DgAKCNxKCbgDk06wlAD/VBeYAfJrr42mubwQgQdDL9d3WIuR/m9eoLT581dUt1kYtRatDRKtDxGoDxOtDxOushczKvHL4kcu7Dfh0APJkyLYATLSWlswu8McC0H0ai9MF5hYgd3tNEHQrQ5KW4L8jAEOlzwBAaQV6TyqyOzqmCgR5tthYLK0BkANPxOE+HoAml9h0vf7c0cpUAaCEubX1MVaaStdX9goz+D0GgB/jAm9jASoxwE9JgvhLY+wWhnia6+OLbE+B4NNc/9EA3Eb0t+0WhnLvh+94iN3MwB55zuoPTSO2eJKEhh/wgaOJhuUusvayeGsigEMlLhcLxd2NXS6FrlcOxdtrxNtrJK7XEoSUDOEAJBc4cb5SL1vgi58uLM08RXBMnwl3WAegHIul9UHrognNfFAp7eXw5a4drq4OQtOYMcUSdAHgJvD5GAD1/l8hK0nBExilGUKlhaLNLrAOwA0w1OoM6TRmULSoTlzRaw5pypG+XIsuf6oFaIKf/hw8+cKPUf99qDiSgCb3PFFf2Jljy0VNnqwl9Lg+NQnCAUjyAiDFAg9O7nFwcv/pZTBuACSZXGBu7W1yvXVY8ut2C0OEClNl568cd24Bzwk+SpoIi5DGX9FEl0RjgkRjgmRzjNTJRAKQCo9lQbNlwcXO54idzxG9WCB6sUDkcoHo1dIMv84Nku0bJK5tEHIAEuySF2skL9YSgvEzHX4fD0B7Gow1HNUwiYXLl7uWEsuIBPh2s1fYOb6UGV5TksOf6zvgp0PwUwFoht/HAzBWWUsAxirrDQA0Q9BUU0jLi+LlhQpBj1FTwoVUwcMHvn5KDNBuhbNLX8i604fK6okXvtYhUp7IGCKBlPZ17Ldu8ezyAQcX99g7u0Pq9EaBX3KLAuhNZTBeAFQ6XLQVnM9OH3DYeosneokKz+AS3DaVrnAA6iJr0GQFfqz486ub35hcZgyaLEA+/y91MkOyOUWyORay3MfY6RiJsykS5zb0YudzRDSFL4QilwKGJguQW4GpyxsLdmrRNO8gibWc5S6xk7mmqRGEVDOoJ0MkBA31fhyA0tKzAEjWHwHw6VFbKW9R98GMHF8ghxX4kckP/7YAdAWhXRDtZgESAL0gyEdr8SVaJFr5mGZK1dZIVJaIl9UBpDoM+c4Z0y6ZcGnsmQzZBoy69cfBpqxs0NxgmT1urXBwcYvn1w942XmHV933eN37gJedD3h+/Q7Pr9/hRfs9XrTf4/DqLVLnt4ifrhA7EUkQUwbarXPEVEhNdYBU/iJdYQt+slDbWvxEG+8OLT3RLTbuwm5Tu2eKAXIXmMcE3ZIhHwM+EoefsvLQAqD7ZGlrbqAV+7Pn+U0VAEpgnI6ROJ8hcbkUFt/ZbGsAEvw4ABNWRvixALSHKwjwRZszRJszx9AFWRhNLXZaYfS2ADTt6ggUOvDlroUFeHztWItgmqhtsir+ZwHgNhYgrXeMV1fqnltL6fqNDLyn6zdIVlfCGtSGi9J8PIKgHOrhYpHpSZFPEXd5udtNlqIOp4OzO7xov8Xr3gd8PfwJ34x+xrfjP+Lb8R/xzehP+LL/E74eivNfD/+I170fcXD9FsmzGyRaayRaTqvPrXeYd5LwVjYBv1sFgLwMRtYDWuCjncfPLT3hbiu33D4GgKbEhw7UbV3rbeW2EMm0xMZtYrQ60FQFoCwibk2QvJiLZMfFAuGzGcJns40A5OBLtm0XmMpiOABVCE4Ra02k3AAYOZkp4hahDsOYMlRVBaBbQbQ+rZnOEwR9uY5sb6N2QV5c7jZoQdZeFkdGbQvGrQHoAcRweS4VqSxkJ0i0unS4zsHiXHaPhEoLOTyBwMcXfZvKLjgAE9YeXB1+fMio/sPB2zr1bYQfAz3T5kL+eOTe6nE4mrTy1eBHfDP9E367+DN+t/wLfrf8C/5+9W/47eLP+Gb6J3w7+wW/mf8rfjP/V3w1/hnPu++wd2mXdelQI7C59Qk7LEINgHtnd9g/V7tAnp0/4PD8vaIX5+8FAD+nBajfhwDoVRu4zeNvAqBbBo72Gqi9m5pVsgGAsYYYOxU/myJ1KZIe0Y8AIMGP5AZAG4JOABLEos2JtPx0AAprUHWJdQAKCFrZ4C1b4figWOoQEe5w1wg/06gs4zzA/4kASPCzATiT8KPdueT6EhA5ACnzuNe4lW6waZS8CYA8bGCy/jiw3LK5mwCoJ1X4Ckp9vNSLK+HafjP6Gd/OfpHg+/vVv+G/rv87frf8C76d/YJvZ7/gt4s/SyC+7H/As/aDNftS3drmBkA31zh9ssbBxb3lBt/b8Lt4wOHFWzy/fGfr4gOeX3yQAJQW4OcCoEle5TBu930sAE2dIG47ivnwA94XrG40m1gauQIwcj5HqDVF6PzxAEyTrtZIX5kBKCA4VSBoAmCkMZXgCzft89FTdwDyx4g3J0boUSkQDY/1AqA+MccEQFfrrzSQBcF2YbC3dBC6A3BLEJYnysCESHWGWF2UbURrczFEwcOFjpbt0e+Jum3R6cu99xq20vUVktUFEpW5kvl1c4FNFqBpJevnKIXRj5Ore3jxIKBn6eX1e7zsfBAu7vRf8dvFv+F3y/8uQfi75V+k5ScA+Au+nf0RX41/xMv+OzzvPuCwY8/o03f36hNjTHMGCYACgrbcAEjwIxfYGAM0JS62AZN+O55Q8XqMx8JPjws6XWBzK5IOQP1Lqu/dpRKYcGMgAZi4nEv3N3j2OACSC5y2rL9tAUgQ5CPxI42xgF9jinDTKeEKbwZgpDE2Qo8rVhshWh0qt+MA1MeFmeYvuo3Y+o8BwLE6N9AAwHBl6uwJtizHSHmqrHHUx7yT0vWVA4DxsrPsxZkRNidBeGb4UwHoVQdoAuDL6/d43fkBr3s/4svRH/H15Bd8O/szfjP/i+IK2/ATAPzN/E8Sgq8G7/Gi9xYv2wKAHHomS1DvT5aF0swC1AGoiMHvmQW/w9ZbPNE7N/R43WMAyAGlH98WnI9Nkpgyi8o0jg1bxZwTjUdCVrmInLzcmiB+IRIfwdMJgmdTATpDIiRyzgB4tVJifgQ+Ab+VAYAzKQWArYkYhsoAGK5PEGpMEKyPpUKNCcLNqeIKC4tRVbhuDXM1wE++BrWRWL7OLpOoGNqrt9rrNZfHNQA+FoifCsBAZYxgdSIVqk0RacwRqS8Qrs0Rqs4Qqs5Ycf5cigCow0tf75io20uKxIiqJRKVuSiKdrEASXoNoJ6d1afDmAqmt3GB3QBIMUCCILm/rzs/4Mv+T3g9/Blfjv+Erye/4Cvr9NvZn/Ht7Bd8M/0Tvpn+jK8nP0l9M/sRX00+4NXwLQ4793hx/SAByMtdNlmBMg5oDUPQAfjs/MEVgJQFfnb6gCe7hTF2C2P4ihPQeQGkyVZlMDq03Gr2THB0A6QEXHlkPKVKf7H0Ru0u0C3ATV9EAcChCr/aCNH6wK6ZowGkZ1NEWlMETycItabu8LPqAgmAvBdYhd/HAzBcnyBcF/AL1EaKQo0JIo2pFSecMGiO5U6RUG2MYHWAiOx+GTvgF6uNkGhMpFUsLGMRIojVRpYl6N5bvel1j1S84ffXBmDgEQC0IWgDMFQV02H02X/2psKJvR2N7egg6y9anDhigM7NazNF+kSYzw1AHYKUBeaJkOeXb/Gq/QGvez/iZf9HvBr8hFeDn4RF2P8JXw+Fvhp+wJeD93jVe4tXvbf4cvAeX4/e48vxe7zq3ePw+hbPr+5lzSBPtOy3bhVXlwPQMVi1daPE/wiACgQN7u9h6y2e+IozkPylOfylOWsdmkk4+ktTS87SFC8Ljeb2uQ20lGONDMNXaRCmmBA8toZnjmHvftD2S2iumOskZ+WLObAGHvQRrfbV/l+rH5hgSCCMno4Ra00QPZvIgmheGM1BSP3BdZq1vwAAIABJREFU6as19q5vlFH3pn5et/5ebsk5YTZEsDpAoNKX46GC1RGCVQG6UM0GZrg+sY5NEaxSIbIoYeHx0GRtikR1IpZvV+wl6ARCWqvpzB6rr69jVL4W0DeVdrhZ9foPXLhkA06HkGMQqRXLM31GKQ4Yqc4QqYq+1XDNDEEHEEtjoyvOXVWle6MyE8uNShO56ChRmTnieeTyxepzh6K1mTXsVbUGTfWAdEzvJKHncIMi3YeSLcnG0tGbK8pgRI3f8+sHPL+6t3SLV1d3eHV1hy/bD3h1dYPnV2u8uL7By/Y9XnYf8OL6DoeXYqjps4tbPLu4xcG5GHzKd3/QBjiaCK3vBrFjgnbJCy1i4qP9qfNjv3mHg4bQfv0WT3yFBXyFBfzFpZAFQZIJgCboufb2SgjaoOPwcwejmLxMp6aFORHri8WnOesQ3AaA4XIX4XIX0WpfDgsl+MVqAyGrH5hDMHo6RvRsJmsCTQXSHIDpK3XXx7YQ1Ndiys1w1jKmSGPMIDhURAC0NVUsHl++j91cTxYyk7UWr4jl24nqBIkqX3gk3ORITchZP6i+5g6LTwvqbwIgt+ZNA28DRXuCOO+p5b22kfJUAaCvOMJuSYjAF63NFUXqC0VhBkV+2QE+mkbtYqXRcqN4eSrhl6iYe31TzRXijYVDHIKmQam6xajHEU0A1J+f358AyK1AR3eGBbLn52u8uLjBq4tbvL68w4vzJZ6fLXDYmuNZa47DsxWeXazx7GKNg/OVY8Izh9xea6WuwDQAcL+5xr5hjwnvAhExWFGATqsC0tU1UpUVnviLSxAEfYUFuEXoKzotQDd3122aS0hC0GWgpYtVSJAjAEaqY0RrE4doDaM+in17d8y2YHjMi9xB6f7RGHlKIlgDUSMtWxyEctyV1SdMLq++6W1bcQgS8EK1oYQhWYB8PDy3BN0Gh/oLAwlAf078gBAAuRyLzGmNpaN42vzay3BDRf/SzhRLTbfceAcPZfqVLp/iSK5MoPuZBhKQpSg9l7KQnvjQwRdtLBFtLO1jzSUizSXCDQuEygImMYbfBCYdgG7g08tQ9PFRieZSQjBWt2Glxwf1HxJTZ4du7ZlAqgPQ0Z3RWAkInSxxcLrC4ekSz1srvDxb49X5DV60Fnh2OsNBc4695gx7zRn2T+Z41lri8Mze83FwfoP9s7Wy+Mho8XkAkMQz8vR5otbDeHEuZxfGCjPbAnQDoK84kQAU5x8HQN0CNAHQdnltAJLVR6fRmr3IJ1afIt6YIa7s+91uk5kbAGkRulvMi/ZpcABGTiYInwpxAPIp0ByAyYulPT2aLT7ykg5BDsBgdSDlL/fgK3XljgzdEvSXB/CV+vCVhvCVhnY3BQOgLytKWsLlIaIlVfq4MAKgs5f44wBocl3F1r+hAj4ae0YAlNYbA6mpJlSJ+7HPa6g8kY/xWACGGwsJPF2bAEij7DfV4XHwJU9WCgTjDbWA2dQq5wZA3UJ0s8S5tah3ZqSaK+w1hAiAz04WAoJScxyeCADuN2ZIN6ZIN6bYP5nj4HShbngzyG0dJrnHBEC+3U4kj8TngT47odwYodwY4ayqJ7v5ObjcAGjLDED9g+XmAuuWH30hd4sD7BYH7Ms5kBZMqGaXfVABcLQ5E9vQLADqe2l1CLru9WUA5MCzhyJYhdHWoFHpip5q0uCnD0alQajcEiR32EtiQdJCcYUpiyuswLFi4ekWIAcfvcb0OvtKQ+zmetjJduVQg2C2j1BugFC+h2Cui1C+h3Chj0hxgGhJXQkactmzYvzRMbiEBEDdCuTb//jAW75NkNocqcE+Vp27wi9StuN7YccP9AjhygTR2ky4ls2FotjJUrkcYQo3hCvKpbugbq6wqYhZB6CxTEUDoD7FRQeZCcQm6PEYK6+k0GOS+vj8dH2JvcYKB80lnp2scHi6FjpZ4PBkgYPGDM+acxxY2m/MhE6WQgx2yrIj5hIT8HTLUAegbvmFimO7JTY7QjA7QuhYlQJAbgFSDHATADeOt7JcFDcA+ssjBYK2hWLte2UA5PAj2fV7UwlCHhf0colNAEw2pwr8UiczIWvbmnRFtXWXJvjRBGiu1OVKxgJp+bmXTK4wT4jwfuBIY+oAoq/Ux26xp8CPayfbxdPjDp4etbGT6SBw3EMw20cw10Ug20Eg20Ew10W40DcCUF+ruQmAukwAJPiZrD+a9xjIDxEqjpFu3SLeWCruMh9OKmbq2TG+iJW5pSVegaJIqG0CYKQxdwAwwgDoZvm5/98qDDcNOPUCIJ/moo+zMrnXJmvRlGF/FABPVzg8u8GLs1tLazxvMYuwtRLxwbM1np+v8fz8FodndgKEdHh5J0WJEe4aEywJgvvNNfZYrE8HILcAw/kJIjlVni6wCYC83i9YmW6dBOGBYh2AHIImCzBcn0gLkIsDULf8aL2laSG3CkEnALnSp3OkTwX80gxE9prLlTLGKnGxRvLyRip1dato7/pOlbUE3UsEQ3KJ1SGo9ogsgmG4PpEQdAVfoY+dQl/C74s313h61IY/w6zA3MBhBZqKyD3h5+KG2RaK03V1rjnQp3vboIvXFggVx2LNaqarDMCg8wRB6tIIWT/M/oIIv3ArkBSuqwrVpgjVpo7Lm6Bngoybm+lVwuK1x9er/U0ffU/nveBsGrll2iBHQKTxVy+u3uH19Vt82X6H19f3UpQRftm+x5ftd3jVeYcXLGtMwHt+JeoC6TodgtxKJPeYXHAOQHKB1YG01q6S4lzRE8r+booBegHQa3hpUJYq2BkyDkH3Sb+2++sGwEhDtK/pVh/Bz5/vKvAzt231XQGYOplJAKbPFgoA7bo9JwC5OPzSOvy2AODB9S32r+zyGT0uSMMPOAQjjakE4E6h7wnAL95c41ffXeLv/nCBv/vDBXa+v5YQDGb7COV7EoDhQt81u6uHGqT0ThxNmwBI7q5priPdfifTxd/94RK/+u4Kvmxf3p9bi9IStJ5PlGaNsJvrSQjSZzRUtpNEwaqoFTRNn/aXRxstPS8XU29r2wRA05h6HY5eI+35ZV7iorvjPAusA1CPAT47v8fhlV0X+PXgR3w1+BFf9d/jdf8dvuqLOsCX7Xu86NwL+LXfivq/i1sFhM+v7vGyLbpDXlw/SDAS8HjJjBsA9RigrK8sL5CoLJEsC6UqK5EF9rIAdwtTmQXWXWCK97nV/xEAecuRbgUGSyMlIM8/dHrtmmz9UmrZxkqtGS3i3jm+xm62LRv1SXqZjF0HKDKYPPObaEwUAHILkO//peGlcogpk24JEgD32/e2rKbw/as77F3eSu1f3eHg+t5xXfriRi5Gip8u5Jh8Ph5LuMJTBCpjfJHrSknoWZef5nv4uz9c4H///+r43/6hhv/rn1v49e8vsPumjVC2LxZ154cIZLrwH7clAOn15MukHCVIWtkKX4yklruomV8CoD83wE6m6zrQlgAYyA+VdQh8EjhfkUAQpOeh59DXdKqJOHPyjgPSDfBe9Yt8oIE+aNSrtY1cTi4qVDYtOye3mF9HcKPHj1am8joCHr/Mb89dbRt+7/CyJ8ZefTkSo7B+M/9X/Hb2R3w5+gFfDt7j9fADvhp+wMu+gN/B9T0Or+612kHVGuRuMQcgh+Jey07C6GUvumgc2X5daK8mdhlvzAI7O0XMLvBjAUgi8OnV+AQ9EwApzkVB+CirBwwW+/Dnuw74cQi6AZDawgiCegwwzXYAuwEwfr5yAJBbgAr82vcSdjro9GN8IxxBL366kKcEPnp9yELZBMD/+1/O8J/+Wxn/y/9bxP/x/zfwq385hz/TRSQ/RLQwQjg3QCDThS9zLRIjzJJWF8q7A5CPynfODHSWvnCwmUebqeIxQr4LRt8Ro8NU3E/dWEcQ5BYhWYWmmr9NLqQOQhMwTXFBU4eGCYAccLrbq8OPA0xvdaNVl3zUPlmIphH5ifoCe2e3eNH+gNcDMRDhm6kYfiDGYf2Cb6Y/45UFQOr9PewIANLn3Cv+ZwIgtwD3WisZA9wEQBpFRgAkSReYF0KbAKi2yTmTIG5F0ZsAqH/QSFT2Yqr9i1SpG2RodMHoS+oGQB2CpsJdGpAgpkQvkDpdIt1aIXW+FlbYpVDyTBzjACQI6vBLX99hr32PPQ5AZhXuXd8hfXWraO/6DqnLGyTOV4i1Fg5x8ImaP9tl85WGeJrvqQDUBtX+l99f4D/9twr+1/+niP/8Dw38+vcXCGb7iBXHiBZGCGX78B914DvqIJjtK66wsQhd+8Jz+AnQqEmKUGEqZ+rxFZS06sBt34acxKwlTTj4djJdx7bAYHagbDKjWGc4P5Ti1pqbS+s18NUEQJOFGSyp1iAvUUlW50jVFhJ0qdpCahsAckvNFCMkV5e7tdzaIwDqiRX6GxP1BdKtG7zs/IDXgz/i6+m/4pvZn/Gb5Z/xu/W/4berv+Cb+S94OXyPF4N3eN5/j8PeOxx0HsRn2voxp+yuDjgdfl4A1Mtg7GXsa3lKAKQOEAlAviPVqxNkGxfYFAN0AyCBjrcRqW7GUO340ABIWUgddvRF9Oe78OU6SvyPX88hSJf1WsFYbaIAcO9MwC99cWNbfRoAEx4AlPDrPODAku4SEwQJsOmrWwHWs6UA3ulcEc/6ipKXoSIC4NO8lQlm07t38sLN/D//8RT/+R8a+C//dIad768Ryg0QK44RyQ8RPO7Bf9SBP9MVoLAASBagW8xP3wFsjylT43zB/EROVNb3aNCoedOuDYKgyWok+FFShCDoy6prHCOFsQI+LupD9tpn4phU4zKJSLculaJ/ZhFzCBIASVQ3SKLjphIabgESAE3lNtHK1BEX5AkZU0eJXhu4f36PZ9fv8bz7Ac97P+Dl8Ae8Hv+E1+Of8HL4Aw57D3jWvcdB50HxepJnK1nGRt8xDkJdOgAlGFkhdIqBUBfNY6Q2ONITfVG0DkBTGQzBbpss8CYL0PRhCeQHjiGbfGoLz/YGCj05lZgmE1MCxARAEwT583BrkAMw3Vph78xeTk4LiwiABEGZFNkAQJIJgAQ/aWVqC5IIhJGTmWxt85dHSnKDkh8SgNaCKl9xpMxoDOSH+PX31/jiD1fY+b4N3/cdhI4HiOSHCGX7CB73EDzuyZhgOD9ESNuz7CXbAlT3sxCo/FnbCtRlWjYULS8kLEOFKSKFsdyvqwAwK0TgCxwL6y+cHSqK5EaKovmxFD22t0ZG69GxC9mlCUDvbSYQ8mLpZHUu2+cSlpJWQbUpeaJbfKakBsFMByJ3wWPVmWv2nhSv2QvPYydLJFprpM7teDWJviPpixukWyskTyyXm3rPm3PFGjTVBhotwy0BSMNoHw1AkwXoBUBeBE2N5hyAjoCyAX7+XF/G8Pz5rgQUL7sgWBEAd7Nt+HIdJfZH9/WCoKk+kJ4rXp8K64+5wDL+ZoFIAeDZyhOAHIKkNCuNIcuPrElyffVVmbHWQg5B5QCk+N6vsx1p9XEAmkaQBQsjAaKMkO/7DoKZvgRgKNtHODeQCZFQboBg1l576YifsYRHID+Qt+NWGFloX7xpw3csrEAdeG4ApInL0bLYx0E7afVWOV9eSCZHMj0BwYytwFEP4ewQoeMBQscDCUQOQQKhaam5OD6Wk2sIgDzOZw9tMIu/fkr9nTUogcMvVpogzkVDFbS2Ne4Gm/qBedZah6R+O56k0UEoElqUyGKtgI25HMem1Ow2WPMCQZiFm/TBBxyGHILcKtzkAj/KAuQu8GNjgKYuEA5A1/5fbY2i/MJYMCOwmbKOurWnQ5DDzy0uqMf/6PHVRUlzJE8WSJ4s7P28ljWWPLtB8uwGqfNbseyFdHGL5OUd4ld3SFzfI3V1j/T1A/babxUR6Lilp5TVMPBxCzByMkOoYcf7dosDfJHr4lfHbfzquI1fZzsSgE/zYscLvW+8mD1UHEsLSQcggS9aGMnLgeMe/Jmusg/Y9B7Scfs97SvxuadHHXzxpo3dzECJ9fEta7r47o1YZWmtmxSLxvXSGKrzk61zFuAJfMGjHgJvughl+ghal0OZPiLZIaK5EaIGqzBWmNhQzI2EFWn9KNAPA3896AeBJ1Yc34O82ZqOFEaIFscOAMaKY8SKYwnAaNE5QIIXWG+KUeqDEExDFExdLRKAMpzAMtuViQxd8WEmckBu0R6ES8YGeVs6ADkIeTxQakMShAOQYoA8DmgEIE+C7OQn2MmPFJnWW4YsAFKrEVXb6wCUBdBW/+/ucVfRTqYj2rIsmPGSFg4ygh6HH4mOfwwA6U2KVsdIWr9WCfrlskBIEEy0nAAkCCbPBQBJEoBXAoL710Im6y7WWih7gjn4yP0NN6cINSayru9pvodfZzv4u8w1fnXclkkPLwAGS2O7X/K4D99RF7tvOggc90UCJDdAtDBS4oE+KyESOO55wI4NV5BWoZqd3cl08fSog52jvgRgqDBFMD+RECQQ0vTlaHWJRONG2b+RqNhV/3z4QbA0hr9gW4QEeGkBMgiSgkc9hI8HiGSHtjQQEvhCxwP5WP5MF/43Xeu1EafC4uzZpzmyjAl62lAHRQMJlU0AJPBEi2MJThq1FStNBGjK1m0ZJL0KsHkyhFt/umUbyA/gO+rK/zGUs6Hvy/fhy3fhy/fhL/TE8YLoMqJuI7p9uDwUcc+mlZRpWTP/Wlax9akYxbV/tpbH+TCGTVlgDkCeDd5r3OIJLXsJFGYIFGZy6UugsIA/P4U/P4UvN5EgtMtirKVE5OJav7qB/BD+Ai83cMZEuKv09KjtkIQgAyJd1pdw666Xfp0xvsiu07N5euuPXkaQaor4Rep0LZcy01RaukxA3Lu8R/riDqmLO+xdPWD/+i2etd9h//ot9i7vkTq/tSBqngCTOl8qsKViZ6r7C9cn8seExlqRxAew7+i55goUrZo8a1E8vb7iC2hbIvLXOjdA8LiHQKYrdMxdW9ty51Y4/bCEiiP4c31HrZ4vN0IwP0EwP0MoO0U4N0MkP0eoMBcwLIm5ezR+Kmy1tJElyHfnRqpT0cVREZ0evrwNl1BuiGB2gMBRD/43Xfi/78D/fQeB7/tSwTcDhI6GCB0NEc6MEDkeOxTOjBA6GiLwfR/+73rY/X0Hu9+14f9OWM/+N33x+G/6yuXAkXjuYIZcbtGL6s8MEDgeij5Vq2FfJGqEm00WbrQoIBcrq5N6yAWPWu9RlIlgGWWnZFnyshtTIsWUCCEI8u8aLzPSy5DEzuie9bnqWd/jrszOUzujyCpTqx2NxL+zCq5v5KlI2NAC9pWctq0PkeWTuLlUIArLcAMA5/DlJgyAHIIijqT3bTpbl/oOWFFw3JftbQ1AbiW6uV7cAqHrTQDUyxz0DwLvezS1HPE2oNTpWoEhnRdjuu+QvhDau7zHwfVbKQHHGznswA2APL7oBUAOQYIfHy5r6gbxF8TrEykQnLrKjl+ucH4ofr0zXZEVtjLD/kyPfci7DiucrOxgYSi/MNSiJsdZFa3F4vk5ooUF4qUVouUVIhURYI82F4idroRlfXYjJrTUxOh4WfKhzcsLV6bCDZbN8MIK1AHo/64H/3c9BwTDmZECwWh2IgEYfDMQwPtDF74/dB33J3G48usIsqGjIYKZMYLHE4SyUyHqWS1MES3OrFIdOzMdLQ0VCFK5kq5YfoR4YazAMMp+zPQffVMckFuCfNgCz2zTe6nv5vHnBsLCt4DHpRen8wVSAoB3xpl+vNWNL47aJNOeFnKNnxD8/PmphKCQAOBudozd7BhPc0K2KywyiaZmdVVdxR2SJnK2J+H2WADSl1QvstXdLxMA9awbzy7zlDyN35EuMJOMC7LYYOp0KUUZ4/3zGyUTxgucKUumwm7JLttZs9T5WlqA1PYWbc5EwbMWUjDBzwuAwYKI4fDOCb2f1giQNwJ+viP6UFshjONrKSUcYbk+5CpR5pamMUcrIsmRqIix8anmGonmEntnomQifXWLg84DnrUfRLjhZCXFhwPQsFDZ70tupuUC099Pbi8BkCDGIUUAJPiZAMjvbwKhDkEdksHMGKHjCULHE4SzUzmmiVxucrPtZFQf0cIAseIQ8ZITfByAsfxIxnBJBFLdDdZ7hE3uMUGQZ4Gp11ovZKdOHg5BU2E6LZWSHRtssKmeyTUB0DRKTV80xXet6MuqnpCb69Qc/vwcO8cj7ByPJACf5oaWRDGtDj8n8TsOq4LcLYKdmxXoBUCCHAfeJgDyanwZsGUlNrQaU9b+nSyMAOQgTBggqAOQw4y3tInrlsr0F3sWoNr5QdDjk1/skfbOdQLbAjCQHyoApNo5Xq7CkySBI1WbACiTWBb8gtk+wvkhokUrRlUWdZ3kZqVq9iay/XNRaL53ucaz7r1Q2+qQOb8RdZmW1c0HhUaq1vTnAour6X+/BUBuxXEIkoVmcn91C3D39x3s/Etbavf3HQWGXvK/GSJwNBKWYGaMYGYo3eRwdqgAUKiLULaLcK6HSN5uV9QVzQnpx2XJTmmsWH+mHmG9FY8D0P5OjRXw8e4c+jxx6OkDLXQApprrrQBorw1Vx6iZRCA0ApBcXF2fCsCnRx2L/ioAKYbAAehlBXoBkLKLXtNCTG+Q/aJMHTWGDsBtsAATJ2JWII3LoqEJe+dL7F+ssHe+xJ5i2WlDUbUtccmLpTJkQU980NrLUH0myl82gG9bAPIPLP+Fpvc2cNx3lJEEM30r4N+V8mWu4ctcw3/chv+4rYzUCuV70gKJlUStGw2ipak+qZOFbJJ/0bnH3uUaLwcP+GryAS8HDzjs3YnOgu4D9i7XOLwSe2H3zm6ROl2L+jJrUCnVmQYLIv6nA9D/fUdCjLuyeiyQJN1WZtlRHPCLf7rCr//xEr/+x0vs/IuICSqWnos16P9ugMD3Q8dtQ5k+wscDhDI9hI/7CB/3Ecr0EDxqI3jURijTQfi4i3BuYFQkK8RLmDgA+SAGsgB5fSB3i/VSGTWTbLcx8kw89x7cBlmIARX28+tTp9Mna0f3il6U7VafyIvW+f+ptxc+2TkeSTfXl5uw8zMJQHKB1Yyw6CbQW5A4/LwASPG/jwWgDUJnkS1/gTkAlfE4VhEp9RHbS3+mCuz0Y4r725wqACT4cQi6AZDGWtnb4Wz4iVFbzswvX3webswR+AwA9OcGDgDqbgq5kCYABizwBRgACXwEPZomEy0NlWVAqfoMieoI8fpQLqLfP1viReceXw7e46vhB3w1+YDfLH7GbxY/48ux6Cv9evYjvp7+gBe9t3jVfY/n1+8UCCaaS5kMoXINkwW4DQB16UAjS/DpP1/j1/94iS/+6UoCkJIl3hoi+GYkn1M+twXA4FFXQlAHYCTbU6Cn1G1uAKCpB5kPSeWTYkxTq+3ztL5zJr9vBEXTagLdKuMWqL7yUgegXtS9CYT6/2LqjX7yNDMEh6AOQLq8k5/I6TC7hbGMAeqjizYB0BQD9AIgd4dFEN0dgKZfGC+TOFadOdZh6qPw+a5c08RoMTh1jPTpFOnTKVItVfsXC+xfLLB3Psfe+RypC6Hk+QyJs6mcK6gDj4Mv1hJJgOjJEtGTJSLNBYK1KXzWSHu+TkB3iTdlgQmAVBBNMRuK13gBMHDEMsJvRGLE96aNQMZ206KFgYxZJcpjJCsTJCsTpKpT7DUXSDemSJ1MxOt3NsHh9Rqvhm/xzexHAb7pz3jevkPMWgMQP13gWVtYga9GH/Cy/wGHnffYu7xH8uwG8dOFGJxB/eJW9tmf6WL3TVuJ//m+a290gb3gxy3AnX9p4+k/XysuMLnKphihjAd+10Po+z7CbwaWegi/6SFy1EfkqI/wmy4iRz1EM31EM31EMh1EMh1Ej7uI5ux6TZMFGM0NjQDUkyCm/uZN02nsKgnzCCoCoNv3jxIf+pxBDkCaaGOaeUhxyW2Hz+oJTgnAL44GCgDJ5d3NTiUAfTkBPz4fkLLA21iAO5mO0jVALvDHAlC1DO2M0mMAGLP2MRAATYvB/wdv5x3X1p2mezmO05w4vU+Sm0ySSZzYiRObKgkEiI4p7g1jsDHGGGyMTReoAkJU9YoA0YuNsY17TZ20SXYyaVPu7uzund3ZcnfvlN2Z2X3uH+f8jn7n6AhIZu794/0AgoEMWF89b3vepPY+7ghQQps3DAAZ5UKexMldfl5kWIaQYRniQJhqCXAATOpmD5V39Yfs+BLwcR+z4CNW7NLWPkTr3CHgC3doKhwASQos1/nY0QUHD4JcZ58aJCbwY2DiYODXYIe0wY7YRjukKgfi1E4otG4k6r1cwT6lrR+pxgEGfu2sRXrnINK6B5DeM4gMyyCynCPY6J/G9uGz2DlyAZmWcaxr6MVzJWo8e0CNV6tMiFA7kNg5iEznFHLcp3gAJH6IBIBc97nRzngdNjiC6m8RAKTT3/ngR9f/Ymod3PcUKswQINY5OQjGNbghr3cgrsGJuAYnC0IGfonNHiQ2e6BociBeZecAKFbno2uACwGQrukJld98DZEgCPlOzKTpQFLi+epxTNODAR65A0ybM9A7zOFmFcMpQaG5BD3axgMgrfoI/AgAGRXIdIfp3WB6DGY+AEY2BmEmHJhdqAki7AaHDEoLHpNpPVC0+BHT7MTqqg6sPNyG1451hrzKCf+g5CA4d+6RBR4NPnIsiRilhgNgSiejBpM7+pDc5ecpwHRzgAfDlO5+JHb1sUeWgj5+ZIWIjLnQluzEjZg4vnAQW0TMB0C5OljD5b94OUWbIFwXuNEJaYMdskYH5Con5Con9358M/PkTDL4kGTwQdnSxwLQj1SjH2kdA8joCiCjK4D11hFk9AaQZRtBjmccmwZPIn/8AnYNXcSuwUt4tcKIBzcfxfKsQ7gruwyPFzRgZVUHEjuGke2awQbfGWTap9nZyhGeXRq3K65yIKbRHhx4bvQgjoWYmEoT1uTolFcItnAhrXeFQJF+P7aOAZ2szs5BT1prg6zODnm9HbE1Fk4BcsEqQEWTg60DukPqL1+8AAAgAElEQVQ2dmgA0o8ptMG5TqEBg9DkgX6uhPMcJPN5ZGyFNCgIDMXuNAubEfThc6G1v1jMB0Qxt5v5xthSOoYZANK1PyEAmYZIP88if7EApBUgv3HBV3J/CQCSFDtKZcfrx7uw6qgJa6q7RV8RuPUe+s6tAHx0iKW/QRgGAZjc0QelycdEZ19IOpzaM4DUngGkdPdD2dmHRJOXZ2RKfA/p+x4K0yAXNPyI3dVC4KONZ4VnB+QGHzckHK6EQe/SxqqcPPjFNto55UdDMK7JxaVgRP1xaW97P9JNDPwyu4eYOxG2cWRah5HlHEGefwpbh2eRP3YJ2/rnkGIcwVP5KtyZdghLE/djSWIx7lxfgUd21ePV4z3Idp7CJv8csl0zSLdOItU8yv3+ZK1eyPTuEADKGp1hASg6qvJnAJBWg2Ihr3cgtsbKQs8BWZ0dsjo7pLVWRFZ1I/p4L6KO9SD6eC9kdTbEq+yIV9kZJdjsZGp9glEXegxG+DgZhBbWyRay7BemwUEIBgFIUmHylmRa9DweAR+Z+aPdasSu6IU7JiVWnxQDXDjwcQCkO78LAZBvkc/aYol0gcUAKNbIWEwKPH8DJLjvS+/yCh+ju7zC63HKNh+SWt1IbHEhweDkIrHFxUVSqxvJRi9S2n1Iafch1dSHVFMf0jooxccGASAHRTYVpiFIAJjU4ePOeya2M2lb0PprgFsupw/v0KdExfZLw4XY2QG5wccNOQuVObkTwpUw2BW42EY7LxgAWjkIxje7GfhxA7isCmz1ItnYh1RTPzK6AsjqCWB97whyrePIc04h2zGGXO8ENgdmsHN8DrvHL2OT9wxeO9KDe7MqcZviIG6NO4AlcSW4VXkQy7Mr8cwBAzJtJ7B54DxyvaeRbptCimUUST1DSOjwI9bghMzghFRrR2yTjakBsimwGADDzup9BwAKv074M2gAxlRbEFtjhbzeAXk9A7+oYz14/VAb1pQbsfpgC9aUGxFTbeYAGK+yQ6F2/VkAFNb/wrlbi4kHGoLp3WNI6xrlFBw9UjMfqGjFJ1y1WwiAoak4f0FBeLskXPDmAGklSAAYrgbILdRTqy/CERgxAIopwD8HgMQogXZ3oWFHe/vR3VzmkJIPyUYvlG0eHgQJ9Ego2zwh8AsHQDoIAIVKMLnLzwLQHwJAskTOjXG09AlWvPgNjoXARxx4xABIxkRISkQ2dMjfQwjAGAH8GABaEVtvgbTBDrmKUSSJWh+1s8qkwIktHiS1epFq6kdWTwA5lhHkWkeRZ5vABtc08tzj2Dgwjc3DM9g1eR67J68gx3EST+ersSy+FJLIYkgi9kESvR8S+QEsTSrDo/kqJHWOYaN/Dhv9c8iwT7PeiczlvFiDE/IWF6R6BwNAlZUHwPhFDCoLa3+LASANVWHKS//vY2odkNbaEFnVg8iqHkhrbVzqu/ZIB1bu1+KVEh1e2qfGqlIDYqrNSGh2Il5lR1yjDXFNDq7ry4McmwIvBoAL3WwRC2FXlTQtFgNAsWaGcNeYLlPNBz2xWynzqT5hsyW1c2RhAHINEl0/rwtMA1BsBpAehKY7wSS+zRxgWPipieUVE1KtHTKdg/s4VmODXO/k7O5FU1kBAGnVp2zzINno5dRfqqkvBITCuqDwqhz3szr7kdThR6KpDwntPu6wOIEyfdw9oa1PtG5J72KSPcrFAJCcHuAfnWKNaVuY1SpibirTuRCjtiOqycqLGJWVGXFRCYICYFyTCwqtN7isb/AHV7ZaPEhs8SC5ow9ZlmHkOSeYsI1ho3sKG/1T2DJ0AltHZ5A/fR67Jy8hwzyBJ7Y34lZZKSRv7oPk9X2QrCuBJIaB4INbGiBvHcRG/zlsDVzEetcMayHGjBjJ2pyIa3VDqndA2syoQLoG+F0ASI++LARAWYObA6AwFY6tcyK6xo51x3qwurwNq8vbEHG8BzF1VkTVmLHmiAk/2K/Bi8VqfL9IhZWlWkTV9CC+2Qm5innhkavsIXZlpCs83yA0aYKImbvOBz56kYB2hha7QUK2SoTdV6FDtdgN73AZm9g4GmdXJxLEXWa+kJDVNxqAJAWOUfdzAKTHYIgjTIwu1IJcGItpgnzXQWhm19TB3fSgQ65nPkcDUQyE8wGQpL50+hvyMQs54fgMeYz8LBp8ca1uyFtckLe4ePOHxGJe0Rq0Yhce0Amu9PkWDcD5FGA4AEY320IAGKOyhgCQgZ+VS38TdD4kGfxB404jiT4kG/uQ1j2AXMc4Nnknsck7ic2uKWzpm8bWoRPYOTmLnZOzKDx1EfkTF5FkHMSjm+oYAK4phmR1MZZElGGp7BBuSzyM7xXoEW8cwZbBi9g5ehV5fbNIs40j2TyEFPMg4k3Mi4zM4OTuHMc1uZkZu3kAKLa3KwTgfBAUprrCGUMyHhNTZ8PqciNeLFbjpRIt3qjsQFSNGdG1Fqyt6sIrBw14sViNF4vVWHXIgOjaXsQ1OSBX2SFrtEHWaOPMagkExQahuccoANKuLouFIP01tEqj63j0AHW4ERpa2Ynf6vbxSlc0DIUQJLAjQBPaaAmBJ4RkCACDnWA/YtT9IHOCtBlClMbLzQGGX4ELVYD0ypowBaYhKHx8PgBGNZkR3dyLWI0FMp0NMp0NUq0VMp0Ncr2d+zhWY0GsxgKp1oo4gwMJbW5mAJeFnxCAQhAq2zy8ICBMNjJ1ROEIDRmt4T6mAEjgJ29xQdHqg7LND2WbnwERm6IkGvw8s83g+32cB5tct7j633w1wDiDBwmGoMeiVOvkwS9SZUGkyoLoRgujAhuDQQAoY9MxhdrFLd4T1+JU0yDSO4eQ2jWItG6m47vZewLbB2aw1X8CuwZOYcfgDHaNn0Lh7BwKZ+ewf+4Kdo3NIbrJgRXpFZBE7IXktb2QrNqHW9aVYZnsMJYrj+KFYhPSzCexY+wado5fQ57/NNLtExwAFR1exLcxv+c4rYs58N7sYSyvVF7E8TYyxGuBwhnAhQAo9j1o+NFuMjF1Nqw61IYX9jXjxWI11hwxIbqWUdPRtRa8UdmB1eVteK3CiLVVHYittzBpLxVCAHI+jtQcIO9zAgVIgy3c1bpwc4IkJRWmvHRdL5wZK/ezBQAUQjAcAGkFSAMuHADDqUSJTOeHVNsHqbYPMWovops9iGpyB1fgmtyIbvYgRu1FrMaHGLUXMRp3MJoJzAjQgm/D2VmJNUG+KwClWjsLPwfiDA429Q2CTqazIVZjQVRTDyJV3Yhu7oVUa0V8ixOJRk8I8OhGiFhDRJgeM00Ub8joDH1wPaHNC4WRCVr9xRkYuyjO2shAuX7oQ92Gmc/1cRCUacXvTIh1gZmusZvtAHsgbfFAzkJPoQ8azJL0l4AvotGMqAYmohstiGmw8CAY02CBVGXj5v6EQ89pHUy3N9M8gizLMDa4JrF98BR2BGaxdeAECkbPIn90FgVTZ1Aydwkl5y+j7OIN5I+cxZvHu3FPWjmWRpfgljcPYskbZbgt+jDulFfinpRjeLm0GzmuM9g9cQM7xq4it28W6fYx5lpfTwBxRi9TamhhjzlpWNdnNbNpQcwQYhvER2H+fwBwzRETXirR4uUDOqyt6uJqqdIGO6JqzIg43oOoGjPvhSa+2cmFWAosmvZq+f+2eFmFge/URB+DEusM06ktAWBKBzmqRB4PsLVCVhW2MoowqYXdNTawpgoU+IRNSyH4xHb1wyk8YYqc1hEaqaZBSKQ6xr9PqvMiVutBtNqFqOagggt1dwndxohR24OL8E2siSlljRQuuK+fL6ilemEEb4AQY1Qb6z5i5+qBDCBtiFFbEauxcSlzfIsTilYXEtrcSGhzQ9HKPCYM8jVJbU4ojS4ojS4ktTmR1MaAkRxWF6bgwYProQfEeY7W7PxiQms/9ypMXinJx9w6FzVIHqtmTSY5Nx6+7ZhM74ZMz5hRyvRuyA1MKhijdyFaZ0esga2Psb8fabMVMSozoht7uYhRseCrN3Pgi2mwIbreymx8NLsgUzO/e3IsKV7nhkLvQlIrUyZI7+xHjnUIea4xbPRNYNvgSWwdOoFtwyeRP3EGxScvYu/MeZScuYji0+dQ+86HqHvrE+QPzeHNql4sTy7HbbGHIFl3EJLXSnBb7BHcHleJu5OrsLrcgi2+CyiYuIadYxeR7ZlGmmMEaY4xKHsDiG9nu+kGxmOPNjEla3yxDQ5E1dsQWWNBRLUZUbV2xNQ7EVPvRnSdC9F1LsTUuxHb4EFMvZv9nBMx9cz9lNh6u2hwdlts04U4TtMO1LJGJwe5dce6EVndC2mDne2ku7h6H0l3OZWtcTNbIKziJpZZxDaL2/fVeLh0l/N11Ht4lloMbLwhpyZIJ1ZoNkBb9adQvnup7aNIbgsgqSWAREM/e4h8EAn6ASS1DEBpCDC+htp+JBr6oTQwX6do8XNGJCQWo/aCoOPX20nGlWzsQ0q7nyu9pBr9SGvv50Wq0Q8JsU8iXnLRaieimh0IN4fHW3xXOUKBNg+wxAA2nyJcLADJHWD6OJIQgiTkeicLJldIhAOgojUIPQ5+rQ4ktorXH8MBUPiPTK4POtbQqQh59eW8+KjaH3k/6LZMxpCCLjhSDQM+xpHXycDQ4IRU70C0zo5onR0xBhukrY7gi0OTBTEqc0jQak8MgLEaB+P4y3Xhmf/vyUYvUrv6sd48iDzXGDb1TWLb4EnsnjiHopMXsG/2Mg6ev4mKS++gdO4qDp67gtK5y6h7+wNUX/8Q2/ynsarchHvTq7BMVg7J2kOQrCnFbbKjuCvhGO7PqMW6Y05s91/AnsmryJ+4iBzvFFJsQ0i2BpDYzQ6WG5m1LIXGz5qQejgX51iVA1H1VkTWWbCuxox1NQwAo2rtiKxxIKLajqhaJwdCJhyIrnOIApCGnhj8SPpNg1DaYEdMnRUxdVbE1tu4IXICQC7VZfd/iQJk0l8H41BNXbkTel8KFVyCwYsEA5N1KNuCc7DBEo6fa8IxClGwQcUCkBxtSjIGoDSOILltGMltwywAB4OhY+CnNASQoO1nAKgbQJJ+EAl6P+N4HbJjPxii8ui7IOQkJgPCAS4IABPamMws2diH5FYfUtqCAEynIs3oh4R2ESbwi2wKP4xMw08MgGKQElrW8x5fIC1eCIBi8GPCBqnWzjVESBOEpKXzQS/O4OCCPEaAR0dCC//7k5/B/zk+bgyHBGk4yPXukNRDrOtGpyJkdYkovWAXnt8dj9E4EKNxcBCU6h2I1dkRo7UhRmtjIKh3ILrZgujmUPjFNllYKFoFtT87YhpszL6vhnLW5lIYDxJNTLMj0zqMbPswNvmmsHN4FoXTF3Fw7i2UX3gX5RfexeFL7+PY9Y9Rdv4mDl9+G1XX30fD+5+i9uaPsHNwDq8f6cKDuXW4TV7BAXCZtBLLE6vwUHY9omu92DNyHftPvY3CE1exwX8SaY4RJFtZQ4ku1h5LBICyJmaQO6LWjHU1vRwAI2ptWFdjxdpjZrxxtAcR1QwMCRhJRNfZGCfoMNCjbfYJ/IjNPg1CMjxOD5Hzw8GDIC+aHYw9vyaY2tLNMh4A2b8Prf5Ic0rZxtShk4393L1hZesAV4fm3KgpBZjU2sdY9QvMSZNaBjgXa3JMKtHAqD6FLuhzmKhjjkultovX5+h6nthJzGB9bxCpXYM8ACpaPdzYFQ3AVKM/FIDRaifoiGyyiwIwZCBWBIDhIEcAKOYV95cEIP/zVt4YDK3KmHCyNUM7D3hiEd/iREKLPQR+CS12HvxoyNIApL0G6W7vfAAkdRb6rVAdxul9VBdeHIAcCFn4RWusiFJbEKmxMu83mRHVZObSXyEEoxstiGowU7U/Ztc3XuMJXiYjphImZrYxtWcA6+2jyPVOYKN3EtuGTiF/fA77Zq6g/MJ7OHL5Axy+9CGOXP4IlVc+xMG5t3DsxodQffA5VB98jpobn2DHwDmsqezGwxsasFTGwI8AcEVyNZ7aqkOidhj7T7yL0rn3UXTyGjYMzCDDNYYU2xA3ChNWAbJD3UIArquxYm21hQNgZI1DFIBRtVZE19lEFeC3BSDf7SW4X81AMej+QtJhucrObIFoyanS0A2PkDvFbLOBpMBEAZI0MdXINKy4GxvsLWLuFgkLw0R2tIk07oId3UH2oHuAhWc/+99EIMrcJ0nQMs7UiTrme9JqT6j+6MZGOAUoBCCpv9MApCFIw08UgAuNo4Q0JxaAnxBONAS5WuF8EFwAgEKFGQSsFTFqK28UhlZrpGMcOiojDkGuKcKCL6HFDoXBJqoAg/DjA5D4C9IqUHi7hMCPuGSQQVNle4C30ke+VuwYUaw6OMoSrbbzIkptQWSzORiqXkSqekNqf0T5EQCSLrBUZYOsyQ6F1s3s97K29CmdAdYSbAAZ9iHkesexafAEdo6eQf7kOeRPnkPh9EWUnL6Bg6ffRunsOyg78x5KZt/B/tmbqL75KQyf/QKaj79B3c3PsL1/Dmsqe/Fgbh0kMaWQrNkPyRsluD2uEo9mq/Dq/h5sMJ9F2ekPceDseyiYuoy8/mlkukeR7Aggsbcfik5mkybewCiPOAo8RAFG1lnYFLiXrwSrrYiotlKKz8GBL6rWimg2YupsXIilwvTFOQK+IPxckDU6eJ5/pAFCIEiAJ0yFmfqfhxtupn3+aPhxN3DIdpSOaXoRFUgMKtKNg0hrH0SqMYC09iGkm4aR0TESPMrUytwjodVjqinol5lkZFNZE+Ointg2wJR72EZHgp5Nv9m3iQYGoMRWjq7jJXf0I6VzgAMbeZ+OtO4A0roDISmwEIBJrUw6TKtAOkJSYOFM3kId3MXAKRykopttvM2Q7wpAcbiyqR2rBOk6INMssbBhEwxQBxWhXG/nPhYDYILBGbYBQgOQtttP7hhEUns/VwukfRJJjY8+Sp3Q2s+BULi4LpwNpGFIRll48Gu2ceCLaOrFOlUPIhp75gUg2aDgfP6amIjXuJBk8CHVNMjWaBijhwz7ELK9Y9gcmMa2sZPYPTWHopmLKJq5jMLpSygYu4DN3hmkdQ9DaRqATM/sQ28LzOHY9U/Q+P4XaHznC2z3n+cAuCT2ICRvHoDkjRLcJq/AkxvVWHfYgR2eS6iY+wgHzr2L3dMXkRc4iay+CaS6hpFkHkBitx8JRvZFg02/iAIjt02IS0xknYVVg2ZE1Fo46AlDCMBoERjSqlCoBIVNENo8ggCQnxI7QoLZAQ46QpOznKQkIby9I9N6glcQWW9GhZ7p1qe29iOtjQFgunEQaW0BpBoDSDcNI7NzFGntQ8yLnLGfU30p7YyZRXrnYNgRE5LtcCWgFn5wKTgLPgIx+n0aePRjBH7pPUPc1yd39COpvU8UgGKpMAdA4U0NAqD54EeDajHKjE5V6XpdjNoeYpDwXQEoHNwlqR0zJ2jhFCEBY3RzL2LUZu5x4RYJgV8IAAVBxl2EERyJCZqtEgXIS4NZ6JFOL+kIR6nsWHm4Da8f70Ks2sWzLBIusgsv3hGvxShVaIOKjLhENJqxrqEXkfXdiKzvRlRDDwvAYN0vRmWlnJ1tkGvsXJBOb1rHANJ7hpBlGUaOcxR5fWPYPDSJHROnkD9zBkWzF1By7ipKzl5DweQF5LknEd1swXPFjXhk21Hcnl2Ch3YewyvH27HJP4vKKx9D9e7X2OI9i5VlnXgwtw5LZYdwS+RBSN7cj2WyMjy9RQNpjRd7Bq7h0LmPUHr+Pew5eRmbR08jZ2AK6Z4RJFsHkGxmD3S3sXUp6qYvuW7HNfMa7VxDJLLOwtX4SKrLhQB6UTWWeQFIp8QEfGLnOAkgg1/DrwfyXKDZkDczc4D0uQHhkXrhGVjOmVvHjCyltPiR1uJHegsDv7S2ANKNQ0yYhpFuGkZa+xDzQmca5MDHmFkMMi98vcNI7xlCWncAqV18RUegRGZiCaCIvRyt9sRUnpjqo0MMgPEtbg6A5C2pcaa0DyClfYBJ+Y0DkAgvqy00uyc6ArNIANJ/CA6GfyYA6Se4GAAjVb0cBKObLRQYexDd3MtTiYsBoHBekJ7/E8JPCEB6D5l0hBUtfm5olAAw3tCHVUdNeGTnMTy9txGrjpoQpbJDqnGH1Alp8AmPk5O/D62MCQDXNfRibX0P1tV2IqKuC5H13az6Cyo/vrW9DXFaB+J1TsTr7EhscSHZ6EV6Zz8yzUMM/HwT2BKYxPaJEyiYOYOisxdw8MoNVFx9ByVnr2Fr4BSUJh9ePqTBfXlluFW5B5L43bgj+xCeLm5Cpn0Sx679FVp/9PfY0X8RLx/swH3rq3GLtAxLossgWVeC2+PK8f18A5I1wzg4+R4Onn0fB869jYJTV7B5dBbZg1NI9QwjydaPFOsAkrpYd+/WASTp+5Go8zPpsJrpBBN4xKociG6wcRAkwIussXCqT6j8YupsiwIg3Q0WA6AYDGkVSKfCRP0RAMY22rmzBASAvBdEEQASCCq0biQb+pBq6EOqvh/pLYPIaB9GRvsw0o1DSG0dZNPhANI7hzgHHyYGmTCPIMsyikzzCNJ7hjgYCSFIgjQpFgPA+eAnVIbk55DnYYLBza1ffisACoEkvFwf8iRbxKgLgZ/wQLlU6+T9zHBNkHDjNcInNn97IQg+AkISQgAKU2VSF2SAyEBQoXfwgsAwHACD7tIM+OgBTVIHTDT6efcYiPqT67x4tbIdj+VX4/sHNFh5uA1r68yQaT3cehF9npD8DmVaD2/Jnafu2SPzRP2RQWdaATIq0MIDX/AAPdPxTmhzQ2nyMf6HXT5kWgaQ6xzBZv8Etg1PY/fkaew9cx5ll6+j/MZbKL96E1VvfYDKaz/E9uHTWFVlwIq8/bgrsxhLEvKxJHEf7s6txLMlOqT1jKPuxpcwfvYrHJn7FBtt57Ai6zhukZZBEnUQknXFuCf5KF4p7kS+6wqq5j7DwbPvo/jMDeyeuYyt42eQMzSJ9L5hKB1+JJp9SOj0IbVrEBmdo1C2DnDW8cxhpj7Eafj/7plj5s4Q8wdi+yUVjL6IQW8hBUgMWemznKFdZAfEmiH0XKBUZWP+21j4kQ2POL2Pe56R5oewCZJgcCNR70aqoQ8pWi9S9D5OCRI1mG4cQkbHELK6RpDdM4bsnhHGvsw8jGzzMLJ6Asi2jWK9lRlyz+gNMKbAlCEIOXegNDGnD8jcbVK7l3VSnx904cAXDoC0tV1CW3DJQAjAlHam6RMCQCEEhfd86VqTVOP+/wbAcN9fCEDuic2DHR+AzOM9LASD8AsHwDiDY1EAFDNRFQ5z0ndGktoZmNHL46Tb+2ZtL14s0+PVynasqe5GlMrOAY5Oe+n7yCHpD/1ixapl+ncU1WTlwEdSYF69Tx1U8jId0w1XmnxI7+1HljWA9bYAcp1D2OgbwfbAFHaNn8Kek2dQfOYCSi9eRcW1t3D42rs4dvMjVF37CPkjZ/Hq0Rbck1uC5RnFWJqwB0sU+7Ai+xieKtRC0RpA9dUv0PqjX2Hv2DuQNfXj/pxaLEuowK3yw7gt/jAeyq7Hmgobdvuuoubi5yib+yFK5t7Cntkr2D51BrnDE8jwDyHZ2Q+l1Yekbh/jwNPBdDR5h95ZNU3/m+ZqaaxClDe7mODUmJMHsPlmAMONx9CPcVskop1kB+hmiDC4rjwLQHLrgwCQuCORoJsgCr0LCToXUvQ+JOu8SNZ5kWroQ5phAGmGAUb9tQUoAI5wAMyxMJFtHuYAuN46gkzzENK6B3jGwEK/zKR2LwdFxkV98QAMpw4XAiCpXRIAknQ+1TQIiZiy470iCp9Ywhu0IjN+Yp1gGoA8CArqj98mBQ5X22IiWOAPhZ+ZAyCpAdKNEj4AWRMFFnpCAAoHSUkQYwThkSUCQPI+7a1Gp8KxahciG21MHa859KYKXe8j8160GhSeIIjTeLhUL6bRzoTKSjU/qH3fJqo5xf6eZToHFK0upHT6kWUNINc5gg3uEWzqG8W2wDh2j5/EnunT2D19BvlTp7Hn5ByKT19B0cxllJy+gbJz72HX8Hm8WtmOe3IOYnnGfiyJ34M7kivw8MZGPF2ghVw7gOqrX0L7wd8i1zaLZ4v0uD+nFncmH8XtiqNYkVqDR/NUePOIAztcF1Fz8XNUXv4Ryi6+h71nr2PniTlsGJ1CZn8AaZ4BpDr6kWxhPBiVJvYAFuUzF2/o45pN5N8jAwcP4nVuyDXMqEm8hj+mIlc5gw7OC0AvHCA5lVgXPK1JwzD4tfYQAEobrJA2mjkAxqqYA1TxulDgBd9njUO0wVBonUjUuZCkcUKp9SBJ54VS74NS72NS49Z+pJsCyOwcxvruUazvHkZWzzCnAtf3DnFqkCjCjK4BziaO9sakgUjUnxCA3wZ6CwOQP38bzo9QEk7Z0WkVLwUWHuJeYND5zwXgYju/YgBc19CNdQ3dPBgGGyO9bCOED0B+HTA42sLV/BYJQM4FRqT+xwvK44wGID0AHa7TS35nwa2QYANEeIyeVjUcBNkxFyEApc32oHEFlf4mGj1I6/Ej2z6ETd4xbOkfx/bAFAe/XeOnkOMdQVKPG4oOF5J7GT/EdPMwNvtOY4PzFFYdbse9OeW4M70UEulu3JVyFI9tUuOZ3XrEqQdRfekrNNz8BZTGMTy8vR7LM4/j9uRKLI07gnvSa/FAdj1WHTIjt/cUquY+Rf27X6Dy2ofYP3cNu06exabxKWQHRpDhCyDDPYB0RwCplgEkd7EvPO0B7oZwgnGA+53TAEwweDkAJug8iNe4ePCTq5h7HXENzrCp72KDtsvieQdy4KRNZ6loNCOWQFDFnB6N04amvMG1S+bvKFPbuIZWnNoOhcbBhNqFRK2HiySdF8kGZkwm3cQowXRTgGqCDCC9sx8ZXQPI6BpAZnfwsVRTEH4JbW4kGj2c8ks0eriPlSbfgvCjx1zmi/kASJ5nogAU7g6GA2C4q2PfFYD0LuxfUgEGIchAb219FwdBui7IdIBJFzi4VkcPTpsDPkYAACAASURBVNORYHCzwTdJIFJbaK0ffCz03jDtSC10vaWhJzz0Qqb7aQAu1KiiRyRIfYuvAPkApBUnmR+Lb3Ej0ehDalc/smxD2OibwPbACewaOYmC8VnsnTmPopPnkNc3hghNF54trccTRcfx1L56vHBQh5fKWxHZ4ESifggryzpxX85R3J5SCkl0AW6Vl+GBzDo8uU0DuWoAlXM/QdX5n0BhGML39mhwq7ICy5IO45b4I1ieVoP7suuw6pAZeeZZVF/+CZo//CmqbnyMfWeuYOeJM9gyeQJ5o2PIHhjGet8QMl3DyHQMI908jOROBn7JncNI7hxm3u8Y5IxzySaLopVJEeO0DiTq3VBondwMHjlSxFxsc4UH2zy1QVoJMtBzhULw2wCQLVnINcHnGR9+Lki1zHKAtJkfcRor5GoL4tR2xGscXCi0bu6UAWkYpLT1c+MkJISrZmSwmtku8XGNCBJ0iSipvS+sldVCLi5iu8BiAKSFBv/EJrPDLKHhRwMwdLfUsyAA6XrdYgBIdmHFxnAWWwMUqwPSXWAxADKKj8wBCv8b+Zsj5O18ABRrhCy0CcKZQAqsyIVGqMLVOKLy6BcLem5TOKYko8YkaPUX3WBDdIONSoMZ9UfUIzegbWD+wSZ39CPDPIAc1wi29E9i18hJ7Jk4jYKpMyievYyCqTkkdXvx3MEG3L3hAG7PKsbd2WV4aPNxPLqtHs/vbcXaKgdWlnbjgbwa3JZcBknsXiyVHcJ9qbV4aisDwLLpj3Hw5EdIaBnG8yXtuCXxEG5LrsSyxCosT6vB41u1iKj2It9/Ddr3/waaj3+OqhsfovjsVew6eRrbp2awaWISG4bHkRsYR45vFNnecWQ5x5BuHmaOp/eMcpHKPtlIfZbzdmxlGgXKFi8SdC7Wft6FJLUXSWovEpu9UKjc4nW9BVQfvwboZkPgLPMdAEiMKYT1dqnWyY2ACVcdZc1myJrNkDfbEKdmVKG82YZ4jSvklKmypQ9JBg+SDB4oW7xIMniQoHMhUe/mHhcCL7HFQz133CEApLc+aPgJXV3C7QkLh6hJp5mIDE54CJQfuWQn4Q1RqkObIFwqpHWLH92mNj2EAAx2EPmvTEIAClUgzyKryRrSCRbrDAs3TEh3lyhBMQBKtVbeeA7z3xSqAOcDoHDsJXQekO9uKzREoE0maSsioQMvXeMTOycQ2Wjjaob0YzFsjYhbXWx0ILqB2WWNrifzfubg0DPb+efW7lrZV+ruQWRaA8h1jwoAyAw6bw3MYG1zJx7cWYFlGXtxR3op7sk6jPtzj+GRzQ14dncr3qx0440jLjy+VY3bkyuwRF6KO+KP4KHMRjy704C4xgHsG34HBybfR1LbKJ4vaccdaUexPKMay9PqcHd6LZ4r6kC8egSlkx+i7ZNfQf/pX6P23U9Rdult7J27iN2nzmLr9AlsHpvClvGT2DJ0ApsDM8jzTSPLMYF06yQXaZYJZFrGmeB2TNknFatiUtqYJz1JDZO1fVBqfCEAFGuM0Eow7MZIvYcLAkJ+VzgIQF4TRGVBbKOZ6QRTI0v0zC1RfrEaGzcNQQ+7MxDshVTdA5naArnGCpmacQaKUzs5azPurIHeyz2WqHcjQedCvIYMZLuD9VLqsQSDl6up0lso9GysmNNLOPCFRn9IKswYEg9wmyl8a/wRLpJNw6EAFI7BcB+LADBW6/5OAKQhuBgACiE432hMMJi6ntgIDDFQjdVY2DofrUrFd3sXUoB0CkwDkPiakeDAR2Ie9xexzi495CzmqE1ASCKiwcooPTbtJbNuBIBECcQ2Mb9LUjdUtDBbFMqOQRZ+zKAzY2k1jV0jp7B7kgFg4YnzyHWN4eVKPe5Yvx+3KAtxR+pB3J1ZiQdza/DkNg1eKDIhpqYf0voAnslvwZ2pR7AsoRy3KyrwYEYdnt1pQGytDwX913Fg4gOkm6bxfEkHVqyvw305KtybpcLytBr8oKQXypZxHDrxCQwf/h1af/y3aProKxx/62OUX72JvefOYceJE9g6OYmdUyexa+o0doydwebBWeR4TyDbdQLr3SeQ5ZpGhmOcObLumEC2YwLrrWPI6B1mnkztzMZDSlsflC3eIAB1Xii1HiQ0kbW1UOUnBJ7Yxgi3KcJ5BgqOqHP3i4NX9xj4CRoiFABpCMo1LATV7Foou+sd7PYHARjb1MsC0M4BUN7sQILOw3k8kloogVuCzgWF1sk9Fq9xIU5NhrOZu9ByjZODH2dIq2OOldFZUTgACpuH4ZRg6FgMlSaH3AMZ5SKlY4S/CSKm/hYTwu0RYWGe/v5C4Im5uYSb9RNNsZssXGGX1DXIH5JZ5u9GjKqHeaVrNnOvdHKNFXHa0M6v0NVF3OAgKONpuPGUHeVyK1S9Yi8E4SIc+MkLAxngjWiwIrLRhnWNNrxZb8EbdWa8WW/BukYbIhqC6jCm0c7e9nCwTx7m90d+rwmt/VB2DCGlawgpvUNItzHnKnM8Y8j1jiPXN4rNg1PYNX4ae2cuovT0ZeydPo+ULh+eL2nCA5sqIZHvwdLEA7gloQQrMo/iwdzjWF3eiy32i5A2DOD5vUbcn1eH25TluD3pMB5cX4PnCvSIrfNit/8a9o99gET9KJ7YocW9eU24K7MBd2eosDyjFv9jTzui633YP/429B/+DYyf/wrtX/4Kmh99jcNXb2Lf3CyKzpzAntkp7DoxgR2TJ1Bwcg7bx89gw8AMNg/OYvPQaeT1TzPhm0SebxKb+mewwTOFDMsIMq2jyLKMI9HoD1r6t/qQqHcjUedCos4FhYZRYbJGB2IbHLxtkZh6OxdkmDqi2ozIGkvI10XXWhk1yEKPXqEjpq1BdWkXqEI7+3d0QNbk5ELa5ISsyc6tLsaorIiuNyOqrpfzdpSqLJA1Wbm3wiA1QXmzDfJmG/U5Ow9y9M8lP5sOWTO/lEb6CeTiYWL7IJJM1ElL1oQhxRjgIrV9KGjSQG6KdDI1XaEpKg098rXhAJjaORq6CvfnApDUoUgdSbjnK7TFD7cvvFgAEuDRwWwrOCHX2BGj6uHAF6e1IV5nZ0LPAJAeeRGOv5DRASEEaadnIQBpqPGL0M6QeuN8ACRpeTjwccqY3WNdV29BRIOVA+Cb9RasbbAiQmVHBF0jZFNd5h+yjfu9kE6vsmMQaT0jSLOMIMs5hmzvOHJ849g0OIXto6ewY/QUto/MoPDEeZSdv4mKc9dRMHoa0mYznsyvwR2pByGJKcCS+AO4RVGKW+L34+7Mw3itohc73FcQ3xzAi8VGPLSpHndlHMUdyiO4b301nivQQ9boR0H/dewdfg8yVQCPb9fhnpxG3JlRjzvTanFnWjWeLTRC1tSPg5Pvof2Tv4fpi39C+5f/iOaPv0Tl9bdRemEOxednUHR2GoWnp1Ewcwq7T57GjonT2DZ6BjsnzqFw5goKTl7ElpFT2DxwEjmecWz0TmOT7wSybGPsdsM40rqHuaFZZYuXBaADiToHFBob5E1mxlVmAQBGVJux7nhv6FYJqwRpBUlUIr1HPN9YDXHn4QDEApGYVsia7IhtDAIwqq6XB0DyNcEIApDUA2kIEvgRAAoBHGKXR2WRpJQm03uZezStjGFtYnvwuDkxX0hu479PQMjV8NhGVggARU5fpnaOcJfr0rrGeCFZCH4LrcKJAZCoQGG6JmqvNQ/85gNgcBUuuMdLj7GQj+l7IcTaihgdSLVWHuhowwQCQvp7hpqdekLUHw0vGnzk/wu/4xwefEQZi3W5eeM+rJ3Tm7W9WFtnxtoGKw+AkU0ORFJ/A5ImkVd4maYXcToL5AYrM+bSy5gaZDpGsaFvCpsDJ7E5MI3to6ewe/oMdozPYMvwFHZPnsahCzdQefEtbOmbwOtVLXhkWxWWKPZBElOEWxWHcIfyCJ7cocarZd3I6Z7FsbmvkNN7GivLuvDAhlrcmV6Je9Kr8WBOA75f1Ib45gAKB97GvpH3EdvoxxP5eqzIbcDy9fW4Pb0ad2QcxwvFnUjUj+LQ9Ifo/PTX6Pnq39Dx5a/R/PE3qH7nIxx9612UXrqAPbMnsOfsLApOn0bB7ByKZi+h8NRlFM1cwf4zN7Bv9hq2jZxGujkAqZ75Wyd39CO1awgZXcNY3zuGrJ5RpHUEeABM0LmQoHdAoWN+hwSANPRiG4KP0QAkKpBEdJ2NBzmyWhdVYxHtIIt2lhvtFPRCg7jeRNX1IrK2hwKgjQc+AjUCQD70bFQ4eCGmPmkI0iygS2nkYJeirZ9RguSeSOsA4zfImq7S5qvJbVQnl+3mLwRAAr/07jFk9IwjvZsfksWou28LQBqCwrpUiMvMApsk88GPAJBscQiD6XzxAUjgR26FiMFvvoFooeMLt9NLXVWjjR/EzFrFGkIhO9KCzQ1iXhASNb1YW92DN2p6sJZNe9+oM3MpcITKjkjqBYesuMWp7cyTWGdGXIsZijY7kru9yLINYb19GLneCWwfnkX+5FnsnprDnpNzKJw5h/ypU9gxfgJ7Z+ZQcektlJ+7jizrIF4qU+PR7dVYotiPJfEHcYeyEvevr8ejm5vw2mEbtrouofHGL7HVdQlrjlrxxM4mPLSpESuyavHoRjVe2NuBBM0w9o99gCNnP0di6xieLzXhgc2NeGBTE+7OrsOK3HqsPGhGuukEKmf/Cj0//leYv/kNDJ/+PaqufoZDF9/D4Wvvo/TydRRfuIRDN29g/8XLKL18HSXnrqL47FWUnnsLe09eQY5nEgqjFy+Vt+Dxncfx6PYqvFCiwRvHuhCvcyOjaxjpnUM8ACYZPIwKJKMxFAAJ8GIbHJA2OnmP0SkwiahaK2IEKo8oQAJBMceZEBuuBlsIBOmPCQCj682iACRvaQBKVZaQ1DjYJXZywXz9/CnwQgAkqTAZAyPwI0E7UCtbqfvApgA3xsSrHwoASMMvs3cCmb2TyOiZ4OL/KQCFj4nabC0SgOFmDGnHl3AgZGBmC7kUx0R48AlT4FD4BY+4EPUn7k49zyxkmF1s8juNaLAyqW29hQFcbS8Xa+vMvMfoj7kaYL2FO3Ae0+zkxiXiNYyKUbbboey0I6XLjQyrH3meMWzom8TWwAz2TJ9DwfQ5FM1cxL7TF7F39gL2zp5DydwlVFy5iarr76L09GUoO9z4/n4VHt58HEviSrA0vgJ3JdfgsU06vF7hwvquM6ic+xJdP/kN9o69h6hGH54q1OKxbU24J6MOT25twcslZqS0TOHomc9h+OBXyLadwivHevHIrkY8vluLB7ao8NDWJrx6yIw8yxzqLn4D65e/RfWlr5A/fBXx7QOINriQZB5Adv8kdp++iCPvf4Cj7/8QdT/6FOXX38aBc1dRfuFdbBuYxepjbXh853HclXEAkvgCSGS7sDSpEA9sqMDqw0aktPUjs3MYqUamEUJslchYR5yWaTTImpyQNvJDpnJBpnJxIIyus3EpLy/9FazJCSEYWW3mYBhZbeZ9TABJQ5cGL50aMwC0IqrOwp0zIJ8TA2AsN2Jj5kBIMgbS6SUAXGwKLBynowEY3+pfEIAkuJlZNnUWHkkKB8DM3glkmSeR2cuP/ycApJ1k5vUSXKSbjHCtjg4agEJ48c1KgxCkQ2wFbj6XZ2ENkD7qLAZAuiMulu6K1WDp39E6FmIc2Gp6eMAjnyPvr6u3iAKQ1FuJs0u8hnG1Tu50Id3sQqatDzmuQWwamMS24ZPYOTaLwhPnsW/2MvafYeysDpy7isNX30Htex9B9dFnUH3wKSrO30Bapw8v7FfjvvVHsUR+kNnaSGvEM7s6seqQE7nWS6i+8nP0fPM7HDz1IyS1j+EH5SY8W9iK+7NVeHZXF9YcdmN99yzqr/0C5m9+gw2+M1hd240n9jbh6RI9Hi/U4HtFWrxS0Ystzouou/AztH3wa+T7r0Gu9eO5A3o8uV+Nl46bIO8ZxO7ZKzj+0Y9R99mP0fbzv0bDJ3+Fkrkr2Dk8ixi1FfdvLMfSpEJIonZBsm4XJJE7IVm3DbfE5eO5QhWUej9yeseDXWDKXkmh9zDwa3Yx9vos8GQqF//oEgVBYVocU29noCVwipE1OjkIEugJYz4Akp8nVIQxDXy1GKwZigMwpqEX0fU9iG00cwBUaJ1cZ3ixAKTXMumFiriWPi4WC8BEQ3ApgKsdCnbt6Vk/kgLTAMwyT/EByJOn37EBImZiIIQkvbs6n52WWFNEqKL4qWLw4ptQqSlaPbxuLn0sncRCg9okVRU735fQFmpBHm6OknZ+Fo61zPf7FAKQBh+BG3mfVovkY6L+OHcXFoAKPXPhLrXbg/WOfuS6A4ypwcgJ7J48y8TEOeybuYKCyfPYMXYGhScvofLaD6H59EsYv/o5TF/9AtXXP0S2eRgvHdBjedph3K44gjsUNbg3Q43nC61YfcSDbX03oXrv7+D42z/h2NWvkeeZw9p6J14s7cDDGzR4vqAXb1Z6scF6Dup3/xruX/4ntg+fRWyrA98/rMFLx9rwUmU7Xj5swqrKHmxwnEfJ+IcoDLyDeE0Az+1vxX1bqnHP5uN4sECFVU12bB67iENvfQzV5z+F+idf4ehb7yHXN4zXqg14aGsFliUVYYlsDyRrdkLyZgEkkYWQxBTgLuV+rNxvQErLAHK6xxj110J2wZkXP5mOOMe4eZfm4po9jOu02su9L6YKSa1QKrDIIiFtcIQFoNB+K7aBPevZGKpEeapQAL5g2LmGBgM1G6QqCwfAmIZeSFXMpkiCzhUCwDi1mxdyQQj//dOnWmkIEickYr9PwEd/LAZA4aqpcN2NqEA6BabTYAkNqb8UAIXqkN5JFa69zbc+J9Y5DY1go4KoMwI7+n0hAIPu0PyurHCFiB5ZEbtfuhAAhbN89OBznN4X1miWhDD9JfAjcCOzfuE+plNfabMdsU3MvFdiiwvKDg8yzH3Y4B3Glv5xbBucxO7J09h36hKKTlzC7onzyHZPIKHTh9gWO1IsARRMX0T125/A8PlP0fnNL1H31qfItY5j5cE23JlUjuWJx3GXog4PpGvxfKEVbxzzI3/kPRg++yf0/TOg+vBvkD9+A1JDP16p6MVDG5rwzC4TVlfYkWM9C+0Hv4T/n/6EvaeuILtvFK/UG7CmuQNr1Wa8qbLi9ZoeZFtmsdF2DlKVH2uOWvHI1nrckXkEt2Ydxm15VXj+aA82jVzGoZufQfPV36Ds+jvYMDCG1TVa3JlVAIliB5bG7YFk7U5IVu2E5NV8SNYVYXnCQTy5qQ5RR83IbBtChmkAqUY/klpciNcxJrByPVHrTMjVHg52BH4khAAkqpAGYKhFfmhDRJj28rwHG1yQNrq5nxEOgESpce42rCEsgV9wls8+LwDJMDQBYILOx0Wi4Ja1QufjCSDaS4AAkGuGsGATApA+ykSOPpEUOMkUCPXbpNbdFgVAoZmmMOYD5HxpMf019PxfyCqXmrFrDznio3XyTjtKdS5ekLu3tOIT2+IIB7+gcnSI+qaRhgZ5y+zEevkHjfShs45iw8vhLr4FL7uFDoELB5tpEK6tM1Nzf1ZEqGwhA9Bc11fFrMMRI0y5xo44rY057t7hQa5zBJv6xrFtcBoF42dQcuoy9p24gAzLIFZXt+KlIzo8XHAMjxXV4fkKHdKtoyi/8B5af/zX6P7pP6DpvS+Q3jmElQeMeHB9HW6XV+GRLAOe32nFq6VeZHadR9ncT9D/r8DYHwDvvwDFp3+I5O4xvFLZi0c3q/FsgQmryi1IahtFw7s/RedPf4WySzcR3dGF2M5erGvtxGtNRkTprchznUK2ZQZp7RN47YgZj29rxLLkMkhkeyFJLcdD+Vr84LgdW0ZvovaD/4nj73+BdM8IfnC0Gfds2gtJ/FZIYrZBsmYrJK9uh2RNESRv7MetUSW4V3kEP9jTAmXzAHI7x5HK7rsqW93B2h97RFzKXuQjKpBAT6HxMacq2Y/nS5HlTW7uSDtRfsKB6vks96UNDg6A9M+gfxZ5G6/xBCGl8zFW+mo3B7+gsrOHNEKY1TjGPYZseBDFSL5ncusAktmuLQ0x4Qs+UX9CFciZ/FLX5+irdLQCTGjt57rHwkUD4vZDmiX0DKDoGMxCABQOSovVq+ZTkGIA5C3zU/CL1Tr5pxzDQI+OcHd5wwGQhh8xQhACkB5epju1RPnxxl0EvyOhyhNefBOeLfy2AKTT2yiVnQOgcMSI/E3kamYKn5nIZ9ycEwxOpLT7kNbjR65rDJv9U9g1chp7p8+j+ORFbOmfRkRTNx7fU417Nh3Csqxi3L6+FCu2HsHr9b3YFpiD5uOfo/ebf4Tq7S+Q2j6El0va8Wi2CisS6vG9HBNW7nFhbeUgNjgvo/qtn2P498DYnwDL//otdk5dgdw4gB+Ud+KpnS34fmEHVlX0Ir5lEFVXP4Ppp3+H5h//BEXnzyHeZkVkRyekXVakO4exuf80UrvHENvchx8cMOGRzQ1YllyOJUnluDu3Dt8r7sCaxj7snHwXR29+jZ0Tl7BW3YNHdh/GEuV2SCI3QLJ2GySv7YDk1Z2QrC7CknX7sTyuAs9sUiOmyoWc9ils7JlCpmkIaUY/UozBBgj3t9P7mKP0AgAKg4ad2NclaHyIb/aEGKUSyM23RSJtcLDw8/DqjnQQKCfq+6Bs6UdK2yADKoMfCTofB8DgKpuDN/9Hd4DFmiALAZB+0Y839PHSXroJQp4XwpRXeJaTMwdhAUjf3Va0+rhaIoGgcBPkWwNwPiguNj3mFUEFwBDer6XhJ9O7ITd4RMFHQt7imjdkejcHUALYGI0jqDzDAJBAkFZ7dLODm/Gj6nxCpUdbWYnd8RADoBCCwrU2YXobobIxZ0ybHYhWBztucRoP4rVezt4pscXHrfIlG71I62F8/bIdI9joncTusbPYP3MFRRPnkdbjxwtlzVieW4pb00qwLP0glihLcGvGQXyvSI24Fj+OXvoE2g9/gWOXfoR4rQ8v7DHgkfWNeECpwjO5Jqza64G0bgxb+69D/dnfYfy/gaE/AW3/8x+wYfg0IvVuPFfWhmcKWvF8kQmrKnoh0/uw79QNtH7517D846/R+b9+iY1TY0hyObFlfBoHzt9A0fR1ZFmnEdPkwyuHunF/Xh1uVVbgtrSjuCevHk8XmxBrGEbpmc9w5PLniG8fwHOlzbgr5wAk8u2QRO6AJGI3JGsKIVmzF7dElOBeZRWe3aJHbKUbGztnsctxDpt6p5HdNcoAkO0CiwFQzta+4jWesEE+r9B6eSosQecLC0CxvWIxe32i8EgKzkGQNXOlAUWOHaW1D3EQpPd4mZU3suLGB2HQLcbFG4NZCIC0m5Gixc8BL77Vz80BEgAKU+BEg59LpYUpsJgCTDT6OeVH0uD5VuFSO0dD/QC/DQAXs0UipgB5KTaV7oqpPbnBw8W3BaDM4JwXftHUUHI4AAo3O+IMHn6nVwR+8zm6kI/p9FisOUQgKLbbS9RfdJODB78YTbDgHK9ljmWTK1xklzmxxYVUUx8yLYPIcYwg18Xc7i0YO4eSU1exa2gWsdpePLb7GJZl7IMkbg8kSQcgid+HW1MP4ckCNaKa3Dh87kdofu/n2D/9FtbVWPH0NjUeyWjEQ8omPJ3TjlV7XUhQTyJ/9CZMP/8njAIY+NN/ofmrX2D9wBReV/Xie8VafG+XFt/fa8LqoxZIdV5sHTqDps++huc3v4X/j79Dw+efYt+VC6j5+BM0fvQT7J68AkXbAF48aMJj25qwPPM4blVW4K6saqzIq8WLZd1I7ZnBobkfI3/0JlZXdeLR7dVYllwMSXQ+JG/uhuTNQkheK4TkjX24J7ESL+S3I+5YP/JMp7Cv7y0U+a9is/kEcrrHkNY+yKTBbczvMb6FNLIYAMZRoFNovfMGgUWSwY9EfR8DwjAAFNsCET2iRMGPhiBpSpCfqWzp505ephoDULb0s/8tQZMDxuiAmBw4uNSXwFA4B7iYFFgIQKECFAJQmPKGfEwMbY1sUEYjtO0V3wBhEQAMBzixjqbYbq9Q8ZHPhXSBBAAUgx+t/sLBj3zdfMpPpndzijIUfswdZDKeIgY64ZAy+Zg31EzV+OizlfTpSiEE+QBknkjBA+fBiG5yIrLRzouIBrLba0eUyoGoZibIaVPydyEKkLn/4IVC72Ki1YXkTi8yLYPIdY5im/8Udgyewr6pSzg4ex3bfFN4rUqHu3P2Q6LIhyR2NySxRZBEFeLW1Ar8j70tiG3uQ9mpD1Bz9XNs9pzByjITHtvQiAdT6/CQsgnP5BixutiJ1NZplJx5H7Zf/zuGAPj/9J9o/OJLpPeP46VaEx7cVYcndqjx/b1GvH7MhmitB1meKdR/8hW8v/8P9P/XH+D/4+/Q8+t/gOtf/x1t3/w9tg1fQFSTG08X6vHQpkYsSz2KpclHcHdONR7c0gC5NoCd/dewb/xdxDR58HKpEY9sqsFtigOQrN0DyWt7IFlTjFvW7Mdd0go8vbEZ8tp+bOmZQ4HnGkoC76DIfxVbrTPYYJ5kTEDbB7mzkEmt7MojOWO6APCETYIkg58DYIIueKYz3KGkcFZaHAybXaIKNBS8fGsrAj7G4srHOrx4Qwa9mbqfk4LgtwMg7XNJFKBYCkzXAGno0SMxytYBbmUuyRRAkikQTH2JCvyuCjBcejtfk4OATQhKGnjCxgANP7nOuyAA50t/aQUY1+pGXKs7BIB0Y4XfcHFxbjbCvV0afEIA0iM4Mp0rBH50iktbWwkbIGIAFIMgBzqVIwSAkY12DoBEAZK/gVzNQDBo8c7U/xStLqR0+bDeNoQ81xh2Bc5i98hZHJi5irLTN7DJNYaXDjXittQCSGK3QRK/F5LYYkii9uK2lCN4odgEuXYAe0auY+/4TSS0DuDpgmY8mFmN+xJr8GCSCs/kGPFGiR3rO2dQceljeP7tN+j74+/g+6/fo/GrL7F+aBov1ZrwQH4NntypwbOFrVhVaUakMb0ntgAAIABJREFU2gOleQS1H32Jvv/4E/r/60/w/eH3cP3ut+j5h3/G0bc/RULnEF481I4HNtfj3pw63JlZjdvTj+HunGo8WaDGVu8FlE69hy2uM3i2sBnPFmjxUHY1lsnKIHmtCJLVxbgt8ggeTKjDC1uMUNQPYqfjEg6NfYTS4fdQPHgD+b4L2GybwQbzNDI7h5HRwZyF5EGQqBW2ofBt4EfqbwqtlwMg/ySmyPEkkfQ3rsnNA6DYzw8+xqS4tLUVHbQCJCqQmftzcTBkaoL8sZmFAEhqccT4lyi+kGCfG8IUmKzAkX1gehVO2THEqT8xBZhsGqLAF2yC8AA4X21voRk/MUUoPNIj1hX9rgCkFSEXAgASCBKVKEx5uVSRWHrRLXr2dyCmVoXnBmnbKuLeTF7phMCjgShsjhAASjUeDoI0CKNUDkQ3ORHd5OQgyIsmOyLUDk7RcjVX9k4s+ccdr2Ps/ImtfY5jGBs9E8gfmkPB6BwOnryKslNXsMEewIsH6hgAyndCElsAScw+SOIO4o7UKqw82IN00yTyA1ew1TeH14934+Ettbg39RhWKI7j4UQVns0zIqLMhU22szj+1qfo//1/wPOf/wY/fgv1z75G3sQMVtab8EhhA57Yocbj2zV4vqQda1VuyLsCqPrhF+j7j//G4H8D3j/+Ec7f/BaV7/8I2QMn8XqDBU8V6XFPTh3uzqzBvXlNeGBTMx7fpcGqyh5UnPoQewYvIrbRjvtzKnBPWjluiyuDZG0JJKuKsXRtBR5JasYrW81IrpnAgcH3ceTkpzh2+nOUTfwQBX1XsM15BhstJ7C+exyZncNINzHrcDQAic8dAUw4BSYEoLKlP0QBEgjSQYBIjqmTiG/2cP+bBPa8J11fDAbj20c3LeiOLzEyDfr7eUHXAAn8yMekISJV2XjD038pABLxQKs9ZetAiCsMARsBYIg9Vojio40Q+F1gFoDeRSm/hQadwyk9ugsqesOWTVFlC6TAdMS1eLlYCIB8+NmDyo9dyaFrlOFGWYTNDQI/csEtHADDGZt+GwAKU+IQCDbZuTog+XsQ+MWpneyrfbD+x8z+DSDXPYpNfZPYM34eRRMXUHrqGkpPXEGOeRAvlNTjjvS9kCj2QCIthCSuFHdnVGNFVi1ePWRGds8stnvPIbNrHC+XteGBvOMMABOP4aEUFV7Y2oGYoz7s8F1E84dfY/S/gb4//B8M4T+g/dk32Dh5EisbWvFIYS0e3taA+/Nq8L0CPd5ocELW3o+j7/wYvt/+CUMAzP/8L9D97JdQukfxUm0nnjtkxFNFety3sR735NThvg2NeKbIiNVHLVC2D6Hh2hfI6R3HU7tqIJHmY2n0PtwSUYKla8tx67rDeDCpCS9tMyOhagyFjnfQcO5rHD/7GSpPfYwDY29jl/ccNtlnkGueQmbnKC8FTmrtY+uprMmnAH70QDB5TAyABIKkCZKg8XFAI+8TCNLgI0F/rTj8fDwPP8a2Kmh6EPT0CzU8JbOAzFygg/0eDs5VJqbBgthGKwdBIQCVLaHDzCGnHVqCHWGumcE+fwj4aAcYOviuzqEApGt/88Ev6AajZgq6cfo+yHU+SDUe7gkXq3Zz6oN+EtIfi43BCNVgvKGPU1rxhj5+U4RNL+O0Ll6nVdiJ5YDHqkIOhiJDyrQpgZiBgtCYQFjjE9sCoesMtAECAV24FFgIUmG5Qa7zhYVgrNrNpb/k906rwShVsFsc3eRg1pDY1Sd5syN43KbVx95o8CC1uw+ZtkFku0exqX8aBZPnsWfiHCrm3kHB0BmsOdqGFTmluCVxD5Ym7seS+ANYpjyCRzZr8NphF5S6KRwY+wjVZz/H+o5JPLOjGXcmleO+tOO4O7kKT2zU4LndjGffnrEbqL75KQb+/T8xBaD/97+B7uuvkDc6hpcbNLhv1yHck1eBFTlHsSLvGB4vUEHa4sPu6Yvo+dtfYey/AMev/xWll97FG802PLFPhyf36vHgtnqs2FCJx3Y14OlCPVYe6UGcYQD7Jm9gV+AcXq9qx2ObqnC7fB8ka4px6xvluGV1Be6IqMLKHVbEHO7D5p7zqL/wDQ6f/AD7x66jMHAJBQMXsM09izzLJNZ3j3JmCKkmNv1qDV6T4w5NUYPFYiGm0ITpsrBjTAfZ2BB+v/DgCwKXqMw4tZv7dyFrcorOBJKfzfwcB/eW+Rzzs8n3oM0W4pvdSNT6oNQHVS3d6ElgO7h0U4PU+uINfDcYYodFq7609iGmcUN5AqaZhpHewai7cOAjKS4PeJ0TISGRafog1/oRp+/jalE05MiTTwyAjFIJrQsKAaho8fNUVXSTIzg3p3FCpnZw7rGkq0MGjjnQtPp4ACQQFAMg2cklbipiEKT3icU2TISjL3SxlTd71BIczhQqwL8EAMV+93Q9kLvtQf5RNtgRW2+DXGVHgsYNpcHDHLAxepHc6UWGeQDrHUPI9Y5jc+Akdk+cQ+HkeVTMvYPdg2fxRpUJ9+eV49ak/ViaeAC3KQ/jzrRjeHybHq8ddmF9x1mUjX+Cw5MfI77Bh6e3NuMORRnuTjmK5alVeHyrFs/va4dU7ceeyZsw/uTvMfC//4Dh3/8Bnn/+F7T97GcoPHsObxqMeKT4CO7fVom7cyuxPOcIHs1vQLTOjYLJC7D88lcY/+N/o+3LX2Dr0BmsPN6Nxwv1eHi7Gg9srcPD26vxREEdXigzQqrtQ5Z1CruGLiLTPILnihtxX2Y5lkbvw61vHsTyyOO4J7oODyU0I7qsH7mmsygZexeN175G2fQ7KBq6iN39c8j3n8UW5wnkmoNWWCSIUSc5Sk/EghB4oatmTtEanViIjdDQ4BN+Hxp0wqCbLQqtl/s+Cq2X6wrT6TgZjBb+PPLfRQAotNpK0HiRpOuDUu9Hki4UgFzdk9rnFRtq/i4ATO8YETVBIABM6xoLWl91TQpiGuld05DItX6QkKp9AnXhFFUgfIUo4vggACB51Yw39EGm9XAAjGlm4EciXufmLjklGv081aVo6wuBoBgAifqLUduDx78pCIYzVaDt++ndYOGgpbDrRF9043W7qHQ5HABJE2Q+AApTYtIZjmiwYV29FVFskGX3mDorYuqY+xEKtQtJejdztavdh9TuPmRZA8hxjSDPN4FtQ6dQOH0R+2euoGLuHWxxn8Sr5a14aEMl7kwpw7KkQ1iaUI4Hcprw/aIurD3Wh43mSzgw8iH2+t9CzHEXntrShDsUZbhLeQT3pB/HUzv1WH3YjLTOKRw69wl8//gHTP4BmAEw9Lv/RNcv/w6ll68j2tSL546o8PieWqzYcBh3ZZfjkV21eFNlxY6ROXR8/bfw/+vvcPjyu4hv9+HZg614bI8O926sx32ba/BUYROeK9Egot6BDc5ZbPGeRbZtEhF1PXhgQwWWKYogiWBGXe6KPoKHEhrxdHYLUhonsC/wLo6f/zGOXfoMB6ZuoCBwHjv9Z7Dz//J2nvFx1WfaHgymdxIIEHoIKWBsq/debbnIvfduy1bvvXdppBlJUzUaNcuWbLnbYBtiWuiE9N1ssskmbAgkQCgJu9nr/XDmnPnPmTOyCOT98Pw8KpZtWXPNU+7nfvpPssJ8lHTjIRboDzKv3X2gRz5bKv8sywoHDyuoKTz51JmbDLDLQdHX79OCnzhkUQNOlMMkNTqVkD9HC4BiVqr174so71OyP1lWowXmeA1x878CgFobH4r1Vce4ZugiquxEVNkJr7QRVmFVsgtx8qgFQHeG4huActkrA0HOBOXP9y/qIrCok5DSbiULFDcupgKgHGrb+Ygak8smy6AA0Ne1OvFuidq5RQ1ALSMENQC1JC/TAaAMv6kAKENQDcCgom6CXDZHWgCMqzGR7AJgarudBcYhFpul2x4rByfZevQ8GadfYP/xF0hqtHPfukJuWbCf65IyuCpmHzOi9nLXshoe3dpBaOEgq3ufJePwW6w2niMou4eH1lRzY1ImNyQe4NYF+dy/vga/gj6Wm8+Q/4OfMfoxHPo7HAWcH/+Njt+9Q/YLr5JsdhLW1MM3thRw49J93JCewX3bygio6GHjoQvo/+M9nO9/zuZDTxNU3sMD2+u4d2M9ty4r4ealBTy0vZbZeR0sNBxh4/BFlvZMElraw0Nby7kmeac0vAnczFXBO7kxMpOHl9YTss/Cur4L5Jx8m9LnfknOU6+xZewCa/tPssp6jNW24yw3HWFJz2EWdR8irXOU1M4RktuHSGge9Ch/FY2rAD+5PFSHvIOrzuKmA8Dpws8XAGXAxdf1k9gwQFKjk+SmQQWAIiC1+pgyFLXKXxGAIkS1/r6yoFm+QhlTI7WI/lkAKmWwbIaqGnrImd9lASiDL6zCSkiZmeBSkxQu6HkD0NPgcDolsCgJkQEYVGrksX11PLSzjMezGwkq69Y0JhChEy30AeWeoFwqy+CTPQTlzG8qp5npANCj36cCYFxTvyb4tIcd2hC8XPbnSxsoZoAy/MJKpfJXLIHja82aAFxmP8yaoWPsmLxA5rkfsmv8GQILOrhlwT5uSNrDNbF70YXt5Oq4LO5aVsP96xqJLB1li+NlCk//Owubj/DdbY08uqmOry8q4Lb5OXwtPZ/711cSUmZlw9BFip7/OQ0//i2FL75F9qWXybjwPBnPvsjOpy4xzzpKdLuFB/eVc/u6LG5dk8VDe6vxL+lm4+gFOn7xHn2/+Zi1A08RWm7h4e3N3LepgW+sreYbayt5IquTlPaD7Bh7js1DF4mvdfDtHbXcubyQmXE70YVs4YrQbej8N3N91B6e2NrKoqYj7D38ElmnXuPA2ZfZNnmRDcNnWGE7xjLLUZZbJ0nvG2ehcYwFhkOkdY+R1j1GaucIiS1DxDY4iKyzKQfBwipNHn1XJQsXrKdEFxZfpeyXAaAWEEUQikCUBxXysEIZxKh6k579QJMm4JUSuNpOXE0/sdV2oiosHpspHrvR1VJEVVmJqrJKj2vtXwqAKS2e015x6OEFQB8g1IWWW5AjpMzsDhfwtAAoQtCXPlDcjZWf7FG1Nmn/t7yXuQWd3LOxkJuW7ub+bcXMLWzXOOnX5y1OVk2CZQDKPT+1g7QW9KYKtTWW2vJenQGqBx++gPdVAlDsAaqfcHIPMKpcGoIk1FlIaeonpcXO/PZ+FhuHWWoZY5XjCBsOnmL3iWel/p/jNE/sa+CmlD1cn7CPmdF70YXs4vr4PO5ZUcdj2/XMazpJxuG3KTz97yRUOnl4fQXf2ljDPatKuGt5IQ9sqOLbOxtIah1hx5EXKfzBT9g88TTp/YeZ1+dknnmQZUNHWTl2kjT7IRINg8ypaOfh/ZU8uKeCWYUdBJX3sOXgD2h68480vPJ70g3HCCu189jODh7Z2sZjOzuYk2tiXsckWw++wO7DL7CsZ5K52Z3cs7qUWxflcU38Aa6M3M21MRlcE72Hby4vYV79QfYfeZmK535BzvlX2XvmebYePc+64dMKAJdZjrKo5xBp3aMsMBxSYp5+lKTWYeIaB4iqt7vvYleZvQAYIrwgqf33phqMTDUc0dL3qQE4VWaohqL4e339PcRsUA1B0VYrttpObLWdmCobEWUmxZtQhqD8cS0AxtRMH4Ba8PvKACiCT4GhxrTRlxZQC4RaejrZ/imkvJc5+R3cuTaX6xZt55tbCpmd36oAS92T05rQitNZeT1Ny0Fay2LLV6gHINJRcLv34OOfAKD6Y18WgLIgWv1Ek6+FyQBMrLcqAJzXZie9Z4TltsOsGzrOtvGnyDj1HNvGzjGv1ckjW8q5KSWD6+MyuCp8D1eF7+e2eaU8sLaZsKJhVvU+S8nTvyH/9C9Jqhvhse21PLihggc2VvDgpkq+n9GMX14n6b2TbJ94jh1HLxFWbyC0wUBwnZ6Qxm5CG41EtVlJ6R0hpXeEqDYzs8tbmF3aTlSTnbhmJ/uOv0bjq38k99RPSWk8TGhRP3MzTTx5wERAno2FXWfYOf46O8dfZVHnOGHFPXxrSx1fX1LETan5XJ+Uxw0Judw2r5A7FuQxN1PPJud58p96nbIXfsy+c8+x9djTrDl4nDWDx1luPcIyywTpfYeUs5jSbZQRUvXS8fSEViexTZJmTc4Cw6vM0tH58j6fANSCoDxcUAPLFwinLn+9xcxfJNQ7yuJkWASxesAjw1wBXKVV8ToML+1TMkD54zIk5awwttpObO30e4BfHIAHXVb4h6YMnRb8ZAB6DkC0IegLgFpiaFkOI/f/7t5QwO2r9vPQzjLmFrYr/TqxJPU1qVWvrMkAnMphWutrqYce4tf9qgCoVRJPBUCxx3q5EvhyAEyos7hL4FYbi43DrLKNs374BDuOnOfAyedYZTlCcEEndy/P5fr4vcyM2MuVwXu5JiqLB1Y188jGduKrJ1hve47W1z6g/Jn/YLH+KE9kNPHgplIe2V7JozurmZPfQWCJgfS+I6x2niLNeJDv59czp7SVJ4qaeLKkhVnFzQTWGlncP8mq0dOk9A4R2mQgpM5IQoeT6IZ+Ng1fImPiLVKbJkipP0pkyRDR5WNElg4TWT7CxsEfkn36l6y0Ps3c7HYe3VrNvavKuH1hMTckFXJjcgm3pZVz9/JqHtpQQ2rzCNmnXyX/2dfJu/Qae849y5bj51g9eowV/UdYYjrM4t4x0rqHiW+2S2a6TVYS2hwktg2S0OokrtnhBUBZcK4FQBmC8q8iAGUZirpM1YLg5TM87Y0OOcS7vqLpgfz5l+stastk3KW8XAJrAVABnQt+ok3YdAGY2jIsGThME4BqCKot8L0s8YNKzASXStALr7QpwxAZgO6pr1sQLd72UFvcq91R1H55MiyDy3oILDEwp6CN2fmtzClow6+og6Cybo9LaFpHkcT1NXnqq768JpbRU2WQvu71avUgtQYiWuttoqBc3Q8VjWFDK/o84OdL/Cy+LQqhA13gE1+R5YljbI2FhHrJz06eAs9v72eRYYjl5jE2DZ9kz9GLFF18gzW2Sfyy27l9QRY3JmRxZfBuZoYe4OaEYh5a08rsfSYWtZ+h4NyvqHnxvyi+8HOW9x0noETPt/dV8vCuUmblNhJe28u87hHWDJ5msWmc0Goj386s4ZGMSu7bWcrD+6r4Xm4TSd2jLHeeZuvkJeZbRkg1DZHY7SCxc5CIWitPZHXy3V3tPLa9ndn7TATlOIgoGSGp7gjbhl+l8Pxv2Dj4IqHl/dy/qYzbl2Rz28ICrkvM5aaUUm5Lq+beFc08urWD4CILq+xnyDn/OtnPvMyec9KBpE2TZ1gxcowl9nEWmw4x3zBMYns/EXV9BJbrCSjrJLiym5DKHiJcg7moOu+1zzBV/0+GX3BRN8FF3QQW6Aku6vaAoC85i1YGeLnyVmu1TRRAa4UohPa9OucNX3VZHltj8wCbaPYaUWZSSuC4mn4lZCDG1fRrAtDrHrAqA5Snv8oUWGPzQww5E5QlMV4ZoAzAkDIz4ZU2ZSIs76G6p77ax49EAMpPeF8AFLNF2eopoESPf3EnfkUd+Bd3ekhXxMdqOYv6tq4vAKot7dWAmwp+0wGgmNlp7UWL63VaABSnv18UgEGl0qFzsbSSf5UX3VOaHaQ0O5jX5mBB5wDpPSOsso2z9eAZ9h17lpyzP2Rhp1TO3pC0l5visrg6bD/XReRxR2oF31rfxtxMC0sMZ6h68b8w/fZzTL/7lNwLb5BuHiOwqoM5pc0E1+hZYBpl2+RFth95hnndIwSUdvH9vFbu3lrMLauyuG9HBY/nt7HIfJTMp9+i6Wd/ZOepH7Bu/AzzTSOE15uYU6jnsb2tPLK1hfvWNuCX2U9Q3gBhRU7mtx4n4+jb7D/xE5JbjvDtPS3cu66UWxdlc0NKFtcn5XFzapkEvy3d+OVYWNN/kX0nXyHvuTfJuPA8206dY/Px06weP076wDgLzQdJM46Q1OEgutFEYLmeJwuamZXfxJyiVgJKuwit6nUrDFQrovJQQIZfcFE3QYVdBBV2EVigJ6iwSwGgVims7vOJvTctXaB3aWz2yPJEy3r13q7o/OwOb+suX7vFWiW5DD95ACK7UEeWmz1K4H8GgFolsBqAvsDnvQanDUFdUIkZGYJhFXZFExhabiGwuFfQ/Ln+81VTVnETQcx41PuzWp53wWU9BJUbCCjtwr9Ej3+JnsDSLo/7t1oAFCUt4taHWPLKANSClxYAteDnywbf4xCSCnzq3qh69U9tf6WWuPjSW6plMHIojs8u8wPZBSau3kZCYz+pbU5S25zM73CyyDDEMtMYax1H2X7oHPtPPMfu8WcILzNy57I8rgjfynWRB5gZksU1kXncubCGRzd3ElI0wGr7BRp//CeG/ypp+vre+SsVr/+c7Euvkn3pZXKfe4WK139O9Vu/YvPE0wRXG/luTjPf2FjI7atyuWN1AQ9sr8KvuJudR1+i9zefMvYpVL/1H+w6fYkUg5O5pR1850Ajj+xo4oHNLTywoZXHdhj4zs5uZu03kNoywfbRl0jvOcWju5u5cVE2d64s4rp5GVydkMEtC4r42uIKvr1FT1Ceg8WGMxRf+neKXvwZuc+/yY5zz7Dh2CnWTBxjxcgEi+0HSesbYV73EPGtNsJrjfgXtzIrt55ZuY3Mzm/Gv7id4PIur3Ol8nNAPQCRwSeHGoDqKar6xUvstakfa4UIOTmzkzY3ej2OHamzQPdtX28h9+U2TsS35aFGRIWZ8HLpTkpkpbv/J5fBYhaoRJ3jXw5Ab3mMdCJTDl1wqcUDgFE1DqJqHB4ADKs0+wSgeAlOnemob2Vo7RYHlnUTUNqFX3EnfsWdBJTovQTMvm4Dy2am4g+mOvvz2CYR9IJTQe+LAFALfupBkJafoghA9ZaHCEH1QESdAcoAlMEna6ziG+wkNjmY1z7IvPZB0joHWWwcZrn5EOudx9hx+Ckyjl9iXf9xvre3jhuT96IL3MjM0AyuDDrANZH53LOkgW9v6ySpeYK9p95A/+u/MPjxPxgHBj75O6Y/f4DxvfcxffAhpj9/gPm9D6j58a9Y4pjgiYJmHtxdzc3Lsrl+cSY3pudw/7ZaYusHqfzhfzLxCYz9FXr/6yP2nH6e2DYLswpb+Pa+Ru7dVM3XV9dw/8YOHtjcziPbO5ib18eCrmMs6T2JX4GB21cUMCNxFzen53JVwh6uS83iruXlPLq5jYAcK4u7TpHz1M+ofPU/KXjxx+y9+CJbT59n/eRJVo9Psnx4nMX2gyzoGSa1a1ABYGBpO3MLm5lb2Ip/cTsBJR2ui4OeP2MhFUbpyLxweU2dAcoRLOo0NSQynlfafB851wr1bq425NwQdF9/k3eDPaUu6l6l1sBGhKE82Y2stEj3UVwTXhl6Yh9QhF98rUMTgJcbgqgBmNI+6gG5qUpiTQCGlFkJLrV4AFCdAU4FQPEGheisIpoFiMJRdcgAlDPAgNIuAlUCZg9ZS7k7wit6vH4wxROUWkeOxCGKVkk8XQDKEFRDTW0J5gt+7u+H53RXvXnjXjn0NkOQp/Pi913OumMb7SS0DJDc7iS1c4h5+kEWGIdYajnE2sFjbD18jj1Hn2GRfpT71hdxXcJuyfIqLJOZIdncGFfCQ+s6+f5eI6sdF6l56/dY/vx37B9/xsDfPqPvoz9j+uv7WD75C9ZPP8Dy0V/Q//c77L/4AvF6O9/LbeJr6wu5aUku16VlcXN6Po/uamFe6zjlz/+aox/DxCfQ9pN3WD9yhpCqLh47UM2Du2u5Z0sdd6yu44Eteh7Z0c3cfBsLDMfZPHaJlM6DPLy7mjtWFnLNvANcl5bFlUl7+fryEu7bUEVU+QDLe06TffZtat74L8pe/QVZz7/GjqefZdOps6yfPMnKQ0dYOnSQdMco8w2DpHY6iW+2ElFjJKisg4CSNgJKOggs7SS0rIvwCgMRlb2ElRsJLTMQWmZQHqv7f3LvT47LAdD7TKX3SUs1LNUADCnuIqS4i7BSgwJBORtUw1AGnzs79A1AsRz2BUBR3Cy/+MYKPUpfAxZZPP1lATidrE8shUX4zescQxdabiOkzEpImVUpgSOq7AoAxR6gDEC5PxdU1q24FMu3Z+XenwhALcdj8ShScIWRoHIDQeUGAsu6CRLgpy6B5R9A5QdRgJ9WBuh1h1foHU4HgL76gHJoeSmqJUBavVD398AbgFplsBqAojxJDdyoWhtxTf0ktjq9ALjEPMYa5yRbDp1l+8R54mrN3LH0gATA0J1cG57LtVEF3J5Sxfe2mwgtdrLr+Ou0/eo9rB99huWTv2L//EPMn75P/z8+wvo/7+PkY0yfvEfVv/2M9KGDzCpt4pH9ddy8Mpdr5h3glvQS7llTy5ysXtbaLtD+o/c58TcY+MPfOXDiRebpB3kyr4G7N+Vz58Zi7t1az53rGrlnSwcP7ugiquEQmw+/SMbZ10nuGObeLSXcsbKQ6xdkc/2iHK5flMUjO5p4Yn87mwYuUPrsz2n7yR+pev3fKXn1J2S+8Arbzl9k3cnTrB6fZNnwGIv7h1hkHWK+0Ulqp5OEFhuRtT2EVOgJLu9U7k2HlnURVt5NWLmR4JIugor1BJd0uUMFOzHruxwAtXR1ahBdLgOUHVpECIqOL+L9Du2y2FPrp1WWa5k5KOWxsOUh2terAeg1vKmxfyUAvNwQRAafOgOUhyO6sAo7oeU2QstthFXYlUlwSJmZoJI+nwAMLO2S+nUqm3blGE+N1bU07m35LmZAolWVCEI5A1T3/8QMMKzc6FWWaG1zaGWD6gNIXwaAWitu6r6f1vdBDUCtHqB6J9sz+xMOz7scocOqzUTUWolt6ieh1Uly5yCpXcPM7xryAODmsTNsPfwUEeU93LxwH9cn7OPKiD1cH5nPTXHl3LWgntl7+0luOU7eM7+g47d/pveDD+n95H1s//cB1n/8hSE+oedv79D/f3+m8fe/ZNuFMwQ3t3P3zly+sbWYm1fkc9OiIu5aXct96xp9pnSGAAAgAElEQVQJKXBQev43HPkAJv8KuWdeYW3/ScKre3gso4pbV2Zw4/JM7txQxe1r6rh7SwdP5NlZ5XyB3Gd/QcmLv2TN4Gm+m9nI3evLuX1lCbetLuX2NSX4FfSQ1jVO9Yv/Qfcv/kjnL96h5Idvkf3Cy+x55hIbz5xl1eQxlo8dJt05TJqln3m9NuYZBkjVOxQAhld0ucJAWHk3IaV6Qsu6CC3pJrhIT1BhJ8FFeoKL9AQWdHiVu2oAquHnK6PTMlFQA1Dr4yIA5XJYhNxU02ARgGrBsxYM1VKYSFfvWc78xGxQPdlW4FdtI67aRnyNC5CuA0eyZ+AXBaB4AF20vlJngMrbHcNKJLcPSQCUVuHsykqcLI4WV+JkaIWUS3u28pUy9WFusR8oTkd93QuR/OwMHvALmmLwIR74Dq/o8dAMau38yrDzNQjxNR3+ZwDoC4JfFoBq+Km3c6QXEpNi9hpRayWm0UFCq1MR9KZ1D7PAMMIS8xhrB49JADx0nojKXm5ZlMGNqZlcG53JTTFFfC25hm8uacH/wCCL9ecoe+k/6fnjx1g+/gTTZ+9j+d8/0/v3P2DlPfr5gAE+IueNF0gZ6Of7ZXXctv4ANy7P5Or5B7h9SSkPbmzj8T09pLWcpOGlPzHwO+j5xYdscJwmvsHOozuruHNtLjcs2ctNy/P4xuZa7t3eypNFDhaYnqbitXdo+9Wf6fz1exQ+/zZxLXYey2ji0b1NfHN7Nd/YXEpErZV9p35I768/xPDr96h642cUvvQaO546z+YzZ1l77DgrxidYOjrG4oEh5pvtpBglg4iktn7immzS1cAKgxJh5d0El3QRUtqtQEaGX1BhJ4EFHZplrwy9EPWaosaOsO+D5X2aMFIfNQ8vMyoQFPuBcqilL3JW6AajNgDV4NUqlcPLJAu2yEqzAkB5ECcC0CP7+4oBKLs/ixmer76gkim2u6yz2gZdu8CVLhG0RrklagHdjXhJg+Zf1E1AsYGAYoOymRBYYiS4rNfj88VJpiz7kKQfvm8LTxVaouypHKvFfWTfzsy+Nzim+nyt92t9vq9BiQi7ywFQzAZlHaAMw9Byt5Bazr6lMthBSofU51rUc5Bl1sOscR5j6+Gn2DB8Br+8Dm5Lz2JG9A6uCt+nAPDutHq+v7WPlIZJCi7+G73vfIz+nXexfPYBls/fw/Dp7zB+9gfs//shze/8lgXDI3y/tIE7t+Rzy/Icrk7dz9VJmdy7spb71zQQmNvPtqFXKHvmt1S+8DtW95/j+5lNPLiljG9uKOHrq4u5eWked2+u5cHdrYTWDbNs6Bn6P4Thv8HgZ/9g9O//wPnXz6n78W+Y3ztKcLWRbZPPsuvkJbIvvkb2xdcw/ffHNP/i91S8+TNyXnyFVeNHWHXkKMsPj7Nk5CBLBkdJd4wyz+QgvsNKfLOdhMZ+YuusRFWblF6f3OMLdhlOBBZ2EVCg94rA/C6CCro9IrjQQEiRUdHEhRb3EFbSqxnqPVs3XNzOy1ohflzLiEF0bY6q7EN99U2yuPfuAXoJ66cAcGSFe/UtQnWhTtwD1hqCyDKYyBobUfX9xDYMENswoDjGKG7QLvMGxRS1xUlyi1OxKUtsdZLUNkhy+5CU2bkyQBl4YoboCULp83S+dGi+mvKyDCOg2IBfYZcXBMXsRMtQ1XvV66sHoNqhRpTkaLkzTxVadvbTAakvfaD3v0UbgOoXEF9yGP9CIwFFPR7tCtmBJ77ZQVLbAKmdQx4AXDt4XAHgnJx2bll0AF3kDq4I2c31kfncHl/Onak1fG9TD6mNxyh/4bf0v/8PDO9KQw8ZgJ0f/Sd9n75H4dtvE9ll4uHMKm5ZlcfVqZlcGbef65LyeHhDG7P3SQeS9oy/Qdbpn7Jt/AUiGuw8sKuKu9YWcvvSHO5YUcTdG6r5TmY3TxT0kmY6QeYPfoLzE3B++jm2jz5m4K8f0//hJ+h/8y57z7zAhkNPkX3+ZXYdf4Ydx59h1+nnyHvuLfZfeIVdZ59j/aSk91s9Psnyg+OkO0dYaBsizTxEksFBTKtrwFUtnbcML+8j1KWtlEOG3xcBoAhBGYRa8Asv1XaRmQ4AI8oNCvy0jQo8e33u85d9UwJQq0T/sgD0JYWJqbETVWsnqr6fmHoH0a4zmLG1duLrHSS64OexCucCX2rbEKltQ5oAlGHn5R7dMkRiyzBJrSMktY64LfHVAFQbb6rLMBl+cwv0HhBUA1Crsa9+Qn9VABTF2VpZ4HQzvOnGVNmeL/PTywFQFD6L2bJ0tsDq4R0ov7jI33tRtK4GYErHICkdAyw0jioA3HLoHGudJ5mV2cKNafvQhW9DF7yL6yLyuC2ujDtTa/j+th4WtJ6i4sXfYX33czr/8Ee6//Iu3R/+AcOnv6fvs3fo+/hP7Hr2B8yqaOHuHWXcsDSfq5JyuD6lhG8sb+ShDR2EFw+zzvoshU/9G5ln32JZ/0lml7bzrcxa7tpQwF3rS3hgex3f2teKX5mV6OZRdp1+ja7ffsjIZ//H4Cd/Y+jTzxj7/H8Y/Ovn9P7hrxRc+il7T7zMlrELLOwaJbHVQZrhEEntQywyT7B65DSrx0664jjLhg6z0DpCau8Ayd0O4jtsxDS5lAEV0kZHSIlR8VcMLjYQUmL0Ap9/fif++Z0eABQhKD+WAShmg1oQnMpBxhM+2iDUgqfnFNdz80MWSqtL4KkMD9SaRPFjagDKENQCoFoQLQJQdqRXrhnW2qUsULbvkqN5gKTmASUTTGgZcA37PAGY2DKkXIXzBcDElmF0WmcZ1fBSXyXzL+r2AqB4qUzsU3lOLLWmm18egCL8RAhqTUh99ef+2fAFxqm0f1MBUHxxCK9yG6ZG1dqJqXcQU+8gqtaunC4QX3CUAZTLxSa+2e4qgQdIbnewwDDiksEcZ/PYWdbYjzEnq41bFmQyI2IHV4Ts5LrIHG6JK+HO1Goe397Lsu7z1LzyDpY/fY7h3ffp+/gvdH/4B/r+/iccfIj54z+z6cQZvp1bxy2r85mZmoMuNocbUiu4d2UbT+6zkdJ0jD3jr1H23K/YeOgC4Y193L+viLt3FnL90n3cvjaf+3fW8lhmG4mdE+w98ya9v/+MI/+A4U/+F9v7H2J77wOs735A009/R8mLv2TDwR+Q3nOC0OIevrWtknvWFfHwtiru3VTMrLw2Ug1jrBt9ihXOSZYPHmWJ/TBpfcMkdztI6LQT32ojpsFCZFWfkvmJ2V5gYRdBRd1e4PMFQHXIEAzM79IsieVQT4e1bLTUABS1fWobLtF/UIKgdg/QLY/x7WbtS5Q9HQDKWaBWKSw6xETV2omss3sAMMo1XY4VnavlY0mN/SQ09rsPVDU7vAAol8CiTb67FB5V4JfQPOQGoFYWqDWBVANQzECmul/ra8vhywJQBp54PFydCapPeKqv100VXxSA6uNPWjIZcRCkBT81AKNq7VJ5oAKg9H/jmfGGV7ltvBJa+l0lsFPKAHuGWW4bZ8PIKbYcOssq61GCCw18bUkeM6N3c2XYbq6NyOaGqAJuSyjjO5v1LOo8Td1rf8T63v9gePd9TJ98QM/H72L89F30f/k9+a+8QqLRzjd3lnP9kjyunV/KzMQybkyt5utLmwjMG2SB/iQ5T/+Eqtf/g9WjJwhp1POdolq+lVfD1zYXcO+OSr6T00ZQtZXNh1+k/kd/xPL7v9H9q/fo+OXvKXnhDfacvMAq5wRhNT08md/BfVtruGtVCV9fUsB1Cbu4ImorusgtXJ24i9uX5uBXYGBx3yTLbJMssR8h3TxGmnGI5M5+4lstxDaaiaozEV7RI/X6SroIKOzAv6Ad/4J2Ago7CCzqVN7WjPxOAvL0BOV3EZTfRWCeXgnxfcEF3YQUGggtMnqFLzD6stFST2HDSnrdMBUyTXUG6cu631eZK/95lwOgGn5aAFRDUH4cVeU6ClYr/YxH1do9NIXizWV50ixvOCU2OUhscijnMBUIClNgX4fRk1pHSGgeIr5pUL4K5+1IrAag6EDiX9StQFAEoNbZRnkgIn997/3Wrx6AU0FQ3FWeqjT+ohmg1t3fy5XE0t/F7PW9l98nlr3Rdf1KRNZIg6vgsl6v6bs8+Y5rspHY6iC53cE8/aB0Ca5vlNUDk2weO8vWw+dYYZ4gqKCbO9JzuTpqNzNCd3F1WCbXRmRzU3wR39msJ63tBI1vvYv53b/T/Jvf0/X+nzB89C4d7/+O/B+9RtalF0nUD3D/tkquSNzPjPgCrkut4Zuru3hiv4NF3U+x/9SP6Pr1XzD990dkXHieebZB/Bs7+F5ZI/fsqeChjAbC6pwstT3F/rM/pejZX1H0zC/Ye/R5FhtGiWvoJaS0g1lZ9XxjTR53rizilkUF3LqwiBkRO9AFbUYXtBWd3zquS8rghrQDPJ7RRmrHGEstx0g3T7Cw9yDzup0kddiJbTYRVddLeLWBkNJugor1BBR24Jffxty8Vvzy2xQABhR2eIUIQRF6gXl6AnI7Ccjt9ABhcEE3oUVG5bh5aJGRkEKDFAK0ZIiFFBkV8wStw+diyaoGoAJUVzaoJb/Rer+vye/leoAy8NThC4CieUJUlcQeEYCinCaqyuLuS5ZJG08xtRbiG+wKBGVjYrkUFqEnl73i+2TwxTU6iWt0uocg8hNOfiKqS2AtAMohZoDqslmGn/xEFq/OfVUAlKEn6xG1IKglw9Ha1f2iIQJQ6yrc5V2ibR4hvyCJ8BOzQPl4lTwhlgEorw/K64GxjVYvAKabDioi6C2HzrKs7zCB+QZuX5TLVRE7uSJkJ1eF7OPqsExujM/n21s6WN77FG0//Qvmd/9O2+/exfjnv9Dyh/8i/0evsWj0IA/sK+KWFfu5OnUfusg93DivkruWtfHdPXYSGo6z4/ArNL39B2x/+iv9f/krzf/+aw5cepEFA4eJNTgJqrcRXOtgnvEky+3PsNJykYT6MUIKLTy+p4VHN1fy4LoSHlhbzN0rC7kmYTczYnajC9qCLnAbOr/N6GZvQOe/BV3QNm5bUMQ3VpUTXGRhkeEYS8zHWdR3mFTjMEldDhLarMQ09RFeayS0smvaAAws6lTeluHnl9+mCT//nA4FgjL8xOPmSvZXaCC0uI+wEslEIKyk12twovTTBCGyeKRI6SWqAShAVT2J9nhfsZHwkh4iSnuJKHXbqYnviyjtJbKszyOiyk1ElZs8gBdVYfEagmiVwvLbkZUWJQOUf8ZjXSGDUJlOl/YQUWEiusasADChsV8BoHgYXQxZJpPQPEhc44DyHIqu69cGoAxBUYIxFfz8Cru8BiBq6UxEtVXJXsR+41cxBNECoBqCWt6FvoCopVWc6uNaABQhONWRdGljxp3ZyX0QEXriYzlEAMr/VlEzGVFjIqbB4iqB+0ntdJKqd7C4b1QB4OaxM6QbDxJWYuLrSwq4JnoPM0J3MSNoD7rgPVwTdYCH1jex0nSehjf/SO/vP6PvT59i+fBTCl57k/mDwzyUU8K9Wwq5NT2Ha1Oy0YXt4cZ5Fdy3tpOwskNsH3sD/S8/YOJvMPjRx/T98b/pe/d96n/5G9YfO0/60GmSDUcIrR0kvHaUiMpRggsGeXRzO3ctLmdmxF6uDt/DVaE7mRm2iyvDd6Hz24QueAc6/+3owjPQBWxH98RadHM3oQvdyS0LCnlocwNR1cOk950k3XSM+T1jJHU5ie+wEd9qUQAYUiUJnkPLDAQV6xWoiQBUh0cWmNfhBUD/nA4FgAG5nUrmF1Hap4ScBYYWGQkt7iO81OwBwOBCgwIsxVjU5R8oXnlTA1ANO/lrKhNnIZRBjABA2U1cDPljWgCMrvCEnxhaABQjqsK1O1xrVwAYKWySyKE4V6t23OVD9eKpWq0jZTII4xoHXI70slTMRmzDADoZVCIA5fJK7OXJUhc1/NRDEC3doPi1vc0//3kAyp6CsihbDBGE4lBkKldrNfh8fUzsI2qVwJcLT5mNN/jEbFArOxQz9NCKPkX4LW3EGAiv7iG63kx8s10BYEpnPwuMQ6zsP8LmsbNsOniahV3DBOYbuGNxHleG72BmxF50c7agC9rN9bHZPLC2gUUdJ2j90V9o/PEf6frthzT/2x/Yee55QpsMPJRRxs2LDnBdciYz4w8wIzqTWxdU8ui2LhboT9Pw+n8z+Of/4RRw+PPPsb7/Hrb3P6L1V//NlsnnSeqeILDcjn+RjUd36rllYSm68Cx0QQeYGZLLNSEFzAzIZcbcA+hm70E3dw+6wL1cEbofXcgedAHb0IXsQBe+E13odq5JzORb21qJrBoipeMoC3onmWc8RLJB8huM19uIbTMT0WgkuEZPYHkHwSWdirBZFjeL2x7y+8UILOggsKCDgPxOqdeXZyAwt5uAnC4Ccrrwz9YrEZjbTXC+kbCiPiJKzESUmAkvNhFW1EdoYS9hJSZXaGRnrgwwqsLTlcVXBjgd3aFXqEpgdZnsqzyWy3Kx5ydmgXL4KoHlOyHiEETOANU6wKRGp3IwXez/JTY5vBccVBK2hOZBJSG5Z2Mh928t45ubS4iotkpDEFG0LPbpZNt1LfCpIaieAotfU84AxYxG7Dl+2QzwcgBU9wK1AKgFO60/U+tz5T6gFujUB9O1jiepAShmer5OZrqHVK7VQ2EbRgRgXJON5HbXFLjDzqLeEVbYJ1g3dIJ1Q8dJNx5kbnYnty7IZmb0blcGuIsrQvZyc3IB96+pZ5nhLM1vvk/Hzz+g5WfvsvnIs0S3Wnl4XwXXp+/h6sS9XBOfyYyoDG5IzuebqxsJyLGy4+APMfz7Bxz6+B8c/uxzDP/5n5S8+DKZF15i/cGniWsdJaRqgDvXVnD7snJumFfIzJhcrgjJQTc3G90TWei+cwDdYwfQfT+TK+Zkc2VAFjr/vehmb0PntwVdyHZ04du4OnEvd64o5ckDRpKaJ1hiOke65TTptpOkGEdJ6h4kXm8ntsNCdEsf4Q0Ggqo7CSzvkHZ7fYDucgAMLJBK3OB8I8H5RoLyDB4RmNtNSEEPoYW9hBebPAAoR0SZxRXuMliEmAIYlyuL+k6vh6TGB/zkrE8cVCjZoMYQRGvn2NdqnLrf5wuAmn3AKQAob4TIF+wSXSHLYLQywJgGT91udJ2duMYBEpoHCa8yc/eGAm5dfoB7NhYRWGKUMkB1xiZnF+LEd6oQAaiVBYrN/H8FAMXS93LZn/h7tcA23bJYPUTRAqD6YLqv85lq2Im9PvWxem9ZktEDgKL1f1SdVAYntfUrsbh3jOW2cVbYJ1jlkO7fPpHRwk3zDjAzeje64O3MjMjgqvD93JFWysMbmlnceZKOH31Ezcv/xa4jLxFT3883NxdzVdJmdLFb0YXuYGZUJjPC93LbgmIe2dxMZJmD/cdepe1Hv8fxzoc0vf0Lthw+TmqXhcRWOyHlfTy2RzpwdOvCYq5NzOeKiEx0wZnoAnLRzcpG991sdN/ORPfoAXTfy+KKublcE5bPVWGZXBWZwS3zC7hvXTVfW17A/VuqCC63stR8lnUjz7Fq6CKLLCdINo6RZBwivqufmE4LUe0mIpp7CanvJrBKT0BZO4FFnV7mBdONwAK9S+LSS0hRL6HFfYQW9ylvhxSJGZ47wkvNRJRZiCy3emVOSnnqysLUwBFNU7XEy76EzGKvTn4cUTYdv0Ht4Yf8dxFLXjUA1R+bLgDj6x3SGlzLsHQRTnSJdun/ZAjK/b+4JqkfqG49RdXaSGodJqS8l2/trubOtXl870AToRUmCYBqYGlNfS+XBYo9QK0yWITgV1ECiyDT6v/56gH6+jpfBIBaEhotCPoCoHcW6F3+iu9T+wCqWxIh5b2aR9+j6kxE15tJaOknsVUqhRcaR1liOswy62GW28ZJ6x5lVmYbN6VlSpsgYbu4NjaLa6Mz+frCUp7Y2c2avgs0vfInMo68RlLDII/va+b2xVnoIjZydcwudAHbuDJiP9fFZfPNFdXMzjCQ3nWcPeMvknnyJQovvM565zGCi1v41vYSSbO3qoTrkzO5Li6T6+JyuToqR4Lf7L3oHt+L7vEMdLNzudK/kKuDSrg+opw7Umq5f0Ub39nWjX+2hbjaURZ0HSOhdZiUrsOsHb7IzhOvsnniBVYMPcUCy1ESuoeIMziJ6bIT3WEmqtVEeFMPoXVGAio78S/tkPR+KvMCtauzOhQIFnQr4BPBFlFmcfX1fIcEP5t2b6zc+/aGaE6qngSry1ctCYzPLE2AnbgXLIcvAMoZqVb5K06Gp4LgdAEon8VMbh5SNkFkCF4OgJE1VuKbnIRVmggqNTInv1ORk0XX9UsA1Nr2EDM6rSeeGGoRtDgI+f8FQK0p8OUAeLlen69dZS3fP7UmUIagCETtQYjNozeqliX5elGSs2/x3ylng267L7MyDU5sdTC/a0hah7NMsNx6hJSOYfxyDdyeXoAuYjvXxGdyXVw218Vlc/v8Iubs7WWt6Vk29V8itnKAh9dXcFX0VnSBa9H5r0P3+GppCBG0k1tTC/jOllaSasc4MPkWGx3nWdh5iJBiA9/bU88d6dnMjNnGjIht6AI2o3t8DbrHNzIjcD8zw3O5MjQb3Zzd6J7cyYyQLG6IKeWWxHIeXqNnzm47MWXjLGg9wxrrM2w/9DJ7j7/B3hOvsu3oJbYff549Z15m24nnWTl8jkWOE6TZjpDQM0Sc3k5Mh5WYdgtRrSYim0yE1/YSVG7Av8gleFatrgUXGrxW29QiZzlCSvoILTURVmYmvNxCRIVVifByi/Ix+ePi44gKq0d/b6q7wKKQWfb5U3v8qdfnpI95Ozx7uE+7IrLSrBlhZZLhgTpkB3K1/EUur0VNoK/1uKkAmNjolKAnl8HyjZBpAFCdiMi2fFISMkBC85AykNWpwaUGnpYbiQhDdean3vqQn9RiqfdFSmBf8NKaAmtpAadzx1g92PA6fHOZQYiWYHq6e8PTOYmpNkIVxejqcl99NErOAhNa+knpGCSte5il5nEFgMFFJu5eXcGMmN1cm5TFdXHZXB+fw62pBfjvN7PSeJ559Yd5dFMtNyTsRhewFt2Ta9A9uR7d4+vQzZZkKLfNz8Mvw8jKnnMUnvkFCXXDPLq9ju/sbOH+tbXcnJzHlWF7uTJ4NzMCdzJjzjau8NuJbs5eZobkMjM8l5nhOdyWXMZjmzoJyrQTnOsgreUkG/pfYO/kj9h/6sccOPc2ec/+nJxn3ybjqVfYdfo5dp15nu0nf8DaQ+dYNHCUNPs4qZYx4o2DxHbaiOmwEt1mJqrZTFSDtP4WXNZDUJFBc29XhqAIQq1NDxmAagiK4ev9UpgUAGrdB5YHHjIA1XE592dx08OXltAX+CIrpZOfWvDzBUCxjyn2HX1thkRXu6oeFwCj6/p9DkHEHqBYBsvyFxmAYq89tkFymREfxzYMKLra+KZBTwBqbXP4smNSu5FouZZ8VQCcCoLTFUL7yvi0VtZ8XXXTKn+nWrWbSkDt/vO0z2FOBUDxRUjufcoQVByiBddr6RXSRnK7k3n6YRYax1hmOcpCwwRxDSM8trONm+bncnXCAW5IyOWWlEIeWFVPbOlB5tUdZW5GFzcm7kUXsJYrA7egm7Ue3XfXoXt8I7q5m5gZuYeH19WyqGWSXaOvkDH+JrMy9NyRXswDa5u5Y34l14Tlopu7H93s3ehmbeeKx7dwxawdXBmQxY1RZdyZVse31nQSlutkWdc5doy+xJ6JVzhw6k3yL/6Mgks/J/PCm+w590P2nHuRneeeZ+vpi2w5dYEtpy6wduIsy0dPsGRokgX9EySbRknsHZYA2G5xwU96YYiokHpxIUW9BBf2ePXwxD5ecGEPwYU9BBUYCcw3eERQgZHg4l4PCKozvqkAGFHhrfFzl7jaYHMDsNcjoip7XOFefRMhqXVgKdq1djbVc8DXcye86vIA9LUdogVAWQomAzC+3iFNfVWrcLIERo74ZodHSJBzG6zKNlvy28qf0zAg7QJPBcDphi/zA62dVvXWyf8vAPqSt6jX1XytrPnKGNUAvFxm6P6z3JIWLdswMcShlHrQJA6ARFPa8CqzSw8oywQsJHcOSsYI+iGWmo+w1HKMxcbj+BeauGdtOVfF7+am+bnctbSCuQf6WKp/ivlNk3xzZSlXRW7l6ojtXBm8lRn+27g6YBe6b69iZsRe7l9VTVTpANnHfkLZxV+z8+APeWK/ngc3NDAjOhNd6AF0AZnMCMySpCxPbuXaoD18LbGQR1Z0MGuHjdiSCZZ0PM0W54vsP/YGOefeJvfCWxQ+/xPynnuLzIuvsuvsc2w7+QybT55nw7EzrJk4werx4yw/OMmi/kMstI+R7phgnmmE+K4BaQDS6SCmzUZkk4mIOun7El4uAVAEnQg/NQhFAAbkdbshWCgBUAw1CH1lfhEVkhBYC37ShFe0u3I/9tzr7VN+VWeHau8/NfSihRsy6p/N6VRB4VWSEaq69ydqDf9ZAIoQlG8mK+8TdIBJzQMktHiGWgQtGyLENjhIbBkipt5BYsuwslGlm6p8VOvn1BNYKbSNPNVPYi0toLzPKkpw1BCdyiJe0itqT3nlv78vaF2urJXDF5i1wBha4d7NleU/PsXMVXav0ncqSyx1Zq1k6MWqKPM0gYissxDdYCOm0U5Mi4PkzkGSu4ZZ1HeYlc4zrHE+xXLbadL7TpLUcpCwCjvJTWMsNZ5hQdsk962rYEb0NnQh69H5rUEXsJEZYTvRBWzl+thMvrakjNBiJ5ucL5B5/G1yzv2Y3UdfJrF5lPs2V3N1SjZXxOxHF3GAK6KyuCY+m3tWVBNffpBdI6+zsP0k6/svsXfiTfYde4P9J98g69ybZJx9lR3Hn2XHyWfZeuwCGyfOsf7wKdYdOsnqMemo0dLBQ6QPHGJR/0HSzCOk9g6SbHSSZBggqXuQxC4nMa1WopqsRNZZiKh1tx0iKqQsTYSfnA3K4AsqMCoRWF+H9EcAACAASURBVOiOoKIeN/CK3VcV5fOyoeXSne2wCqvHz6p4YTHCBR9F6Kua7Lpvfhg1p8FS39BMTKWF2CozsVVWj4hWQU6MqFpvG3t59Uwd8rEj+eCROqIrrV7w89wNdg+FIsosRFXYiKnqJ7baobjBRDe4S9SEhgHi6x3EuaCnHI4XDRFc5XFy85DX5scXDU0Aarmq+JaiTH3KUcvWSd3kF9fw1E92rfLaM7xL3a+qzydmjNPRD3qeCPUEoPJvr7Irt5cVM1oNMwQxe9YyRlWcdlQAdNtiSX+viFozUfVWIhqsRDXZiWuTDpDP7xljueMEa0eeZt3oRTaP/YB1Q+dZ5TjH5rFLbBq+RFrHOPesKUYXuQldxCZ04VvQhW5BF7qdK8J3cseiEkKLnSw2nGHP0TfIP/8zCp/9GZnnXmP1wBliGge4a105X1tVwT3rGvjuXiOhxU5SmidYZ7/IvmNvsGn4EjuOvMSe46+w49iL7Dj2PLtOPs+248+wceIcG46cYe3hk6wePcbK4aMsHzrMUucY6Y5RFtmHWWgdYb5pkJQeJ4nd/ZLTS4eNuHY7sW02YpttRDfYiKi1El7j/XOmJV8RgSgCUAaf2POToCfd1JHOSlg9Qq2xVVcIcr/P11RX61CRmM3JwJOdluVQvq4KaOrjWWore3VMB4Dqm8BaAHRPve3EVPUTVzNAbK3L4KPRvbEhAjDOBb8EuRx2haIR/GoAqL3DK+7yftGYKvvTKoOnC0DtIYyn3k8NJnXfTl2OTjXt1c54L1+SqwGothsLqzR7PEG0WgfqzMEXAENKerwAKGeBoRV9hFX3EVlnIbxeiuhmG3FtDlK6R0i3HmX10DnWH7zApsPPsv7gBTaOPsPeE6+y68gPWdJ7kke2V3NF3BZ0MVuYEbsdXdgmdFE7uWNxEU/uN7Dz8BvsPf4GB868SdZTr5N57ofsO/U824/9gM3jPyDNMEFKxwTzOo+zzHyezSMvsWviFTImXyHjxGvsPfYKu4+9xLajz7Nl4lm2HLnIlskLbJx4irVjp1g1MimBb3CCJY5DLLKNssAyzALzEGmmQVfWNyDt+XbaiWu3E9NqJbbZRkyTVYJ/rZjNu8xkS/oIKOqZEoCink8NPnnS6wafnfDKfuWFLbzSpvz/er74e0JQPEauZTnvS4JyOQDKJbV6sKFWLWgJ9D3VCt7hLlf7lXU3RVfoZY7gCT45+4uvdZLQIBkSxDW7y9VE19aHGoCJ4iBEcIiWf98/G7rLZVi+wDYdAKoB5ysD9N5w0H6ya2kTpxI9a0HQFwCn2gD5ogCU+nAmD8h7lbYuAGrJjjwyvMv8/4SUeEJQBGBIeS+hVb1E1JoJqzMTWmsiosFMdLONhA4nab2HWGQ+ylL7CVYMnGaJ7ThLzJOsH77AtkPPsc55nu/ub+TK5G3oItahi9qALnoLX19RRGixg1Xm82Sd/Qn7T7/G3pMvsXPyGbZOnGXj+Em2HD3HjuPPsu/MK+w7+Rp7jr/KzqM/ZNeRl9g9+Tx7j15i9+Qldhy9xNbxZ9gwdp4Nh55iw/g51h06w+rRE6wYmmSJ4xBLHIdYbD+oZHupvQOkGp2kGp0kdfWT0NVPfIeN2DaLVPLK09466QUgpNLdJ5a/z/6FRgIKDB46PhGAco9QFi+r+3oiAGX4RVYPKFcVZQCqf/7F6iNSQ3enFiL7utj2RQEoy13EExFa20pqvaqsmfMVoq5QDUDpsZXoSjtxNQMekVg/RFKTK4NrcRsWJDY6vTLAxAbvWyEyBL80ALV6eFP13HxJNaabAar3gcU/y9eTXHv6KQNj6pJdyw5LPcWdKr4sAKf63oRWmKZcN5R3rUW7MbVbd2hpL6GlvQoE3Rm963tR2UdErZQFhVX3EV5vIbLRRlybk5Tug6QaxkjrHWexZZJ06zEWWyZZaj/BGudZ1g2dJ6zazN2bCrkxfS83pu/ljpX5zM7tJr3nFJsPPs/G0QtsGn+KLUeeZtPEKdYfPsqasQlXTLJ27BSbJ55m+7EfsPXoM2wdf5qtE0+xbfwsWw6dZtPYWdaOnmHNyGnWjJxk5fBxlg5MsMg2xkKr1NtLM4+Q1jfMvJ5BkrsdJOrtJHf2k6iXwWfzAF94bS8hldKxLVkfKn9/AwoMSvjndxNc2POFAOgFwXI7kRX9RFcNEFPtJKbGQXR1P5GVNhckzUqEl7tlJbL2ztd0VpSrqCEobmJIPUA3BNVSGncvz6xIV6KrrZraVK2VTV/ZnxKVdqIqbESWW5VSV34s9fwsxFTZiK91eERSwyDJzcMKAMUMUKsE1gJgUtOXg19C8yA6tQv0VBCcLgAv1wMUzVd9SWymgqAYvqbF6iGFr1J4qn7gdDJA8bGcZYgA9PVCIP/7xZsq4qmBOfmdSkh6P21Jkgi/4GIxi3QDMLLOpgAwrM5MRIOV6OZ+EjqGSDWMKSBcaBpniW2SdOtRllqPstJxgsV9R4issxBQ2kVARQ8RtTbSeo6yfvgiq4eeZs3IaTYcOsPG8ZOsPXSEVQfHWDk6woqRUZYNjrK4f4hlznFWDR1j9fBx1o0cY93IUdYOHWLFwCgrBydZPnCUJfZx0m2HWWAZZV7fEKm9g6T2DpHSIw02krsHSNT3k9DpIL6jn4Q2ydU5vtWmDDoiXPALrjASUNrF3KIO/Iu68CvUuw1887s9IqjA6DH4EAchHtNgDb1fRIWVyIp+oiodxFQ7ia0ZJLZ2gOjqfqKq7C4xtEmJsLI+wsp6FXFxRIXndFZLBD0dAMoQ1AKgMviQp78uVxW1UFgeQsgyEjkL9AKeDwDKEBRDAqIk9YmttivwS6gbILHeSVLTkPRnNju9eoDKwKPeoWSAYgn8lWWAWvD6IhBU/76pymGtA0xaGjdfINT6+HRdXnxp9aZbAmtlmeohkFi2arngiOtu8vdBhFtQaQ/+Rd0e8JPPDqgv7ymgc4HPezPH3RKIrLESUWslrNpMeI2FyDppMBDfMkBSh5PE9gFiW/tJ6HAyz3iQtL6DLDCNkW6bYLHlCAtN4ywyT7Bs4BSrh86xcfxZth19kXVjF1h/+Cxrx06wavSIBDzHAAsddhY67CwecLLUOcKSgRGW9I+Sbh9hiW2QJTYni8w2FvTZSDMNMr93mBSDk6QuB4nd7kjQD5CoHyC+o1/J8uJa7MS1SMvv8nQ7qkGadofXmAirkv6vAoq7FfD5FXYpGZ9/fjd+eV345XXhny9JWr4IAEUIyr3AyEobUVV2JSIrbcrWR2hprwt8niFJYdylr6/Mz1dZ7JUBCkJqLVG1h8uyYDslauRE6yh3GTx1CSz39aIr7R7hzgpNHhCMq+lXIBhf74Jt04AHAMVhR6LrLohW+ZvSMvyvAaAWBKfq+U23dFYDUGv/eLoAdG+qaGsAZRBONcnW0gdOBT5tCPoGYFil2cPrTxSDiwCUMlnp+xBQbFAyQPXRKU0T2iIDQUXeHxP7omoARtRKspDYpn7Ca0zENtuIbe0ntrWfpC4nqcZh5veOsshymOUDx6TydPQM68aeZs3oOVYMnmLF4CmWDZxg+eAkSxzjpPePsWRghEWOQVLNFpL7TKSabaT2WZlnspNm6meB2cGCPjtpvVbm95iY32MlWW8nUT/gHl602Yjr6CemrZ+IJgsxLQ4iG22E11uIqDUTWSdt00hZtKtNIdyEli3S5MxP/p4Eunp+agAG5LnLYHnqK78te/XJJbAIwak2QOTPlQYnPQoExWxQDi3Ley3o+QKgIn1R3991yWu0ACiC0Hfp6+1XqRWx1Q5J0uICoQjEqAqbMhlWQ1A+i6kGoNewQ1iFU8NPvgv8pQColY1N2XS/TM9wKmhqZY9aIurLTaY9IegWAvsXdeFf1KUcbNeS9ag1jh57tKrSVwt83rIh35swYhaohp8yjVRNtdX9P7l004o5+Z345XUSWNitlM9iz1BuEYgZsFzuh1T2EVxhJLLOQmSdhagGMzFNVhLaHNIx9Z4RFpjGWGw9xCLLGAssB1lgPsQi6zjp9iMs7pcizTRGmmmM+Sbp4lqi0UqCwUKi0Uqi0Upyj40ko5VkgxQpXRaS9WaSOnpIaO8lvtVCfGs/MU1WQmt7CamRy3Q74fWSW3B4jZWwKtdUVcmsTC7ASP8P8kW3wMJuAgq6NMIzA/TPdUdgvmHKjRAxAwwu7iWoqEcJtQhazgyDi3sJLDTin68nqMhAaGmvUAa7M0D1FsXlhMRyyH21BJdYWAaeB/Sq3EJrteZPBqD6/KvYFpJ+ZryrF3mVLKbeIclZXABUZ4HRlXYvAbTHdbg6hwJARbTsgpwCQWEV7l/aAxQzOS3YXA6Evj52uSnyVF9nOkMRGXx+hXrmFnQyt6ATv0K9ly2WryxRS0Kjzv58icWnA0AtP0Q1ALUm3OphiBb8Zud1EFDQRWCh9HkKFF0QlN1itOAeVN5DUHkPoVUmwqr7iKg1E91oIa7FTlKHk9SuYVIMQ8zvHWV+7zBpfSMssBxkoeUwCy2HmW8eY57pEPN6xxTPvcQupzSR7bYT12UjrtMqRbuFuHYLCXK0molvMRHb1Etso5XoBhuRtWZCKvukv1elidAqMyEVFkIqLASXWwkqMRNYbCK4yEJwkfRrUGGfawouAVC66taNf75eI1Tlrwt+8maHCECtkCEXVNTjIYoWxdFaAJRfoEJKehT4iRmheoVsKi8/cZ82ttpOQp1UHibUOxSnaHGPWM4KRSGxLDAWrefFHXXvuzneGl63fX0/sbUDmhmgHFrwcwPQNXl2ZYAiABWpi0YG+JUCUE7b5f84+dVVDnW6r56GXS5T9JUFavUNtdbpLj8VNij9HhmAYhYoglAtmdHKCKdjsiC6z0wHgNIqoNXjh8w9ZfYsn9WTbtH5RQ2/J3PblVJ5boHe631yf1EtrXH3C7uVf3d4lWSeENso9dgS2hwktNlJ7hwgqctJcvcgKYYhUozDksNy1xAJ+kGS9CMkdAwR1+Ykpm2A2HYHse0OolosRDT2EdHYR3hDL1ENfUTXSxFb10d0TQ9R1b1EVbvALP67S2WdXh+BxSYCiswE5Pfhn9eLf14fAfl9BOWbCco3uXZ13cYFAXl6/HM7fYZfTodHyACUS19fIYNPzCQDCgzuUrrAQHBxr/LcCC7udX28k4CCLoKLjR4TexmCWkaoWhFe2qdkfjFVNuJq+j0AqDZRiBclJHIfzdVTU7JG1yFycRNENECQHrsyVZUQOrraRkyNnZgaaQCkRI1DCWkY5P5cCZjuVTcZgDGNduKbHSS0uI0OkluckutL0wDJTW4DVPUu8JcvgQXw+QKgGnxiE3g65fJ0xdNTZYS+MlMZcu5pn16yOXKBbioAqjNANQC1IOj9tb44AEUxrC/4uzNcg0dJrAbgrJw2ZuW08UR2qxJqMMp9RHVJLfcf5dU5qedjVw7NxDbbSGwfIKFNgmJ0iySkjm61u3qGA8S1DRHT4iSqyaFERIOV0FoTwdVGAiu7Ca7slpyqKwxEVBqJrOglvMx9kSy4WIJXYGG3BJriXgKLTfgX9hJQZGZufi9zc3qYk21kTrYRv9weAnL7CMzrcwGsSwGfX04Hc7LalJib3T5liFmgHAF53d7vU5fQAgCVgYorE/SEpZ7Awm6Ci42KZlMGYGhpr1Liqg8bqUMNQGWqKpS/IvyU6akAPxmA4u8Rp8TygXhxUq1kqqptEAWArul3XO0QcbVDxNYOKPCT5EAWLwDKe76xDS5HZ5ejiwhA2fYqpdnpBUCPXeAvXQJrwG0q+Klh+VUAcKpd2KlKZDkD1CqB5SzQVxksQ8/XvZAvBMBS700N7xLYDUDRfMFXS0D+OmoAqkH4/cxmvnegie8daOL7mc08ntXCrJw2nsxtZ3ZehzJNlktBvzzpsVw6e0wkq6SD1NH1VmIabK7bwgPENUmGChF1UqkcXi/tF8c29RPd0E90g4PoBgdR9f2E11iVUjawrBu/4k4CSvQElOgJLukitKSbsGL3VbRg2WoqV87Eegks6FUyvoD8PubmGJmT2c2T+/XMPtDFnCw9/tlGAnIM+GV14ueC2ZysNmZntvLkgRYlRBhqAdEvR+/RD/TP7cIvR6+8X/k1zzMUPWGe3iPrDMjTqyyzjB5aQ3WoS2A1BNX3QdQW86KERg0/OdNTHFWEo0o+z2yW9nieyxQsrTT7eS74JdSPkFA/QlydU8j+7Ao0ZQAq+r56l2NLs4N4l5FBYqvTKwNMaXaS0uz81wFQy8VCbPj+sxngF5kifxEAekPQbQklD0FE+F1uCOIrptP/CywxEFTSd1kAhqt2MD1lOFP3Rady4/Yr7OKJ7FYFgo9ntXhkgrNy2rwAKMIvuNgoWDNZlR9WZULoAqFycKbOQmStmfAak2uSbHNNlaVhRVi1heCKPgJKjfgVd+FX3MWcgjbmFLRJN3QLOggu6CK4wH1IKDhXL11Sy9a7Dgp1MydLz5zMbuZkG5iTbeDJzC5mZXTyREYbT2S0MWt/K7P3dzB7fxuzD7QwWwDerP3NSjx5oIXZma1KaEOwUwGeX46eudmdSshv++XomZsrhZj9BRX1KKW3mIUG5OkVn0FRVqMFQPFGh1YZHF7apzxWr5lFVViU28HRVRbiau1e8FO7zWhpCsUVvNASIyHFBvfdYI2bIsqlumq7Ar+kxoMkNR4kocEzC/SEn6ehQXyTU3JxaXWS6ArZ50+GYGrL4L8WgOI0S+z3adn8aPUDLzcE+SJZ4OUE2dqDkqlB5WuKO1XZe/nJrxAyAOVQAdANQV8mDNp6Sjl8uXDLUHwyt53Hs1o8Mr8nsluZldnCk1mtHuBTZ3/BxUbFyl1y63BlJBWeRpmygFacIkt/b5PwvXP3F/0Ku5iT38HsvHZm5zQzO6eRuTlN+OW2EpDbQVBOB4HZegKyOgk40IZ/ZhsBWZ34ZXUy50Ans/a18WRGO3Oy9Dx5oINZ+9t5IqONx/c180RGC09kNDFrXwuzMpqYldHEk/ubNUOCYzNzMluYk9nC3KxW5mS3MjenTYopACi+TwagVrkrGqjKIJSs8mVzVc/JshYAp+oBigCUjySJrsuhpdLR8KhKs0cGGF/X72GoKoNPbbKgfiwDUIGgxrU5GYIxVTbi64ZJajxIasthUlsOk/z/2jvP7UaOZM/36+y9kugJR++7dfdBdkZqQxKGAMimaXoDD4Les3Vnz+4rxn7IiszIyMiqAsnWaM7OhzgACo4AgR/C/uPwD5jde4LpnQdVINHgu4fZvQerx2/mIADfySPMnzw6AHx//BgKwIWjh9cD0JH3IfCTSv0ODCPaYLrJA8YFoJ0rkz0zvhVOglkc4IXD8NSEwB4AGk/QJ7oQ/vp5dZgXR3pzVSv3h7nBnsVj6F06gYFcTVt/tgr92apOzCeK9iws7qcdWXUnFjA/lF5VoMPQGauvQ4W61XbSn61A79Ix9CwdQO+isv7FQxhYOoGhxQoMfjmBgc8VGPh4BP2fjmDwSxUGv1Sh91MVfv7tGHo+VmBgsaHhp+zIADCwn3/fFyHY+/kI+r4cEwgeKwAuGvgNLFdDAeiExlg9zpvKMYUDD13Vnt8O8BE7PV5Xsnf0hgEQH5O3ySDAcEcH7wGkfYUUcng/Gu5yAKZKLes1oXK2CsevYHLzFmZ2nmHh4B/w6/H/gf86+b/w4fgfMH/wHWb3nmBm9zGA3gPM7T8GZvr8Zg4eYO7oCeaPn2H++NkKf+MCECvBLz19lyh0YDh/aiV7JRteaep+M2ocShR4YaNyL2l/+StaXGCH/RD4fjRMnrPtmM4N5qowkKtC3/KJtv5sBQZyVRjM1yKsrqXd8cMdVonUX/Qy8XpWGjCUr2kbLtRhKG8qrr2LxvsaWDqB/kVlCKf+TycqlP1U1dbzsQI9H2vQ87EGv/xehV9+P2F2pK1X319Z3+eKZZgjFE8Xa9YOX9zrS81ac5k3p8l8G1KFU32aXulApnjm2Ei541imdKpNgqeUA5TWXaZLCmKjqx29vHxiXWkDTm5cwtjamb5O5V1bkC62rIXn9DKaWooe/I3B/uL0Ske/ztHyBUx8vYWprQcV/h79b3h/omz+6L9h7vAPmDv8A2YPvsP03pOy/QeYOXh0bOHwWRsuQFL2oG3h4B7m9+8sWzi4D64PliW98PSdgp8LQD4ziWET90ReEu7+G4Dy+8EvxwEgwmwgV4X+bKUL+Cmj+y2wnYSaCEAS8iULDUjk6zCcq8FQtqptYKkSeF0nCjiBUQD2fTmGno/KbPhVCPyqFgTN9ep+fZ8r0P+lqoHW/6WqLw8u1fVxn4XBb2g5KM5km87OX4QBAlCEX+lcBCAF4WsByOE1tnYG41/PYWztTEMvtWL+T4l8HZKFBqRWmvp4aqWp4WhMFaro61EgPIdM8QLGVq9hYuMuEoAz+8/KCPSm9x+0ze89B/aoTFes73QLjGQGkE+vsndDuTYM5cy+A1rq78/S4XEV4lhjWIH4Zrdh7v/PAOTvk89LDgOgNDFCBRRom4tvikQJA5iKJd92hvksCYp0SVCy0LDgN7hcgYElBbieT4cadLpYEYSoOn/3ESFYsQzBh54gvx7vh7BTBZS6huDgUh2Gs03Lw/OZD34+AFKvjwKQLjzXi9BXZS8Q7S0BSD27TKmtf5jw/zO4XIHB5QoMZav6OIUinleXm5BaaVlwV17gGaRXzmG0fOUAcOH4HxqAswffRQBO7z/A1N69niWe3XkM7F6ZFkC4hbm9WwF4qjCC9moADmZboCCoep8o/GjiFxPodBE6lWiK49X8G4CucQDyanBkCOwZl4sao0OjbRvUsL2DX0+PD+Xq4pdrcLmiAciB9/Pv+5ZhKPsSAGLISwHY/6WqvUI89lL4UQgi+HjI6wPgaPkCxlYvYXT1TFsYACUISgUICYAY5lJPMF1sQSJft36YqFFvnZoBZB0SQXsSvj4FfAVBBODMzjPMHf4DFo6VifALAIheHwJwavsWZrYfArvTo30UgDTc/XD0CL8eP8Gvx09vC0BlDavfCQFoxoeCRHqhbi1Dj8pt/RuArwcgF0wNAyD1AOOYBEAKONrfxqGYKDSd0Be/RP2LJxb4uGkwagDaniDN+UmeH/UATQtNHfo+Vyww/mgA0vM+AMbxAH39f3E9QPT60KIAiKAbWDphVoHB5SoMZWuQyKvXn8y3dR4wmVeWKV7A2FfVCD239we8P/pvWDj8A+YPvsPc/rO22b2nwB5gZvde2/TOnaoOEwDO7tyT5m07BKbwoxB8NQAHlpugrO70O2HJH0Ng6gFSAHYT+v4bgOEAlELgsDCYe3lUSisODDnYfPCjcMTQOFW0wyzqDaIHaHl7Egw9APSbDUD0/jDcpR7gawFIw18EHxoCAc3J/QUQDMv/ZQTIdQtALGLQfB/N+VH4ubA70cUpHwCHs00NwFThFBI5ZanCGaRLFzC+fgvT208C8J50O8zM7qMIPx8A5/ftAgj3/n4IAHUDKGn29BVB6DL0l8DvzwRgnJWe/0wARhVBKPDwvZemQySxhDgApHOyEvwkAGKjb6rYtsCH5ykAf/ptD376bc8JfX/+fR9++m2PwU8qhtjGq74cclKB4yUARPghACn8OAC9BRBSBKGVX8siZoC7AWBqpWnl83h6AoHXv3hMeiPtIhUCEF83ff3JfJvkQTuQXDmD0bVrmNi8DyD3SIBnLiu7c2xq+1ZL5PsASPN+HH4/BIB9yzWr2x1P1ZymK80uTTD8G4DxLLnWiWyD4ZMg3POTRuS6MRQFCBMPoHDE26MXyEMq/NL1L6opDV+zMuYDbfjZ7TCy2QDEqi+tBMeFnw+AHH7c+6PGwUehOFI694PvjQCI4e9I+VQDkBoPgRGCEgAHl6va+8PXLqUA1PtxBsmVM8iUL2FsXanCYPMzhaAPgGou2OgJaqHU3TuY37c9vzB7MwDqhs+8vTcBm6FxgJsD67We30sByEHGlZLD94i8HQhf6wHy94BCkOf7pFG4boEX5gFK3mCYsspgtqbzSBhKmS9aRVd/sTEZ219++XigPUOsDnOwuZ7gsX19cD/eBvMWAOQQtHNgbQuKI6VzB3wWEIN2knSx7cAvHbPvUoKgboYOcozpYluFrEHxIllownCurqGGLUi0Io/N4gNLFf060eujPwCYX6XHh7NtSBQ62gM0oDOGMEQATm3fBgoyN2Y8LvAAsQpMPcAPR49WFZh6gRgeo1zWwoFpoZGO+cxpg6GKFjgNgsq2mTXXS3mL8PetAcgh91cGIH0M/piSGsxrPT7eBhMFuChZqTgApF80LI5gGExBRi3M8+v7XNHtNX8WAGnbCxoCz5cPTK90vPDz5QC7BaAupjAA4nkEIIUgbUkaWKrAcK5uvRaEHjaC82KQOj2FRKEDI6tXML5x53iAZhTuXo/EUQDi5bAQWAKg7f09xAadF4DYCI0LoPlcsBFEUIq2Yb1rkvmWJ/1oANKKqe+6vwoA6WvCx0yuqfwf9/Q4+HiutmvzhLyx9fRYJZEDUE98LJ7oLyJ6gb98PNBw5ADs+1yD3k9V6PtcC4xd/08AIObBeCVYAqC+/IMBmCmdagii10dtKFtTIW1wnv8wDWebkF7pwPjaFUyu38D42hVkimdW+CsDUI0CUgByo9qAove3c+cFIFZ++eTHmwNQeX+nWhRSmgumAIy7G5gDMAqCPwKAYfZXBSA2l0cBUNpy5pviiQNADjYEoXTcug2rMFIA0omP/sUTGMrWNAD5zO5fDYA89yUBkPbHid7fnwDA0dUzGP96AWNr55YXSAFIzw8uV/U0Tv/iCSTzbRgtX8D05h3MfnuAma17DcFkvq3DXzoWSAsjEgCpB2ggaOBH9QEV/NwqMAJPAiAtgvwwD1ACYGat+5D3n+kB/qsAkIa8Pg/QV/TAxT5UwBMv+8we8vcD0GeWoCgBIC2IYGJdAiANwzQACdBMGOzO9lq3qLBDngAAIABJREFU/ZMAyAsA3AuU8n96fnalFQrB1wBwdO0cxr9ewOTGFUysX3q9QAo/WvAYytYgvdKBsdVrmN58gNlvTzC9+QDjazc63KfvE5+GSa8EOcAN2s5izF6GfgtTWzeWoKuSxrcBiHJeCDycA5ZC4SgPMFYOMLlyBqmiWQrNJa8kAHbzBf9nFEFeAsG/OgAlD3Bgxd5tIUFOhh4V/ayJYDOCof7r+pdc8HEAohdIQ2DqGVLrXzzRfXxeI7d/yyKID4h8BpjDMCz/lyqcqnGyEAhGAU8SRrX2hHy9gIn1Sxj/egGZ0ikkC02dA6TeIAXg4LKZ9EivnMNI6RLG125g4ustjJavIFU406EvvpeYCqBFoExRtcFMbt5b4JvdebQgqE5vLQjGBaBPBEFL5Qcq11z9OnYRJF26AGVnev2fpAqtF7qQHrU4AIjy+t4agHw/7r8KAOlrwvN0UbpvzI3KNnHYcUknrnGnTPbs4poPgDzxPrBU0fkoegxDMd2HxkQNqP1ID9DnFfKqqM8r5N6gDpcLTT1XSyvC2l4JQByzC4MfBSAaAhBnezPFC0ivnEMidwpDyy0YXGrC4FIT+r/UYWCx4QXgyKoaiTMg83uACEBrMZIHgAg7HImb3b2B2d0bfdkcv7OMgjAWADPlS1CmNMp8e09R/61bAEZ5e28FwGQpgFpRwQ9P1XH59C0AKC297sZS5WCP8Kry+PDvSpbagdpLAL2cUXbWFdx8Hah8OwUgPc7hZ6sevxyAfYsnkQCkXgcCkPab8R403tDsgJDkr/oXT94EgGFhMUJPCoslgQSaKxzONi0AihB8JQCxnSZZaOr3lwLQyQGy15jInUIy34FE7hSGs20YXGrCwKJS5h5abnkBiC1AI6sXMLFxY8HOBz9uM9um/8+eA7YBOLt7AzM716Kh/iEugTL3j5kDVCsG/dvfzKJne5kLfoHjgEoClw9k0vXqvBEktQRPS8pSpRYkik1IrDRgeKWhdOoKdRgu1GG4WINUqQXJcsM6xZ2y1mOutWF4rQ2Jr6eQXO9o0+sl1zqBMOipUuP1GEqKa2lxch0KU2ZW1Yc6WQrkpYotfZooqOkbPB3KmbaVgVxNA2tg2XyJafhI5aAkb0qPjDFPjEpYUYjx/BE3/PJxyPEpA/y7dIWR3Z4+lh7IF3JYUeZ9ftbwGwW8qPygTzWG9xDi3DC9nCmeOWrSXJknTCAhVWxbI2/KAuARj9WGvALbcLatevlyp3qMED8r9H/EQ2D6GkbLFzC6dmlJ9Du7f6mxxe10lzGqWWP4iyEv9QARePQ+FKCSLew/hdq7VOkCUqULB3y482NEL6LuiBYFsaiG5aiihDlmQEWXHVEF22Sx6VhipQbJYh1SpYZjyXJDQ1ACIJoPgJlVFI+UzYhL2ppt1OgXgEtR0fEzXqxAD4x6LlwPb2i54eTUKPx6P504OTVamOBjUj7YhZkDSu5JEcBx8GFDL/do4oDwpQCkFqdNRmqb8Y3R8XA5VXDl9CUAogwZBaA+LgBQ8vSGllvMTjUIEXRhc9SoCkOr3+NrV9bCdnH5eQj8uKkpkDsLgBj6UgBSr497lNqbDBqrIwGYLl9Cunzp3frmAyB6hFL+jQItTMtOytdxAJr7KvDh8iOEIPWyKATNYpcmZFZbkFltBasYW5AuNyFdbkJqtel6gSEATH01KwMzDIBUbVfSaHMVd5XhhztKkYWHqLgBjf5a81/xoeWGVVGlVVU+UcH1+iQI6jEpocrYjVG4odHcFQ8bcXsch2AUCKMASIHMwYfvZVwA+h4jbK44mW+LGothIrVUnp4CkP849H+pWqOCNKylhiFv/5e6bjnCsBfzgAhKzBdqPcCv19aGOr783IKgB3o8dDXFjTsn96cgeGvdRwqrXwVA/4pMs9M0WVK5NqoQTds1qFqMtMfCqmISEIZPcdib34bLKoTloSZd6KLCzTaMfj3VhhDMrLYgvdaCNPEuE6vtrgFIgcYByDXa+G3TRfvD7xMjoB4f3XLW8/nI+bXmYYwFO2Y9H91KLAciDYclD42e5+aCD29bt+AnGYUfhSC2eXDv8qUA5B5bXABKxROau/RJ7tMwcjjbtABIlyr5jAvTUgBazc7B/53OWHOwIfwoAPu/1MXbDWfbWgsQATi5fhPM8t54LQ4A7bydG/ryogeFYBgA53YfugMgL4DYG+IU9NCGCg2tEo3nUTOQbh6j99HQJMtzcNcIvW2y1BYsyPEFliq3VR5Og05BCQGIxxB8Y+sdGFvvWBCMA0C+QpMCMF1uw+hqG0bKLRgptyBTakKm1ISRcgtGV+3r+G3SxYYFwLC5Ww4/a+/t5wr0f6lbVTtq+KuOI2X2Zbcdhc7uSgD0eXPUc0PIUaksdblqnaoVmd0DUAqbpbxknBDY2vkhQDAO+KJk92kejXp/iZyb+vAZgpEDk3vPiXxDQTD4ITQ/dqimU7W8PPoZ8XmA6AVKAPQVOV4CQGVu1ZdCke43nt6+0YUUCkCE39zuA7w/eA41KwfoW4mpNt0bUFHo0ZWLHIAcghx+HIASMBGAqXJbFzySQQED83C4G5Uvdh79egbjG2cwsXkOk1sXMLF5DuMbZxqGY+sql0e3vcUBID4vAlACne84hWCmpHI8fK+sD4AUfAaANQ1A6QMtfcANBE/EPCBVbaFtKmEA5ACjADTQq0KyUINkoaYvo1cY5RFK4bI08hUGQ6nQwqu5cYogEvwkVRoph2a1yOTbseEXBkDp/aHrAHDdKBWX8Knt+EJgrQFIdoJMbdx6AYgQlABIPTgOQN7uwoVR6c7jmZ1bHery/N/c7gPM7z12D0AOPwQgB5f2AAUhTZ7P8iX3o9x9a1uZN8Q1i6EnNi81BJX3Z+A39e0Spr5dWiAc3zjT1dyofcLa82MAlADHAYjnORAVBFWzrBQy8vEl3fxLZ2zJhxUBSD29KABiJZhva+O5QNpA2w0AOfiSKxVtLwVgGAyjijBOKB8TgNw7lMDHCwj0vrptpHRubVh7Cw+Qe87JQhN4/6JJj9TZZ6DqfF5ovpAKoI6ULmG0fBXk/25hevMuFIC+IgiHnwRAPv1hBFIf7cbnvUeY232wIEgB+OHwe6i9S5cvYwOQenbaIqDn2ykRBUC9dAeTv2RbPT2vIHepy+LjGxfW1nsMfxF4GAajIdCi9gH7AKhC2YYOfSXg0csuCDu6j8tXNAibnqAfVgyB7Rna8BB4YNGGBH0eLmVFG2i5hQEQ4ZdaqUOqWIVUsaogWKi9CIC0p46HxT6vkJu+nVC5jSp6SACkVXbe6pPItSBTPFMS+eULa2okLgB5DlBXiUlqgAJQkrZSf79b/ODQw/YYBB/CD6dFxtduYHL9Dma2wvv8JACGeX8IQFyGxBWhUf/Pkr7af7IgqGW1ugFgunzpDYGHV9qByaGvTz0Yj0uhnbNXwuMRWr90xab2+lIltY8WK75j6+e6P2hi89JaBD2y1taFEF4FTpdVLpEWeHxN0boCThtVy231pSbGYci9QRr+qlxgW3+RfV/iMD03XzIbwx1fqIMae4NLdbFwgGKmPk+QQkSu3GKCvmp7gcQDVGBsaONhM70Opd7dFY9ydThuy47P6wsDo5T34xDEsJeKo46WL5RMPtEQlBZSUQurACeIB6whSJqVfeN79mtuObk+CsBM8QJGy1caepPrdzC1cQ9TG/cwvXknFkEmN1V1mPYGSi0vcsOyHfK6itDf4cPRM3w4UnuEKQARetQo7H49+sMxbxGEe4A0j0dhKG0Qozkter0EwDieYKKg4De2fg5j6+eQLrf1Au6hfA0yq6cwuXUFk1tXGn4mFI4C4KkDQApBnFTR0xtUjrzcDr6gNRGCWOywgddg1ysA8kQ/92w4BPX8LCt6hBU++HEMgXnvH9Xs44uMaAiOXqFcHUap/BMYzlVgOKdCXg5ArmBM4YfAo9V1rKAbaPrh99YAjBsC08ZhDr/R8oU1Kxw39KXeH22MdrxnBrowMQeUtkfY4VQI5vkyxQsNPhRLmNt+JvYIM9t3FvQmNq50XyAHoFW8CLw/Ll7gW39p5PD9AKSeH7fYbTC+SjC2v/BqMG3j8IWxUnJfAqC0f3YwW4NEoQkjax0NuczqKQzla9C/fAL9yyfaC6Sen5m6cAGIEMystiIB6Iy8IQCL9ItYs4yCEC+niw3RW/TOiBIwUnVfOrWhRsHsgkccoxJTPR8Fbb5AroqvsZSWGvFZXgMfvoHsREOQGl2oRCvGdGE3bSvC7Wf43kuTJ90AMG7oyz1A35QNts7gtIS1I5h5f3EBGAZBCWwSBLmMl0/BeqR0DmOrlzC+pvr8UCZrfucJ3u99hw/7f8D7ve/apr/dwuTmNYx9vTAircGYHk6ITGxchYa/Bn5PGnb/dfIM/3XyLCxD+m7gd6DAJoW/vmP8eFcA5L2ASdLIy3MTNAdIm3mp1hz1BGmnO+2O9wFwuFCHgWwFBrIVSKw0dNFjZK1jjZ9RAHIIZlZbVlO3BEC8rEcAA+8PwaRCspoXglYBwKp+VgHbQBCCqBBCF+kgBLG9wWrtWHQLGzSn4zMKw19+PxI9PLrPI8wkSSsFxWNHJVpBsBZ4hDb0+GpNhCACcHS1A2NrZzC2dqb33iYLjchRvdcCMKpROqzdhW+IoxBEAMXN+VnpIALBqJCXaxpy6OHfNLZ6aYFvcv0GpjZuYWbrHua2H2Fh9xk+7P+hAbiw+wwLu88wuXkN4+uXMLJ65p1X9gHQboBWAKTw+5+V794dIDoPKOT/aGVYOk4LJrH6ACUAapPyEoL3R0e4qOow9f6cOcdgQiJRaEJm9RTGNy5gfOMCMqunauY3CIOTxab2+HAaxPQC+gE4stYWJ1soBJ35ZwGAmJfiRrd08U1dZouayaFJkkkUgNQLRAAqkDUdG1hswcBiCwaX2pbhcXU7F4B8kXlcAPpAaIekFefUv5hbeYKplaboAeJ7G9XmEgXDqCJImJCCBD8lMNDS3h+CBY0CMI4HaE19sHxgumT6CSXBBhQ0xekTvrt4pKTUZMYCWS20ifVLmNy4gqnNa5jeuoHZ7TtY2HuEDwfP8H7/CRb2HmF+9wHmdu41AEfXzpVCNVvaNLp2DuPrl3rWF8NgDkElgy97gLwKTCWwfFVgPhHig6DYByjnArEfTwagb6ZRgqAEQPyHasAwsKbL7aCo0bHaYRIrDasqnCw2YbhQh2SxqYsgfBKEWhgA0fOzFFz0OkIMT13whQHQ/aLbhQSuGkJzg84s7GIt8OpaseDnQtAGIFrkLt8YAMTQOKpBmf4YUBCiZyjlAPF9VSs4w708L/jwfY9og4lSl6GhL532wKrv+NqVZZgDVDt24zdCc88Pvyvo5VEg0xwkHb+TijGoKD2xfmkZAnDm2y3Mbt/B/O4DLOw9WvCbDZqQaQ4QYSgBUGqApgBcOJC2vj1YwqiO/h8DoM/T80FQq8FQFehuAEiPJUttcdKDVo6xUZpPi+DjUCDRnGOy1NI9e9ZUSFANlgDoG4ULAyAHIZ9/1nDW86l10Xhlkyb56Rc9ma1blso1IJVrQDrfhHS+CZlCCzKFlr6czNYhsVyD4aUqDC3WgupdW0OQwk8NvBvjABxYbGgA+rw+vs6SmyVOyuAnTmBQ72nJ9vZ87yNCEBd/JwsNMLuIw+eOnbYXPsEiVEipR+WTyfJ5iNwDpOHl2Oql9v605xZRBebFRacIEijS8Co0/h1crov/XagoPbV5DVOb1zC5cWV5f+gBzu3cW+Cb+XYLM2zqA+eBKQQRgJNbV0bBJQSAtrd3b5kEQBr+UtBJUKR5QDQHgH4TvD8mkcUBKE2B8CmRMABSCKbKbdOzV2rBcCB7NVyoay8QQ2A8Zo/DnelTBT/lTWbKJrenASfkOo2H21YfRqJkgqGsCWnNl5d/ufkScQ5ACsJoCNYtAHL4DWc7IgSpB9jz8dgafaNwo/lASTCBApCHvlQRWgKgtmUDQIQdrQD7WmAoAOPNIXv6Fj2FAwrAqMqwpAzDc2407KRFkG4B6BRJAu8PC1o9H5VILPUC+SpP6p1OblzB9NaNAdrWjYbfzLdb6zyCD28zRSq/VBSBeoISADEcDgMgbYPhAKTma4KmBQ/aIuPKYRXPwahCG+PyWK7ZHpFvqJ+GstI/lFeBueZZWCI4VWzrAgreXg+JB9dnyqoiPLKqmqNH1841+KyWlhW1EkBptHUgUWhbezZMeGTaB3RVbUV9uHRjba6uc3q8p81UPytWMUAMz8gXlXsmxvtoem1gseGof9BGWHUbu4fNXU/pFx3l0w9clMEXOlpVVgYpqSiUsVIO/nE4H/DwGL0vfx66XjKsKd2xEBksDD3FfcFBEUTSEKQ5vCiw42eSNjdL/Xzq89rRbS5qqsPN91EAUjDObt9pw2MzbNyNt8OgNzixcWXdzgpLSREkrow9ve3c/gPM7t3DzO49zO49wNz+I8wfPMH8wRPM7ZP+wJ0nWNh91pVstHdqH4iBIJ4PL4iYoohU+KDG84McYPwyV8SNA0DMIdLnsQBIlsjwZC1WW2l7AOZn8INIP2T0g6U+TEwCHXdFBF8s3tDLG4NNSOzXw5MASAUuwywKgFGiqTzH5SsE+I77wkj9ZWewCpv0iDOBwoUUJODRx0f4UWn5sNFE57gHfJJcPgegzgN6AIhRRthrV7c71YrOVOiUQg8nOnCed6R0qUPgifVL7dFRowCUbJoJHtAwmIbDKJMlyVXRNhgJgPQ4Vop1JTiw2cNHBTsCP21BHyBt3REBiJZcOYVUMSocNjlBSb9OmuiQlG0z5Y4XfNSjC2sF8M1I0ueIAiD9osnd8qb5lf+6cil0DdLgy2XGk+ycILbKRAGQ5qo4AAd0DlAGXVwAchkt6uH5Wj2oBiH36ricVBwA+lRgwqCHEyeYH6RGm6Z5P6Gt2djRlVAKQGkyRwRRxNKksD3CHID0R9cxBnv9HgmfPf5jzo9h+8vY6qWuANM8IAUgNQo+7S1GABA9QUmwdG5XhpwEQIQeNkF/OHqGD8ff4f3RM8wd2dBbOHw2FoS6FIBoC7vPaimSAt8ZJAoq9EsU2mQEzjU6GeITQ5AAKK33CzsmtdeEdcrz58PHon1JeqF0cB0FYCLfEAFoe0l1HVqimi4NWWhYjI+LX1TaLmP6BE3uUAqDwyTOKZC7Ne4BSuEtDY2pjiBVluZAjGodcUAoVMC55yZ5eKZZ3IWeT5Ub22hQm1GdjwdArycWE4C+tZm+Pr5uACguZCeQlTbXRQGQw497gxIApdWXkvfHAShtcUPocfj9evxd24fA5o8V7MIAiH2L8ztPML/zBHPbjzC3/agAqODXVjtlyXLtgVxDX0ZDEdPBYjASJwCQT3n4vDwKO56T8/UXxhkbwpwgBSCFIH0exwMklsibL7S0bwPhKEKQfJFTK+4oFwciNjrT3jWrdYN5WMYbswGIIdBbAJAm1n/5/UgbimxKAgDdmA+AFD5RHqCkws29PJ9ILQIQIYifhSgAW5+REGhJ3h8vhqQKZ8E4mnt/KRQO+0HAXGkcGyl3YGztXAQgBZ4EPwuEHh1ALorKd3XoSi2bCaYe34ejZ+s8hd+vgfe3cPikPUAaBkseIAIQ4Te3/ahC4EShY7aJ5RoafnieGt9LK4XAXO0lKsyVAMgh6OuMl+DIm6q5F2iBl/ziSzO4FDhSz5cEPwQg9QDRA8EvJIdg1Eyrv/nWDYG7AaBPwJPuDfEBkHuEUiEkEoLZmhMG0/c/ShGGgo97eLRvEBuq3fUFZvpGKrbwUUXHS+0CgLwJWbXEnEOqcObc5yUA5H9jFABpD6AEQJ/3FxeAYdvgEIB8JpiHvBSA1gzwwSPMB0WQmYMHmN17gJnde21z+4+wcGh0/+gIH/UG3w2vtGEw34S+5Rr0Ldcc6GHfnrSX1gdAaX7RFwJTkzw07hHycTmpU97nbUoAxJEqrlDMPTJpq1koADEHE3wQqZdhVzbjAZAD2MAluuAR1wPkRQxbUfjYMi2kEFIllgQDnMIKUZaRKp6S3BMPgbn6Dqru4Pw1Fp0w7WDGFZvearMB7KlzvQXJkLlb2n4ieYDKC7wIAGhXazkA+WfLQNjuk4xKCdBc6NiaDEBfLjAMgDOkKToKgBSCXBmG5wN54eP94ZPuBZzZvYPpnVuY3L2F6Z07mNq+hclvNzC1fasrwhIAqb0bzDehP1uH3qUq9C5VnbAXVZ7jApB7fhIAaVFCys9RUNGucp4n5FMotNjCd6py2PK1glReiYoPOIP2UisHS1xbi7JZmwUF4Ei5ExuAvqosV+59CQB5WBoFwLB8IAeftIeEXqbhvq0m429v4UUQSYEHQUdbjngLkpo1dgFIDX+0pPlsWoTwFT54/103AKTNzPyHFf9uaVLGt4mQpwLUbPW5BqBkYV7hNGttEZWgPSrRHIBSHpDmAqlHOLd3DzM7tzC1fQOT365hfPsaJr/dwMTWNUxsqfPoBWo1mMDrcwCIoa7PEHp9+Zo2CkLu7fk2W3EPDgHog5/jqQlGCx2+KrMv1Mb7uNLtfGJDXsPIt4r5fq31h1/4kmVKp2IfIB8ZwwXgUsj5OvjJ+y84ALn3x0EoFUU4PGn4TPOKVG4/1uyuU5TwT4zQkTmuNqMb0YU8GjUKP+69p4vhSiwSGLkaC4bAtGWFipFK99PFlFL4WlYfFKmwBJ0DlkbhoirDtMgheYBhy5KcxehEzoo2K3NJq7ndB5jZvguAdwVj3640+NADnN65g+kd026DxQ9ukQCk4OMA7C/IatC8Eix5ZxyAtEWFWhgAOQx9C6R9t6drBf0ja/IKxjAA8lxOImeKITx/wwEozcy+NQApBMMUTwYWa473FpX/M55pTcwhcgDKogkGgFF7ibl2IJ8Y4WIL/IeO59C6BSBtMeGwspYf+UJZ5v1hP5/xBt20ioag/juj91JLudKxtbNQMYQ4rTFxACgtStIeoAeACDxJ229u9wGmv93+KACqkBdh15urQm+uKoCwCn15V9oqTh6QhsAcgByCUrvMa81qmA70/GyJKle5ZXC5AgNL7o5c3tfmG66Xml1VyMsWWjP4aQgKsutSC4oEsrgyTxIApTYYXwWY5kdxPIuCkwOw5+OxpTTNYccBKMGQN5rT/50SS6jo/93gcsWZzHkpADUEhbYTamGfBWxips3L9DIC0Zo6ol6gAEAe9voMIYgN4GGKMGEQ5ACMCoGdHKAAQJ+oKRU+6AaAOAmC0yAWAHmVF4UK0MPjAMTLPdkT6MmeQN+yLW8lKT53A0ApDO4GgHFuqwG40tAANOZ+iTgALS8kAoA+IBoA1rwAtLzAiMmMuACU5lbD7ssVj2m4K+0kpgAMK6JQAPqWsEueNxdZkARV5R+uE63AQwFICx4+CPpMAiA38f/OdnTQ3btYwXfH2AQPsIj5yXjQkyF4ZrXDdOsFSgD0AU/a3ytOhxAISudRhVoC4NT2rQbgzO69MwrH7Z0PfFLury9fg558BX7JncDP2WP4eekIepdOHI0/qvgcVQQJy/916/lJhQ5eDLEgWGwKALTFSzkEjbin8QDjwo9OcvgAKOXBsArsm8h4jQcYJQTqq+xKf4fkAXIvEENoDkAOQQ4/urXOWgolANMnvSUVW6T9w7wQ4qsEUwDyBueoUTcbgG0vAE1uMAyAfuNFHOn6MO8vCoJhAERQceBxCEqSVVy1hXt/U1s3QeFDAVDy/hCAtAjyKgD25qoafj8tHzkAlNSew9pguICiJKgYleuLyv35rqcAdFY3WurNdQeAlmZdyAwo6rH5FENMdTNctXgoGy0y8JIQF5u5fSNt3U51SB4gByDPKVK1Ge4FcvD5FGu4FFdY2MynbMJ6DLHa61tVwCcxeBjM5bWkH0pU6KHQ4yExH7mU84ByyB4Fvx8NQAl00jGfbh8Nh18CQFoFFkfh4gKwN1eB3pzy/hCCvywf6xBYEjsdytW7boLm4AuDXZRcuK9HUCvXFOzdtb7F3TykonJWUSNQPqXh4SwdtXL16ugYHHqacSAUF3xUrIA/drcwlSDKASi1wPR+cuEmAUzaV6w1C1lxhVeleajO/xeS0II0k+w1BiUOvzClGHW9kiwbznYgkVPVYApADkMnFxgSoseBX5wQOAyCPgBKUx+SdH0UBGlVeH7vUQNw+psKdSe2rnQbDAUgNkRLYgieNhi7+ME9P5P3UxDUuUGWA+ReIM/9dVusCIOeT4Gaep18asSS7crbOzo4AFXvmCtiasnZC31atCIYJpekJbQ8ALRgGOGRdQs/BAMteEhFFQne9DhVzOFApJVgnw0sVbwAxOqwD4I9nw6tCRVpTA+XP6n57UYAFAw9XdksDcFgmieZb+uGZz4FQhuhpcpv2PtmF0E6MJztQDJ/7lSC+Ygj/6xF5Sl53ymHHw2DKQjjAHCKzPz6ACh5cdSiPEHa/sIBOLN9F4DvTQDoaYMJJkSUVaBvuQY92UrQOH3ieH28EKJhRGTrLYuAoIZdsAMYLbHS8Jp0O35/vI42yEqhrzFXYZgOw0uimrFMmH6IY5L0exxDmCBwJE+Lh5MYOkpzuSjSms43IZVrMMVqN3fHQ1aew6NhL/YH8r8NIWipV2sInuh9yH2fa4DK175T/T9wKrUIMmxmtltSfGIIrl6jK1XPq8Bu64vpB/RNmkiht2R84xufRY7KA9K+QAmCk5u3MLl5G+wHvvO2uWjo7SkNwNndO+IFGhDyRel8e5zxIm0Y+vKKCFCcCOFmAdCZ+801oD9bt8wGYk2En1gEKdkQxMtROT0KwDDohUEQlySJRsajbG+Q9wbagNITCYIHQD3AbgAYW4TzhQBE2FCIWCs2BUD5ZnXRMoUWjOSNYjVCEEFIG8npc/nWaUp5O54PRIBzACrvrxpsxzPrAaQdKUohu2VysdqjtTX1XEFRPwC5Wg+vomPKgetM8oqvrd0nt9j41F988JN3WF/qAAAK70lEQVQAOFI6FwFIocebozkEowDoeIGipP2jow+IxgVTTS7wEWZ3HiM9SJ8SNELxXX+27gUgFUXgIMT7ST2AkiyWD0Kxl8IQuA0X6tr4ZTzGYegDMM6N4swo303rCpqyPFHIL7FvREr0JP4kAPJQknp8NLxECErirByAXLKfQpCO90mtLL6qb1hll0JcL28iAOz/UteQ4/Cj6wGGs20hhYAhp8rJoTkA9FR2uffH24fctiRbwBQFS3Exua/CjEDziR10kw+kYS+fBEHoSRBUOUADwOlvdniKALTyeFzhmYTG83t0/ldJ4c/t3cL8/p0AQHv3h08WH0H34fC7Nnr5HYcfl7/yeYN4H97zJ8lhIQARRNQzi9qJoI1BLsrCIEhtdLUNI+WWBUA6XsWXHDkKHJ5fW673FgbAbsD3UgD68mi8usqXpEtCBXSqhYfAFH7JbN3xAH37Q6QGcN9I3OByVT+W3mD3m8oHIgB9W/H4jhQ1S20DUEHJBiCFYHRri+wByvqJLQeAFIJhYqeZ4lksAMZtg/GNwkmeYBwAolleGJ/1paNuZDk6mtoDYpYhhVWHpbwjwu7Xoz+00ctWIzSHX1wA+kbhLAh6cnOxl8J0CUAKwTAP0AzPN8EVRnCXGpnRq6BVQoAflz0P8wRfAr9uAcjhxz09Cj9chYkAVNMWplqaLDTtVpAAehx+ieWakwuUFiz5WldoDyRvXaGvSRdEdPGjZgGQb8Rz14PaOzSwIJHInhtzAHjqNa7HGLWuQMr9KRCe6kZqnmJxPUC/Cow8/UE1EeMBECHIPUCq+BxWCAkTO6CmdP+eAnuA+f0bmNu7hpmda5j6ZvYL4x5hHwDpOB31+LQ6DHqAFHZU9VkCIDcJgJJHiB4c98qGCy4ofQAcytdgKF97E/hZOUidA7RHqdB8axslANLkchwAJnKtHw7AqFYSCkC6Dxi9Q+yVoz1xlnhoCAARfoNfXPhGQZB7fvi6vflE7WEh0E4dc9eCGgCaPFzg8VEAEggqiw/AMJFaaX8Hb3eRCh76s1buhMpg+cffKAjDQ2AKQEkhJgyAtAASJnVlLqstcMr7u4f3h3cwu3sF09sXMLF5DmPrHRhbP4fJrSuY27u3AMjDYh8Aqf169IfSA5QszBu0vEYPAPE49+B4zs6XP3TMA8C4OUBfFVmCHh+pcgfojfJI1MyoT2k6Tt5P2mf7EgBy+El7f3/+fR9++m1PG8JxcLmqdfEwtMIWCuoBSuBD+A18Pob+T0fQ91HeLUwhyENi7v3R12NBkylkoyeHJoEQYTi4RELe7DkML59p80NQGS2aUJNAR48j9HDmF0NfriHopFhYaKug17BM0kccXW0LJk+D8HxfWBsM3fjGJz2mv91aRQyu64fhrr34/A7m92+05ze9fQGTW2cw+rUFmdUGZFZbMLbegentK70Y3WcUfjQEphYbgF4wdglAC355fwFFAmCYp+eDn/d58zUYzPnFD+ICUOqtouNHYfALA6BvofdbAxDtp9/24D//vgv/+fddDcCeT4cwuFxVxQ4yAjYa7M5I5Bs61OUeH0IPwdf38RB6f3efF59HWqjOAUhzf3wJuxGIQI+uEwpBkwO0AUjh5wBQgGAY/HioSw2hZ7YLngOXv8IoAj0+N+fXeiUA204Y7GuE9omlcgByCGJVl6o62zs+FAQRgHN71zC3dw2zu1cws3MJk1tnML5xCiNrTUiX65AqNWBkrQ0Tm+cws3PtrfBKFV8aAuPld3TTW6J4Knp9kjeorxdaYKR+QIQON95AzdtqNFjZ/aJCYHo76b4IQD7lwcfd6AA99Q5VGNwMRDXt8ANliFCPLszeKgT2SWmFNRHTUPin3/bgP/62A//jf23Df/xtx/IAaQicWmlpDxeFY2lebvDLiQO93t8PoOe3fcv0cY8nyMNgqUfQeq1EIZtWccPgR71BXRnW8LuA4eULGFo6h+HlC0hkzyGZuwialc/JYxvo0b28PvC5YbOc43Nyy2KjM+b6ml7jIHTBaKSxxr+ew/jXc5hYv7BscuMSpjavHJveMmsvHQ9w+wZmdm5hZudWh6u/Hn+3pO3Vbo8nDcH3hybnN7d/CfMHVzCzew4TW21Il+swXDiBoXwFksW68QKFmWHuBYaZA0Dq5fHzkvnA58wFxwQgfxxaRIny7OICkHqAHH6oGoLgQwkld62lKZxQIU4KQF9o/WcBMGqKQoIg9QARRsM5kvMsti0A0uftX7TDXYRcXAAiBOMA0Cmc/JMA6O5YiQdAn8gBz/P9aAByfUAJgpMblxqC9Pz0lrv28q0BOLd/CVPbHRj92oJUqQbJYh0yqy3tAYZJZ8UCIF12TgEor8J0TfLgxLngCAD6vEepj9CqIkcAkMJuMFd1LhtQnFhGIYjeHl9rmS42LABSeXK6a+RfBYC8CIJFCqwE0yowhZ/0HBL8fvn7ngNAnov0qcL4ih8/DoB2GJzMXWgAGvidgrRYShpR5COQXpVnUlAbLV9ECBqcRgIwymiBBFWiEYIUhgg+alObV+7e3x0FPzQKQAU+0+Jiqr02AKktHNzC7O6VzgOOrLVhbL0DU98uYW7vNlI/MMo0AH0eYBQAfeAbWK7aMlkEPnEAGDZKRyEYB4AadswGsnTSwIYfVxDmisO0esyX0kgAlGTZ3xKA3fb/OaICQl4Ojc7k0vYUmoPjOUbu8f3y9z1tFII+AOJjW3k+8lwOCLsognAAWs3RXQGw1ZVMGYfg6wHYeTUAuVK0kco/s4DoC4t5FZgDEHd+mIrvva72vj98sCCoiiG3DgCxGDKx2YHxjTOY2DzXRRAeAndrVgiM8KN9gT5PEC/7wIemPcEAgE4hIixvGBRSEoWmA8CoMJgDcCBb8QLQtooFPheAdWt8jnt9vhD4LQH4mh5AnwdIW1J4u4rUvMyLEbzAoj3JCABi3yFCkLfHSMfFv4msCOgGgKZae2rfhxVBMPRFAJqwt05+RF3pfun/Zy128iw2D2tgpsW2bneCRO0KoeFwlEc4tXkFk1vKpr5dW2Hv9PYNTH271n17ONGhCh043XFP9vw+sWqwqQSrgojqA5zcuoDJrQsN1jAprTj2Tsr/Sc3RvhxglAeovUAGQF4FluD3Z3mA9tSBgR8FmPHyGtbWsTgA9KkWvxaAUdMfcQDo68Xjc8G+2/HGah5KU/BxCCIAEYISmDkguaeo/6YfBEDtATIAqsJHw/o/SKKrfNm7s9zdWZIUmLBN8M8EIAfhawCoYHUDc3u3MLtrzs/v35HK8AOpBN/qavDMzmVg1zC9fRU0Q1/q5/KJIMS1UA8wDgDD8n9WGJyrdt0Gw8UU3gKAjlfoALAWfEBN0QNzfjR0MAA0Kxn5aka+lpFbHABK7TI/AoB8NweFS5joaFwA/vy3Xfj5b7v6cu/f4wEwLESnXuprAWgKFW77jJoCQQAauSoDQLt7AH8wMyXstTvVOWJ7f0k0AP0jbQpYbwW/MAD6PMDprWsNuTgApObM+OKu351ry6a3lfeH98PH188TogQTC4A8B8hD4DD48SqwBMC+xZNXAVDrCTIZLYTgWxVBfAA0Ob6GVT2jXqDUh5UuNkLhZyweACkE3xKAFCoUcqi2QkHIJa0k+HULwJ7fZABKXp8VWnsASMUM3gqANgRlANLccbLQ0PAb/3oOY2tnDgR1SsUjphEtcmrv+o2Cm89eCkCsAocBkHqGPgBy6Svq5aEhAJVnSOS0dl/m9VH7f7iSOpO3Xt88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94735" y="434109"/>
            <a:ext cx="553177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Transcription/translation overview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00200"/>
            <a:ext cx="8610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Review from Bio I/genetics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Cellular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transcription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Information in DNA is copied into a complementary RNA</a:t>
            </a:r>
          </a:p>
        </p:txBody>
      </p:sp>
      <p:sp>
        <p:nvSpPr>
          <p:cNvPr id="2" name="AutoShape 2" descr="Image result for tip of the iceber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http://manage.meritnation.net/app/webroot/img/study_content/content_ck_images/images/transcrip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659" y="2971800"/>
            <a:ext cx="4053541" cy="369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82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919516" y="434109"/>
            <a:ext cx="528221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Baltimore classification revisited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Viruses can have drastically different looking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Creates major differences in </a:t>
            </a:r>
            <a:r>
              <a:rPr lang="en-US" altLang="en-US" sz="2400" b="1" dirty="0">
                <a:latin typeface="Arial" charset="0"/>
                <a:cs typeface="Arial" charset="0"/>
              </a:rPr>
              <a:t>how they produce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Each class do transcription a bit differently</a:t>
            </a:r>
          </a:p>
        </p:txBody>
      </p:sp>
      <p:pic>
        <p:nvPicPr>
          <p:cNvPr id="1026" name="Picture 2" descr="https://upload.wikimedia.org/wikipedia/commons/thumb/a/a5/VirusBaltimoreClassification.svg/2000px-VirusBaltimoreClassification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208" y="2971800"/>
            <a:ext cx="60579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541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94735" y="434109"/>
            <a:ext cx="5531772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Transcription/translation overview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00200"/>
            <a:ext cx="861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Review from Bio I/genetics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Cellular translation 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Ribosome reads mRNA codon sequence and makes 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polypeptide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SAME</a:t>
            </a:r>
            <a:r>
              <a:rPr lang="en-US" altLang="en-US" sz="2400" b="1" dirty="0">
                <a:latin typeface="Arial" charset="0"/>
                <a:cs typeface="Arial" charset="0"/>
                <a:sym typeface="Wingdings" panose="05000000000000000000" pitchFamily="2" charset="2"/>
              </a:rPr>
              <a:t> FOR ALL VIRUSES!!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pic>
        <p:nvPicPr>
          <p:cNvPr id="2052" name="Picture 4" descr="http://hyperphysics.phy-astr.gsu.edu/hbase/organic/imgorg/translation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547" y="3289897"/>
            <a:ext cx="5410200" cy="333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8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836714" y="434109"/>
            <a:ext cx="544783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dsDNA viruses (I)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Double-stranded 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Have genomes that resemble that of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 Poxviruses, herpesviruses, adenoviruses,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papillomaviruses, many phages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Viral genome must enter the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u="sng" dirty="0">
                <a:latin typeface="Arial" charset="0"/>
                <a:cs typeface="Arial" charset="0"/>
              </a:rPr>
              <a:t>nucleus</a:t>
            </a:r>
            <a:r>
              <a:rPr lang="en-US" altLang="en-US" sz="2400" dirty="0">
                <a:latin typeface="Arial" charset="0"/>
                <a:cs typeface="Arial" charset="0"/>
              </a:rPr>
              <a:t> where necessary enzymes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are located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Use cellular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DNA-dependent 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polymerase</a:t>
            </a:r>
            <a:r>
              <a:rPr lang="en-US" altLang="en-US" sz="2400" dirty="0">
                <a:latin typeface="Arial" charset="0"/>
                <a:cs typeface="Arial" charset="0"/>
              </a:rPr>
              <a:t> for 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Review enzyme naming!</a:t>
            </a:r>
          </a:p>
        </p:txBody>
      </p:sp>
      <p:pic>
        <p:nvPicPr>
          <p:cNvPr id="2052" name="Picture 4" descr="http://faculty.ccbcmd.edu/courses/bio141/lecguide/unit4/viruses/images/dsD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429000"/>
            <a:ext cx="321945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s-media-cache-ak0.pinimg.com/564x/a3/73/19/a3731954ebb838b4d55422251701863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095" y="395647"/>
            <a:ext cx="1328838" cy="185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97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870122" y="434109"/>
            <a:ext cx="5381025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Genome rep – dsDNA viruses (I)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Double-stranded 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Since its genome looks just like ours, it uses the same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enzymes that our cells use to copy its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dirty="0">
                <a:latin typeface="Arial" charset="0"/>
                <a:cs typeface="Arial" charset="0"/>
              </a:rPr>
              <a:t>DNA-dependent DNA polymerase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Cellular DNA polymerases have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excellent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proofreading</a:t>
            </a:r>
            <a:r>
              <a:rPr lang="en-US" altLang="en-US" sz="2400" dirty="0">
                <a:latin typeface="Arial" charset="0"/>
                <a:cs typeface="Arial" charset="0"/>
              </a:rPr>
              <a:t> abilities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Correct any mistakes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Error rate is only 1/10 million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dsDNA viral genomes rarely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mutate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Immunity is easier for 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Vaccines can be more effective</a:t>
            </a:r>
          </a:p>
        </p:txBody>
      </p:sp>
      <p:pic>
        <p:nvPicPr>
          <p:cNvPr id="2052" name="Picture 4" descr="http://faculty.ccbcmd.edu/courses/bio141/lecguide/unit4/viruses/images/dsD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333749"/>
            <a:ext cx="321945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6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97439" y="434109"/>
            <a:ext cx="552638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ssDNA viruses (II)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Single-stranded 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All DNA viruses must go into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nucleus</a:t>
            </a:r>
            <a:r>
              <a:rPr lang="en-US" altLang="en-US" sz="2400" dirty="0">
                <a:latin typeface="Arial" charset="0"/>
                <a:cs typeface="Arial" charset="0"/>
              </a:rPr>
              <a:t>, including ssDNA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Transcription of DNA requires a double-stranded molecule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ssDNA viruses must use cellular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DNA-dependent DNA polymerase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enzymes to make the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strand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first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Then uses cellular DNA-dependent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RNA  polymerase for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 Parvoviruses and some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phages  </a:t>
            </a:r>
          </a:p>
        </p:txBody>
      </p:sp>
      <p:pic>
        <p:nvPicPr>
          <p:cNvPr id="3074" name="Picture 2" descr="http://faculty.ccbcmd.edu/courses/bio141/lecguide/unit4/viruses/images/ssplusD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147" y="3486149"/>
            <a:ext cx="3067050" cy="306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mayoclinic.org/%7E/media/kcms/gbs/patient%20consumer/images/2013/08/26/10/51/ds00437_im02825_mcdc7_parvothu_jp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882" y="417079"/>
            <a:ext cx="1482248" cy="98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doggies.com/imageuploads/1220549480_parvo-IV-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74" y="172974"/>
            <a:ext cx="1225965" cy="14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82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830848" y="434109"/>
            <a:ext cx="545957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Genome rep – ssDNA viruses (II)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Single-stranded DNA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Genome replication requires the same cellular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DdDp</a:t>
            </a:r>
            <a:r>
              <a:rPr lang="en-US" altLang="en-US" sz="2400" dirty="0">
                <a:latin typeface="Arial" charset="0"/>
                <a:cs typeface="Arial" charset="0"/>
              </a:rPr>
              <a:t> that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dsDNA viruses use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Low error rate, low mutation rate for the viruses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dsDNA intermediate used as 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template for transcription is also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used for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Only one of the two strands 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copied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Lots of new + ssDNA genomes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produced</a:t>
            </a:r>
          </a:p>
        </p:txBody>
      </p:sp>
      <p:pic>
        <p:nvPicPr>
          <p:cNvPr id="3074" name="Picture 2" descr="http://faculty.ccbcmd.edu/courses/bio141/lecguide/unit4/viruses/images/ssplusD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147" y="3486149"/>
            <a:ext cx="3067050" cy="306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79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246282" y="434109"/>
            <a:ext cx="46287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RNA viruses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RNA viruses overview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RNA viruses usually have no need for the nucleus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complete transcription, translation, and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All enzymes required are in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or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cytosol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No enzyme exists in the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that can make RNA from 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RNA viruses have a problem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for transcription and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replication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Must make their own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RNA</a:t>
            </a:r>
            <a:r>
              <a:rPr lang="en-US" altLang="en-US" sz="2400" b="1" dirty="0">
                <a:latin typeface="Arial" charset="0"/>
                <a:cs typeface="Arial" charset="0"/>
              </a:rPr>
              <a:t>-dependent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RNA</a:t>
            </a:r>
            <a:r>
              <a:rPr lang="en-US" altLang="en-US" sz="2400" b="1" dirty="0">
                <a:latin typeface="Arial" charset="0"/>
                <a:cs typeface="Arial" charset="0"/>
              </a:rPr>
              <a:t> polymerase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These enzymes usually lack proofreading ability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Much more error prone than cellular enzymes</a:t>
            </a:r>
          </a:p>
        </p:txBody>
      </p:sp>
      <p:pic>
        <p:nvPicPr>
          <p:cNvPr id="4100" name="Picture 4" descr="http://www.bumc.bu.edu/microbiology/files/NewWebsite/Pics/Research%20Interests/Fearns/Fig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0985" y="3200401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37327" y="434109"/>
            <a:ext cx="564661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dsRNA viruses (III)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Double-stranded RNA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transcribes one of the two strands (-) into a positive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sense capped 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Doesn’t just simply separate the two and use one strand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These viruses often have </a:t>
            </a:r>
            <a:r>
              <a:rPr lang="en-US" altLang="en-US" sz="2400" u="sng" dirty="0">
                <a:solidFill>
                  <a:srgbClr val="FF0000"/>
                </a:solidFill>
                <a:latin typeface="Arial" charset="0"/>
                <a:cs typeface="Arial" charset="0"/>
              </a:rPr>
              <a:t>segmented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genomes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Will have to repeat 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with each segment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 </a:t>
            </a:r>
            <a:r>
              <a:rPr lang="en-US" altLang="en-US" sz="2400" dirty="0" err="1">
                <a:latin typeface="Arial" charset="0"/>
                <a:cs typeface="Arial" charset="0"/>
              </a:rPr>
              <a:t>Reoviruses</a:t>
            </a:r>
            <a:r>
              <a:rPr lang="en-US" altLang="en-US" sz="2400" dirty="0">
                <a:latin typeface="Arial" charset="0"/>
                <a:cs typeface="Arial" charset="0"/>
              </a:rPr>
              <a:t> like rotavirus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and bluetongue virus</a:t>
            </a:r>
          </a:p>
        </p:txBody>
      </p:sp>
      <p:pic>
        <p:nvPicPr>
          <p:cNvPr id="4098" name="Picture 2" descr="http://faculty.ccbcmd.edu/courses/bio141/lecguide/unit4/viruses/images/dsR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50" y="3546231"/>
            <a:ext cx="3067050" cy="306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99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37327" y="434109"/>
            <a:ext cx="564661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dsRNA viruses (III)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970" y="3046828"/>
            <a:ext cx="38385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Double-stranded RNA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dsRNA doesn’t exist normally within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Most cells have developed mechanisms to detect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destroy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dsRNA</a:t>
            </a:r>
            <a:r>
              <a:rPr lang="en-US" altLang="en-US" sz="2400" dirty="0">
                <a:latin typeface="Arial" charset="0"/>
                <a:cs typeface="Arial" charset="0"/>
              </a:rPr>
              <a:t> as a host defense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 Dicer, PKR, MDA5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dsRNA viruses have evolved with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these immune defenses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Will transcribe RNA genome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while still w/in the capsid 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the cytosol (before </a:t>
            </a:r>
            <a:r>
              <a:rPr lang="en-US" altLang="en-US" sz="2400" dirty="0" err="1">
                <a:latin typeface="Arial" charset="0"/>
                <a:cs typeface="Arial" charset="0"/>
              </a:rPr>
              <a:t>uncoating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Must have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within the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virion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itself</a:t>
            </a:r>
          </a:p>
        </p:txBody>
      </p:sp>
      <p:pic>
        <p:nvPicPr>
          <p:cNvPr id="6148" name="Picture 4" descr="http://web.uconn.edu/mcbstaff/cole/images/pkr_role_6_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751712"/>
            <a:ext cx="2895600" cy="174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69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210487" y="434109"/>
            <a:ext cx="670029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Genome replication – dsRNA viruses (III)</a:t>
            </a:r>
          </a:p>
        </p:txBody>
      </p:sp>
      <p:pic>
        <p:nvPicPr>
          <p:cNvPr id="13314" name="Picture 2" descr="http://education.expasy.org/images/dsRNA-repl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693807" cy="308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Double-stranded RNA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of the + sense RNA strands made from transcribing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the original dsRNA genome will also get packaged into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new capsids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Within the new capsid,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will make the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strand (-)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to create full dsRNA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Done to hide dsRNA from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host enzymes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Original dsRNA genome remains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intact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new </a:t>
            </a:r>
            <a:r>
              <a:rPr lang="en-US" altLang="en-US" sz="2400" dirty="0" err="1">
                <a:latin typeface="Arial" charset="0"/>
                <a:cs typeface="Arial" charset="0"/>
                <a:sym typeface="Wingdings" panose="05000000000000000000" pitchFamily="2" charset="2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, new dsRNA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This is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conservative</a:t>
            </a:r>
            <a:r>
              <a:rPr lang="en-US" altLang="en-US" sz="2400" dirty="0">
                <a:latin typeface="Arial" charset="0"/>
                <a:cs typeface="Arial" charset="0"/>
              </a:rPr>
              <a:t>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rep (rather than semi-conservative)</a:t>
            </a:r>
          </a:p>
        </p:txBody>
      </p:sp>
    </p:spTree>
    <p:extLst>
      <p:ext uri="{BB962C8B-B14F-4D97-AF65-F5344CB8AC3E}">
        <p14:creationId xmlns:p14="http://schemas.microsoft.com/office/powerpoint/2010/main" val="301932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23005" y="434109"/>
            <a:ext cx="727526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(+ sense) viruses (IV)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Positive sense RNA virus genomes resemble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Upon entry, genome is translated directly by ribosomes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One of viral proteins made is the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(don’t need it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packaged into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then takes the genome into a isolated pocket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membrane and transcribes it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Now have a dsRNA (protected)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then uses that to make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more + sense strands (mRNA)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Those new mRNAs are used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to make more viral protein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serve as new genomes</a:t>
            </a:r>
          </a:p>
        </p:txBody>
      </p:sp>
      <p:pic>
        <p:nvPicPr>
          <p:cNvPr id="7170" name="Picture 2" descr="http://education.expasy.org/images/+RNA-repl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666" y="4114800"/>
            <a:ext cx="3669632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5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492601" y="434109"/>
            <a:ext cx="813607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Trans/genome rep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(+ sense) viruses (IV)</a:t>
            </a:r>
          </a:p>
        </p:txBody>
      </p:sp>
      <p:pic>
        <p:nvPicPr>
          <p:cNvPr id="8194" name="Picture 2" descr="http://www.nature.com/nrmicro/journal/v12/n7/images/nrmicro3288-f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635" y="3859126"/>
            <a:ext cx="4167848" cy="274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 some viruses,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enzymes make different looking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+ sense RNAs from the dsRNA intermediate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It makes full length + sense RNAs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new genomes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It makes shorter (</a:t>
            </a:r>
            <a:r>
              <a:rPr lang="en-US" altLang="en-US" sz="2400" dirty="0" err="1">
                <a:latin typeface="Arial" charset="0"/>
                <a:cs typeface="Arial" charset="0"/>
              </a:rPr>
              <a:t>subgenomic</a:t>
            </a:r>
            <a:r>
              <a:rPr lang="en-US" altLang="en-US" sz="2400" dirty="0">
                <a:latin typeface="Arial" charset="0"/>
                <a:cs typeface="Arial" charset="0"/>
              </a:rPr>
              <a:t>) + sense RNAs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used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make certain new viral proteins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 of + sense </a:t>
            </a:r>
            <a:r>
              <a:rPr lang="en-US" altLang="en-US" sz="2400" u="sng" dirty="0" err="1">
                <a:latin typeface="Arial" charset="0"/>
                <a:cs typeface="Arial" charset="0"/>
              </a:rPr>
              <a:t>ssRNA</a:t>
            </a:r>
            <a:r>
              <a:rPr lang="en-US" altLang="en-US" sz="2400" u="sng" dirty="0">
                <a:latin typeface="Arial" charset="0"/>
                <a:cs typeface="Arial" charset="0"/>
              </a:rPr>
              <a:t>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Picornaviruses (polio)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Coronaviruses (SARS)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Flaviviruses</a:t>
            </a:r>
            <a:r>
              <a:rPr lang="en-US" altLang="en-US" sz="2400" dirty="0">
                <a:latin typeface="Arial" charset="0"/>
                <a:cs typeface="Arial" charset="0"/>
              </a:rPr>
              <a:t> (yellow fever,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Dengue, </a:t>
            </a:r>
            <a:r>
              <a:rPr lang="en-US" altLang="en-US" sz="2400" dirty="0" err="1">
                <a:latin typeface="Arial" charset="0"/>
                <a:cs typeface="Arial" charset="0"/>
              </a:rPr>
              <a:t>Zika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Norwalk (noroviruses)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Togaviruses</a:t>
            </a:r>
            <a:r>
              <a:rPr lang="en-US" altLang="en-US" sz="2400" dirty="0">
                <a:latin typeface="Arial" charset="0"/>
                <a:cs typeface="Arial" charset="0"/>
              </a:rPr>
              <a:t> (Rubella)</a:t>
            </a:r>
          </a:p>
        </p:txBody>
      </p:sp>
    </p:spTree>
    <p:extLst>
      <p:ext uri="{BB962C8B-B14F-4D97-AF65-F5344CB8AC3E}">
        <p14:creationId xmlns:p14="http://schemas.microsoft.com/office/powerpoint/2010/main" val="397346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23005" y="434109"/>
            <a:ext cx="727526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(- sense) viruses (V)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976735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Negative sense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r>
              <a:rPr lang="en-US" altLang="en-US" sz="2400" dirty="0">
                <a:latin typeface="Arial" charset="0"/>
                <a:cs typeface="Arial" charset="0"/>
              </a:rPr>
              <a:t> genomes do not resemble 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Must be transcribed into + sense strands by an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that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is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packaged into the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virion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Will do so in a protected membrane invagination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Blocks exposure of dsRNA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Will make a series of short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capped + sense strands that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serve as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mRNAs</a:t>
            </a:r>
            <a:r>
              <a:rPr lang="en-US" altLang="en-US" sz="2400" dirty="0">
                <a:latin typeface="Arial" charset="0"/>
                <a:cs typeface="Arial" charset="0"/>
              </a:rPr>
              <a:t> for new viral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protein production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The viral mRNAs made will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 be capped like cellular ones</a:t>
            </a:r>
          </a:p>
        </p:txBody>
      </p:sp>
      <p:pic>
        <p:nvPicPr>
          <p:cNvPr id="9220" name="Picture 4" descr="http://www.microbiologybook.org/mhunt/rna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86200"/>
            <a:ext cx="3581400" cy="20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79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050990" y="434109"/>
            <a:ext cx="701929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Genome rep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(- sense) viruses (V)</a:t>
            </a:r>
          </a:p>
        </p:txBody>
      </p:sp>
      <p:pic>
        <p:nvPicPr>
          <p:cNvPr id="9220" name="Picture 4" descr="http://www.microbiologybook.org/mhunt/rna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63980"/>
            <a:ext cx="4936048" cy="282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52400" y="1828800"/>
            <a:ext cx="861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The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will make a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full length </a:t>
            </a:r>
            <a:r>
              <a:rPr lang="en-US" altLang="en-US" sz="2400" dirty="0">
                <a:latin typeface="Arial" charset="0"/>
                <a:cs typeface="Arial" charset="0"/>
              </a:rPr>
              <a:t>+ sense RNA from the -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sense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That + sense strand will then be copied by the same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into many copies of - sense genomes </a:t>
            </a:r>
          </a:p>
        </p:txBody>
      </p:sp>
    </p:spTree>
    <p:extLst>
      <p:ext uri="{BB962C8B-B14F-4D97-AF65-F5344CB8AC3E}">
        <p14:creationId xmlns:p14="http://schemas.microsoft.com/office/powerpoint/2010/main" val="1938676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23005" y="434109"/>
            <a:ext cx="727526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(- sense) viruses (V)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7526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Includes a large number of viruses relevant to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Orthomyxoviridae</a:t>
            </a:r>
            <a:r>
              <a:rPr lang="en-US" altLang="en-US" sz="2400" dirty="0">
                <a:latin typeface="Arial" charset="0"/>
                <a:cs typeface="Arial" charset="0"/>
              </a:rPr>
              <a:t> – influenza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Rhabdoviridae</a:t>
            </a:r>
            <a:r>
              <a:rPr lang="en-US" altLang="en-US" sz="2400" dirty="0">
                <a:latin typeface="Arial" charset="0"/>
                <a:cs typeface="Arial" charset="0"/>
              </a:rPr>
              <a:t> – VSV and rabies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Paramyxoviridae</a:t>
            </a:r>
            <a:r>
              <a:rPr lang="en-US" altLang="en-US" sz="2400" dirty="0">
                <a:latin typeface="Arial" charset="0"/>
                <a:cs typeface="Arial" charset="0"/>
              </a:rPr>
              <a:t> – measles, mumps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Filoviridae</a:t>
            </a:r>
            <a:r>
              <a:rPr lang="en-US" altLang="en-US" sz="2400" dirty="0">
                <a:latin typeface="Arial" charset="0"/>
                <a:cs typeface="Arial" charset="0"/>
              </a:rPr>
              <a:t> – Ebola, Marburg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Bunyaviridae</a:t>
            </a:r>
            <a:r>
              <a:rPr lang="en-US" altLang="en-US" sz="2400" dirty="0">
                <a:latin typeface="Arial" charset="0"/>
                <a:cs typeface="Arial" charset="0"/>
              </a:rPr>
              <a:t> – hantaviruses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No benefit or hindrance for dsRNA,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(+),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r>
              <a:rPr lang="en-US" altLang="en-US" sz="2400" dirty="0">
                <a:latin typeface="Arial" charset="0"/>
                <a:cs typeface="Arial" charset="0"/>
              </a:rPr>
              <a:t> (-) in terms of transcription or translation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All completely take over cellular transcription and all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can cause disease in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All have to use a relatively bad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enzyme that lacks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proofreading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RNA viruses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mutate very well</a:t>
            </a:r>
            <a:endParaRPr lang="en-US" altLang="en-US" sz="2400" b="1" u="sng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10242" name="Picture 2" descr="http://www.howtogetridofstuff.com/wp-content/uploads/2015/06/how-to-get-rid-of-mump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180926"/>
            <a:ext cx="2067951" cy="206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11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357420" y="434109"/>
            <a:ext cx="64064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retroviruses (VI)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Retroviral genomes in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is positive sense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Unique </a:t>
            </a:r>
            <a:r>
              <a:rPr lang="en-US" altLang="en-US" sz="2400" dirty="0" err="1">
                <a:latin typeface="Arial" charset="0"/>
                <a:cs typeface="Arial" charset="0"/>
              </a:rPr>
              <a:t>RdDp</a:t>
            </a:r>
            <a:r>
              <a:rPr lang="en-US" altLang="en-US" sz="2400" dirty="0">
                <a:latin typeface="Arial" charset="0"/>
                <a:cs typeface="Arial" charset="0"/>
              </a:rPr>
              <a:t> enzyme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reverse transcriptase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copies the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r>
              <a:rPr lang="en-US" altLang="en-US" sz="2400" dirty="0">
                <a:latin typeface="Arial" charset="0"/>
                <a:cs typeface="Arial" charset="0"/>
              </a:rPr>
              <a:t> genome into a complementary ssDNA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(-) strand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Reverse transcriptase then adds the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, complementary DNA strand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the </a:t>
            </a:r>
            <a:r>
              <a:rPr lang="en-US" altLang="en-US" sz="2400" dirty="0" err="1">
                <a:latin typeface="Arial" charset="0"/>
                <a:cs typeface="Arial" charset="0"/>
              </a:rPr>
              <a:t>ss</a:t>
            </a:r>
            <a:r>
              <a:rPr lang="en-US" altLang="en-US" sz="2400" dirty="0">
                <a:latin typeface="Arial" charset="0"/>
                <a:cs typeface="Arial" charset="0"/>
              </a:rPr>
              <a:t> copy just made (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next slides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Now have a normal looking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dsDNA genome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dsDNA viral genome is inserted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into host DNA genome by an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enzyme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integrase</a:t>
            </a:r>
          </a:p>
        </p:txBody>
      </p:sp>
      <p:pic>
        <p:nvPicPr>
          <p:cNvPr id="11266" name="Picture 2" descr="http://faculty.ccbcmd.edu/courses/bio141/lecguide/unit4/viruses/images/retr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124200"/>
            <a:ext cx="3448050" cy="344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04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357420" y="434109"/>
            <a:ext cx="64064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retroviruses (VI)</a:t>
            </a:r>
          </a:p>
        </p:txBody>
      </p:sp>
      <p:pic>
        <p:nvPicPr>
          <p:cNvPr id="16386" name="Picture 2" descr="http://education.expasy.org/images/ssRNA_RT_repl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934101"/>
            <a:ext cx="3429000" cy="475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Reverse transcription is a complicated process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Cellular </a:t>
            </a:r>
            <a:r>
              <a:rPr lang="en-US" altLang="en-US" sz="2400" dirty="0" err="1">
                <a:latin typeface="Arial" charset="0"/>
                <a:cs typeface="Arial" charset="0"/>
              </a:rPr>
              <a:t>tRNA</a:t>
            </a:r>
            <a:r>
              <a:rPr lang="en-US" altLang="en-US" sz="2400" dirty="0">
                <a:latin typeface="Arial" charset="0"/>
                <a:cs typeface="Arial" charset="0"/>
              </a:rPr>
              <a:t> binds 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primer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binding site at end of viral 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RT adds complementary DNA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the end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RT destroys the end of RNA genome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The newly made small piece of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comes off and switches to the other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end of the same RNA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1</a:t>
            </a:r>
            <a:r>
              <a:rPr lang="en-US" altLang="en-US" sz="2400" b="1" u="sng" baseline="30000" dirty="0">
                <a:solidFill>
                  <a:srgbClr val="FF0000"/>
                </a:solidFill>
                <a:latin typeface="Arial" charset="0"/>
                <a:cs typeface="Arial" charset="0"/>
              </a:rPr>
              <a:t>st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 strand switch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RT finishes making that first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strand of DNA</a:t>
            </a:r>
          </a:p>
        </p:txBody>
      </p:sp>
    </p:spTree>
    <p:extLst>
      <p:ext uri="{BB962C8B-B14F-4D97-AF65-F5344CB8AC3E}">
        <p14:creationId xmlns:p14="http://schemas.microsoft.com/office/powerpoint/2010/main" val="105396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357420" y="434109"/>
            <a:ext cx="64064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retroviruses (VI)</a:t>
            </a:r>
          </a:p>
        </p:txBody>
      </p:sp>
      <p:pic>
        <p:nvPicPr>
          <p:cNvPr id="16386" name="Picture 2" descr="http://education.expasy.org/images/ssRNA_RT_repl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133600"/>
            <a:ext cx="3230340" cy="448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Reverse transcription is a complicated process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RT destroys most of the rest of the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RNA genome except one small piece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PPT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RT uses the PPT as a primer to begin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making the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DNA strand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Goes until reaching the end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That piece dissociates and moves to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the other side of the ssDNA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2</a:t>
            </a:r>
            <a:r>
              <a:rPr lang="en-US" altLang="en-US" sz="2400" b="1" u="sng" baseline="30000" dirty="0">
                <a:solidFill>
                  <a:srgbClr val="FF0000"/>
                </a:solidFill>
                <a:latin typeface="Arial" charset="0"/>
                <a:cs typeface="Arial" charset="0"/>
              </a:rPr>
              <a:t>nd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 strand switch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RT makes rest of the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DNA strand</a:t>
            </a:r>
          </a:p>
        </p:txBody>
      </p:sp>
    </p:spTree>
    <p:extLst>
      <p:ext uri="{BB962C8B-B14F-4D97-AF65-F5344CB8AC3E}">
        <p14:creationId xmlns:p14="http://schemas.microsoft.com/office/powerpoint/2010/main" val="227776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277272" y="434109"/>
            <a:ext cx="65667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Trans/gen rep – </a:t>
            </a:r>
            <a:r>
              <a:rPr lang="en-US" altLang="en-US" sz="2800" dirty="0" err="1"/>
              <a:t>ssRNA</a:t>
            </a:r>
            <a:r>
              <a:rPr lang="en-US" altLang="en-US" sz="2800" dirty="0"/>
              <a:t> retroviruses (VI)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1748135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With viral genome now part of the host genome, transcription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to make new viral proteins proceeds like a dsDNA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Viral and host transcription factors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bind to viral promoters and host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RNA polymerase</a:t>
            </a:r>
            <a:r>
              <a:rPr lang="en-US" altLang="en-US" sz="2400" b="1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makes viral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mRNA (+ sense)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Some of that + sense mRNA made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will be used as new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genome</a:t>
            </a:r>
            <a:r>
              <a:rPr lang="en-US" altLang="en-US" sz="2400" dirty="0">
                <a:latin typeface="Arial" charset="0"/>
                <a:cs typeface="Arial" charset="0"/>
              </a:rPr>
              <a:t> for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assembling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The mRNA and new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are identical in structure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composition</a:t>
            </a:r>
          </a:p>
        </p:txBody>
      </p:sp>
      <p:pic>
        <p:nvPicPr>
          <p:cNvPr id="12290" name="Picture 2" descr="http://static-content.springer.com/image/art%3A10.1186%2F1742-4682-7-5/MediaObjects/12976_2009_Article_218_Fig1_HTM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09875"/>
            <a:ext cx="31718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367045" y="434109"/>
            <a:ext cx="638719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DNA “retroviruses” (VII)</a:t>
            </a:r>
          </a:p>
        </p:txBody>
      </p:sp>
      <p:pic>
        <p:nvPicPr>
          <p:cNvPr id="18434" name="Picture 2" descr="http://m-learning.zju.edu.cn/G2S/eWebEditor/uploadfile/20111104101040_5297687073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094" y="3462291"/>
            <a:ext cx="2841306" cy="293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4172" y="19050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Some DNA viruses possess reverse transcriptase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u="sng" dirty="0">
                <a:latin typeface="Arial" charset="0"/>
                <a:cs typeface="Arial" charset="0"/>
              </a:rPr>
              <a:t>Examples</a:t>
            </a:r>
            <a:r>
              <a:rPr lang="en-US" altLang="en-US" sz="2400" dirty="0">
                <a:latin typeface="Arial" charset="0"/>
                <a:cs typeface="Arial" charset="0"/>
              </a:rPr>
              <a:t>: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Hepadnaviruses</a:t>
            </a:r>
            <a:r>
              <a:rPr lang="en-US" altLang="en-US" sz="2400" dirty="0">
                <a:latin typeface="Arial" charset="0"/>
                <a:cs typeface="Arial" charset="0"/>
              </a:rPr>
              <a:t> (HBV)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Doesn’t make logical sense – why not just use host DNA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polymerases to make more viral DNA genomes?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Viral transcription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Since the genome is partially dsDNA,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host RNA polymerases (</a:t>
            </a:r>
            <a:r>
              <a:rPr lang="en-US" altLang="en-US" sz="2400" dirty="0" err="1">
                <a:latin typeface="Arial" charset="0"/>
                <a:cs typeface="Arial" charset="0"/>
              </a:rPr>
              <a:t>DdRp</a:t>
            </a:r>
            <a:r>
              <a:rPr lang="en-US" altLang="en-US" sz="2400" dirty="0">
                <a:latin typeface="Arial" charset="0"/>
                <a:cs typeface="Arial" charset="0"/>
              </a:rPr>
              <a:t>) come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in and transcribe all viral genes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 addition, it will transcribe a full-length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mRNA copy of the entire genome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It will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package this mRNA </a:t>
            </a:r>
            <a:r>
              <a:rPr lang="en-US" altLang="en-US" sz="2400" dirty="0">
                <a:latin typeface="Arial" charset="0"/>
                <a:cs typeface="Arial" charset="0"/>
              </a:rPr>
              <a:t>into new capsids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638800" y="5410200"/>
            <a:ext cx="609600" cy="228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48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367045" y="434109"/>
            <a:ext cx="638719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Viral replication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Transcription – DNA “retroviruses” (VII)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54172" y="1828800"/>
            <a:ext cx="8610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Once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inside</a:t>
            </a:r>
            <a:r>
              <a:rPr lang="en-US" altLang="en-US" sz="2400" dirty="0">
                <a:latin typeface="Arial" charset="0"/>
                <a:cs typeface="Arial" charset="0"/>
              </a:rPr>
              <a:t> the capsid (but still in the cell), viral RT will bind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to the packaged mRNA and make a DNA copy from it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Will make one full strand and a partial 2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nd</a:t>
            </a:r>
            <a:r>
              <a:rPr lang="en-US" altLang="en-US" sz="2400" dirty="0">
                <a:latin typeface="Arial" charset="0"/>
                <a:cs typeface="Arial" charset="0"/>
              </a:rPr>
              <a:t> strand of DNA</a:t>
            </a:r>
          </a:p>
        </p:txBody>
      </p:sp>
      <p:pic>
        <p:nvPicPr>
          <p:cNvPr id="20482" name="Picture 2" descr="http://education.expasy.org/images/dsDNA_RT_repl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3200400"/>
            <a:ext cx="6296025" cy="340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3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52725</TotalTime>
  <Words>1769</Words>
  <Application>Microsoft Office PowerPoint</Application>
  <PresentationFormat>On-screen Show (4:3)</PresentationFormat>
  <Paragraphs>290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Joshua Loomis</cp:lastModifiedBy>
  <cp:revision>842</cp:revision>
  <dcterms:created xsi:type="dcterms:W3CDTF">2015-01-10T02:03:23Z</dcterms:created>
  <dcterms:modified xsi:type="dcterms:W3CDTF">2020-06-13T02:29:37Z</dcterms:modified>
</cp:coreProperties>
</file>