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9" r:id="rId3"/>
    <p:sldId id="260" r:id="rId4"/>
    <p:sldId id="264" r:id="rId5"/>
    <p:sldId id="261" r:id="rId6"/>
    <p:sldId id="262" r:id="rId7"/>
    <p:sldId id="265" r:id="rId8"/>
    <p:sldId id="263" r:id="rId9"/>
    <p:sldId id="266" r:id="rId10"/>
    <p:sldId id="268" r:id="rId11"/>
    <p:sldId id="270" r:id="rId12"/>
    <p:sldId id="269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502E-4520-4905-8C82-D6C560ADAA0F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49DD-EF03-4E2A-8932-7F7B374E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3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0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4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415547" y="1676400"/>
            <a:ext cx="3129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48413" y="1114961"/>
            <a:ext cx="588975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Lecture 8</a:t>
            </a:r>
          </a:p>
          <a:p>
            <a:pPr algn="ct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DNA viruses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Pox, herpes, and beyond</a:t>
            </a:r>
          </a:p>
        </p:txBody>
      </p:sp>
      <p:pic>
        <p:nvPicPr>
          <p:cNvPr id="3" name="Picture 2" descr="http://www.learnnc.org/lp/media/uploads/2007/10/smallpox-victi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470" y="3886200"/>
            <a:ext cx="3301530" cy="255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riversideonline.com/source/images/image_popup/mcdc7_parv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068044"/>
            <a:ext cx="3237162" cy="210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14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405761" y="434109"/>
            <a:ext cx="2309735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82751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Viruses that have either a ssDNA or dsDNA genome and use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cellular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DNA</a:t>
            </a:r>
            <a:r>
              <a:rPr lang="en-US" altLang="en-US" sz="2400" dirty="0">
                <a:latin typeface="Arial" charset="0"/>
                <a:cs typeface="Arial" charset="0"/>
              </a:rPr>
              <a:t>-dependent DNA polymerase to replicate their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Includes those in the Baltimore Group I and II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Genome can be linear/circular, one piece/segmented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Most replicate their genome in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nucleus</a:t>
            </a:r>
            <a:r>
              <a:rPr lang="en-US" altLang="en-US" sz="2400" dirty="0">
                <a:latin typeface="Arial" charset="0"/>
                <a:cs typeface="Arial" charset="0"/>
              </a:rPr>
              <a:t> of the host cell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Includes many that are of great interest to 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Vertebrate (human) viruses – Pox, Herpes, Papilloma,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Adeno, </a:t>
            </a:r>
            <a:r>
              <a:rPr lang="en-US" altLang="en-US" sz="2400" dirty="0" err="1">
                <a:latin typeface="Arial" charset="0"/>
                <a:cs typeface="Arial" charset="0"/>
              </a:rPr>
              <a:t>Polyoma</a:t>
            </a:r>
            <a:r>
              <a:rPr lang="en-US" altLang="en-US" sz="2400" dirty="0">
                <a:latin typeface="Arial" charset="0"/>
                <a:cs typeface="Arial" charset="0"/>
              </a:rPr>
              <a:t>, Parvo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Largest viruses on Earth – Mimi, Mega, Pandora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Nearly all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Archae</a:t>
            </a:r>
            <a:r>
              <a:rPr lang="en-US" altLang="en-US" sz="2400" dirty="0">
                <a:latin typeface="Arial" charset="0"/>
                <a:cs typeface="Arial" charset="0"/>
              </a:rPr>
              <a:t> viruses</a:t>
            </a:r>
          </a:p>
        </p:txBody>
      </p:sp>
      <p:pic>
        <p:nvPicPr>
          <p:cNvPr id="2050" name="Picture 2" descr="http://i.dailymail.co.uk/i/pix/2013/07/19/article-2370100-1AE33DAB000005DC-776_306x28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96853"/>
            <a:ext cx="1643448" cy="153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aynesword.palomar.edu/images/hotspr5b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96853"/>
            <a:ext cx="2204615" cy="147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82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Poxviruses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827515"/>
            <a:ext cx="86106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Largest and most complex animal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be seen with a light microscope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Unique structural characteristics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Most have a brick or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ovoid</a:t>
            </a:r>
            <a:r>
              <a:rPr lang="en-US" altLang="en-US" sz="2400" dirty="0">
                <a:latin typeface="Arial" charset="0"/>
                <a:cs typeface="Arial" charset="0"/>
              </a:rPr>
              <a:t> shaped </a:t>
            </a:r>
            <a:r>
              <a:rPr lang="en-US" altLang="en-US" sz="2400" dirty="0" err="1">
                <a:latin typeface="Arial" charset="0"/>
                <a:cs typeface="Arial" charset="0"/>
              </a:rPr>
              <a:t>nucleocapsid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Linear dsDNA genome that contains 175-200 different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genes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Two strands are connected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covalently</a:t>
            </a:r>
            <a:r>
              <a:rPr lang="en-US" altLang="en-US" sz="2400" dirty="0">
                <a:latin typeface="Arial" charset="0"/>
                <a:cs typeface="Arial" charset="0"/>
              </a:rPr>
              <a:t> at each end to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create hairpins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3074" name="Picture 2" descr="http://www.virology.net/Big_Virology/EM/em_pox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987" y="1905000"/>
            <a:ext cx="187642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upload.wikimedia.org/wikipedia/commons/a/a0/Orf_viru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120558" y="234574"/>
            <a:ext cx="1201284" cy="160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mdpi.com/viruses/viruses-07-01100/article_deploy/html/images/viruses-07-01100-g001-10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879" y="5676439"/>
            <a:ext cx="5509321" cy="94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53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Poxviruses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82751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Unique structural characteristics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Multiple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envelopes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One outside of the core (NC)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and a one on the very outside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Sometimes each are double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Surface viral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tubules</a:t>
            </a:r>
            <a:r>
              <a:rPr lang="en-US" altLang="en-US" sz="2400" dirty="0">
                <a:latin typeface="Arial" charset="0"/>
                <a:cs typeface="Arial" charset="0"/>
              </a:rPr>
              <a:t> rather than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typical glycoproteins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Multiple layers of “matrix”, some of which has no known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function (lateral bodies) 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Contains a large number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replicative</a:t>
            </a:r>
            <a:r>
              <a:rPr lang="en-US" altLang="en-US" sz="2400" dirty="0">
                <a:latin typeface="Arial" charset="0"/>
                <a:cs typeface="Arial" charset="0"/>
              </a:rPr>
              <a:t> enzymes (e.g. pol)</a:t>
            </a:r>
          </a:p>
        </p:txBody>
      </p:sp>
      <p:pic>
        <p:nvPicPr>
          <p:cNvPr id="2052" name="Picture 4" descr="Poxvirus model in section (Pov_Ray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032" y="2133600"/>
            <a:ext cx="3505200" cy="251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51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Poxviruses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Unique aspects of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DNA virus that replicates completely within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cytosol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Must bring in its own 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polymerase, primase, helicases,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topoisomerase, ligase,… for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DNA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Must bring in its own RNA pol,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transcription factors, 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capping enzymes, and 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poly A polymerase to make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process its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mRNA</a:t>
            </a:r>
            <a:r>
              <a:rPr lang="en-US" altLang="en-US" sz="2400" dirty="0">
                <a:latin typeface="Arial" charset="0"/>
                <a:cs typeface="Arial" charset="0"/>
              </a:rPr>
              <a:t> (transcription)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Replicates within special cytosolic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inclusion</a:t>
            </a:r>
            <a:r>
              <a:rPr lang="en-US" altLang="en-US" sz="2400" dirty="0">
                <a:latin typeface="Arial" charset="0"/>
                <a:cs typeface="Arial" charset="0"/>
              </a:rPr>
              <a:t> bodies in which new genomes pool together</a:t>
            </a:r>
          </a:p>
        </p:txBody>
      </p:sp>
      <p:pic>
        <p:nvPicPr>
          <p:cNvPr id="1026" name="Picture 2" descr="http://www.mdpi.com/viruses/viruses-07-02844/article_deploy/html/images/viruses-07-02844-g001-102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073" y="2819400"/>
            <a:ext cx="3193589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53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Poxviruses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6002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Diseases affecting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Smallpox is the only type that normally infected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Monkeypox</a:t>
            </a:r>
            <a:r>
              <a:rPr lang="en-US" altLang="en-US" sz="2400" dirty="0">
                <a:latin typeface="Arial" charset="0"/>
                <a:cs typeface="Arial" charset="0"/>
              </a:rPr>
              <a:t> can also infect and kill humans (1-10%)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Smallpox facts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Caused by poxvirus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variola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- 300-500 MILLION killed in 20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th</a:t>
            </a:r>
            <a:r>
              <a:rPr lang="en-US" altLang="en-US" sz="2400" dirty="0">
                <a:latin typeface="Arial" charset="0"/>
                <a:cs typeface="Arial" charset="0"/>
              </a:rPr>
              <a:t> century alone, likely well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over a billion total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Major plagues in Roman Empire, Americas, Africa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Very high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mortality</a:t>
            </a:r>
            <a:r>
              <a:rPr lang="en-US" altLang="en-US" sz="2400" dirty="0">
                <a:latin typeface="Arial" charset="0"/>
                <a:cs typeface="Arial" charset="0"/>
              </a:rPr>
              <a:t> rates – especially for children &lt;5 </a:t>
            </a:r>
            <a:r>
              <a:rPr lang="en-US" altLang="en-US" sz="2400" dirty="0" err="1">
                <a:latin typeface="Arial" charset="0"/>
                <a:cs typeface="Arial" charset="0"/>
              </a:rPr>
              <a:t>yo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Killed 95% of children in some locations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Killed about 30% overall throughout history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Survivors were left blinded (1/3) or scarred (3/4)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Around from ancient times </a:t>
            </a:r>
            <a:r>
              <a:rPr lang="en-US" altLang="en-US" sz="2400" dirty="0">
                <a:latin typeface="Arial" charset="0"/>
                <a:cs typeface="Arial" charset="0"/>
                <a:sym typeface="Wingdings" pitchFamily="2" charset="2"/>
              </a:rPr>
              <a:t> 1980 (eradicated)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071" y="454037"/>
            <a:ext cx="1904487" cy="11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34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Poxviruses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Smallpox pathogenesis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Spread between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humans</a:t>
            </a:r>
            <a:r>
              <a:rPr lang="en-US" altLang="en-US" sz="2400" dirty="0">
                <a:latin typeface="Arial" charset="0"/>
                <a:cs typeface="Arial" charset="0"/>
              </a:rPr>
              <a:t> only – not from environment or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animals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Respiratory secretions, contact with skin, contact with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anything that touched infected skin, </a:t>
            </a:r>
            <a:r>
              <a:rPr lang="en-US" altLang="en-US" sz="2400" dirty="0" err="1">
                <a:latin typeface="Arial" charset="0"/>
                <a:cs typeface="Arial" charset="0"/>
              </a:rPr>
              <a:t>mom</a:t>
            </a:r>
            <a:r>
              <a:rPr lang="en-US" altLang="en-US" sz="2400" dirty="0" err="1">
                <a:latin typeface="Arial" charset="0"/>
                <a:cs typeface="Arial" charset="0"/>
                <a:sym typeface="Wingdings" pitchFamily="2" charset="2"/>
              </a:rPr>
              <a:t>fetus</a:t>
            </a:r>
            <a:endParaRPr lang="en-US" altLang="en-US" sz="2400" dirty="0">
              <a:latin typeface="Arial" charset="0"/>
              <a:cs typeface="Arial" charset="0"/>
              <a:sym typeface="Wingdings" pitchFamily="2" charset="2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Get internalized by local immune cells (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macrophages</a:t>
            </a:r>
            <a:r>
              <a:rPr lang="en-US" altLang="en-US" sz="2400" dirty="0">
                <a:latin typeface="Arial" charset="0"/>
                <a:cs typeface="Arial" charset="0"/>
              </a:rPr>
              <a:t>)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moved to lymph nodes </a:t>
            </a:r>
            <a:r>
              <a:rPr lang="en-US" altLang="en-US" sz="2400" dirty="0">
                <a:latin typeface="Arial" charset="0"/>
                <a:cs typeface="Arial" charset="0"/>
                <a:sym typeface="Wingdings" pitchFamily="2" charset="2"/>
              </a:rPr>
              <a:t> r</a:t>
            </a:r>
            <a:r>
              <a:rPr lang="en-US" altLang="en-US" sz="2400" dirty="0">
                <a:latin typeface="Arial" charset="0"/>
                <a:cs typeface="Arial" charset="0"/>
              </a:rPr>
              <a:t>eplicate there slowly at first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Kill a bunch of cells at once, releasing virus into the blood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Spread to rest of body, including skin and eyes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Creates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pustule rash</a:t>
            </a:r>
            <a:r>
              <a:rPr lang="en-US" altLang="en-US" sz="2400" dirty="0">
                <a:latin typeface="Arial" charset="0"/>
                <a:cs typeface="Arial" charset="0"/>
              </a:rPr>
              <a:t>, fever, muscle ache, fatigue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Causes hemorrhaging, pneumonia, shock, and death by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day 16 post-infection</a:t>
            </a:r>
          </a:p>
        </p:txBody>
      </p:sp>
      <p:pic>
        <p:nvPicPr>
          <p:cNvPr id="4098" name="Picture 2" descr="https://media.bcm.edu/images/2013/a8/smallpox-phil-2008-320-240-201312131530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332" y="310650"/>
            <a:ext cx="2015935" cy="151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46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Poxviruses </a:t>
            </a:r>
          </a:p>
        </p:txBody>
      </p:sp>
      <p:pic>
        <p:nvPicPr>
          <p:cNvPr id="5126" name="Picture 6" descr="http://www.scopenvironment.org/downloadpubs/scope44/images/fig10.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983096"/>
            <a:ext cx="3460605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Importance of other poxviruses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Vaccinia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Derivative of cowpox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used as our smallpox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vaccine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Cross-reactive immunity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Commonly used to hold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express foreign genes (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viral vector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Cut and paste large foreign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genes into vaccinia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E.g. Gene from HBV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Put into infected cells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purify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 vaccinia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virions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carrying gene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Can now use </a:t>
            </a:r>
            <a:r>
              <a:rPr lang="en-US" altLang="en-US" sz="2400" dirty="0" err="1">
                <a:latin typeface="Arial" charset="0"/>
                <a:cs typeface="Arial" charset="0"/>
              </a:rPr>
              <a:t>recombo</a:t>
            </a:r>
            <a:r>
              <a:rPr lang="en-US" altLang="en-US" sz="2400" dirty="0">
                <a:latin typeface="Arial" charset="0"/>
                <a:cs typeface="Arial" charset="0"/>
              </a:rPr>
              <a:t>. vaccinia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to infect a person (delivering the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foreign gene)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or animal</a:t>
            </a:r>
            <a:r>
              <a:rPr lang="en-US" altLang="en-US" sz="2400" dirty="0">
                <a:latin typeface="Arial" charset="0"/>
                <a:cs typeface="Arial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17015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Large, enveloped dsDNA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Contains a diverse matrix layer called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tegument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Has many glycoproteins that enable it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to infect a variety of tissues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Defined by their ability to establish a true latent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After primary infection, some capsids take genome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and bring it into either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neuron</a:t>
            </a:r>
            <a:r>
              <a:rPr lang="en-US" altLang="en-US" sz="2400" dirty="0">
                <a:latin typeface="Arial" charset="0"/>
                <a:cs typeface="Arial" charset="0"/>
              </a:rPr>
              <a:t> (alpha), leukocyte (beta),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or B/T cells (</a:t>
            </a:r>
            <a:r>
              <a:rPr lang="en-US" altLang="en-US" sz="2400" dirty="0" err="1">
                <a:latin typeface="Arial" charset="0"/>
                <a:cs typeface="Arial" charset="0"/>
              </a:rPr>
              <a:t>gammaherpesviruses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 that other cell, virus is metabolically dormant (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latent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Will stay there for life of the infected</a:t>
            </a:r>
          </a:p>
        </p:txBody>
      </p:sp>
      <p:pic>
        <p:nvPicPr>
          <p:cNvPr id="6146" name="Picture 2" descr="http://www.frontiersin.org/files/Articles/17097/fgene-02-00081-r2/image_m/fgene-02-00081-g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52600"/>
            <a:ext cx="2819400" cy="181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niaid.nih.gov/SiteCollectionImages/labs_scientific/labs/aboutlabs/lvd/moleculargeneticssection/cycles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14" y="312738"/>
            <a:ext cx="2288462" cy="140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22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How do herpesviruses go latent?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Latent herpesviruses express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gene that leads to the accumulation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of an RNA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LAT</a:t>
            </a:r>
            <a:r>
              <a:rPr lang="en-US" altLang="en-US" sz="2400" dirty="0">
                <a:latin typeface="Arial" charset="0"/>
                <a:cs typeface="Arial" charset="0"/>
              </a:rPr>
              <a:t> (latency associated transcript)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LAT RNAs shut down viral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Inhibits expression of other herpes genes directly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Recruits cellular histones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bind and block herpes 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as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heterochromatin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Enable immune suppression of viral replication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Block the cells from killing themselves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Herpes genome remains inactive in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nucleus</a:t>
            </a:r>
          </a:p>
        </p:txBody>
      </p:sp>
      <p:pic>
        <p:nvPicPr>
          <p:cNvPr id="1026" name="Picture 2" descr="http://www.nature.com/nm/journal/v19/n3/images/nm.3103-F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511270"/>
            <a:ext cx="3387890" cy="146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jvi.asm.org/content/87/12/6782/F8.lar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587718"/>
            <a:ext cx="1974335" cy="55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76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How do herpesviruses reactivate?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Usually reactivate following some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stress</a:t>
            </a:r>
            <a:r>
              <a:rPr lang="en-US" altLang="en-US" sz="2400" dirty="0">
                <a:latin typeface="Arial" charset="0"/>
                <a:cs typeface="Arial" charset="0"/>
              </a:rPr>
              <a:t> to the organism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UV light (sunburn), emotional stress, extreme physical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stress, hormonal spikes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continually reactivate for the life of the individual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Reactivates, replicates, cause disease, go back latent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solidFill>
                  <a:srgbClr val="FF0000"/>
                </a:solidFill>
                <a:latin typeface="Arial" charset="0"/>
                <a:cs typeface="Arial" charset="0"/>
              </a:rPr>
              <a:t>Frequency</a:t>
            </a:r>
            <a:r>
              <a:rPr lang="en-US" altLang="en-US" sz="2400" dirty="0">
                <a:latin typeface="Arial" charset="0"/>
                <a:cs typeface="Arial" charset="0"/>
              </a:rPr>
              <a:t> of reactivation directly proportional to inoculum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level of initial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Requires certain viral proteins to “wake up” the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ICP0 and VP16 thought to be very important </a:t>
            </a:r>
          </a:p>
        </p:txBody>
      </p:sp>
      <p:pic>
        <p:nvPicPr>
          <p:cNvPr id="4098" name="Picture 2" descr="http://www.royaltyrewards.com/wp-content/uploads/2013/05/welcomeback_mat-300x19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48" y="228600"/>
            <a:ext cx="1978025" cy="127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.ytimg.com/vi/2D3hpXbPMfA/hqdefaul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05440"/>
            <a:ext cx="1665817" cy="124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10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7" y="1952685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Other unique aspects to its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Express their genes in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waves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All typically have three classes of genes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Immediate-early (IE) – right after entry, set up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Early (E) – DNA replication, modulate cell metabolism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Late (L) – structural proteins to be packaged into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Engage in many forms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immune evasion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Disrupt cellular MHC expression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antigen presentation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Make fake (homologs) cytokines and receptors 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communication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Prevent NK cell recognition  killing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2050" name="Picture 2" descr="http://s2.quickmeme.com/img/12/1233c2f3fcbb79f7a61ec602dc20816be6fdc8550a150d5a78c1fddd4d6e0b4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295" y="364151"/>
            <a:ext cx="2028972" cy="109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84" y="152400"/>
            <a:ext cx="1751616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2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78666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Types of human herpesviruses and their diseases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 err="1">
                <a:latin typeface="Arial" charset="0"/>
                <a:cs typeface="Arial" charset="0"/>
              </a:rPr>
              <a:t>Alphaherpesviruses</a:t>
            </a:r>
            <a:endParaRPr lang="en-US" altLang="en-US" sz="2400" b="1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Herpes simplex virus </a:t>
            </a:r>
            <a:r>
              <a:rPr lang="en-US" altLang="en-US" sz="2400" dirty="0">
                <a:latin typeface="Arial" charset="0"/>
                <a:cs typeface="Arial" charset="0"/>
              </a:rPr>
              <a:t>(type 1 or 2) – aka HHV-1, HHV-2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Largely causes painful watery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blisters</a:t>
            </a:r>
            <a:r>
              <a:rPr lang="en-US" altLang="en-US" sz="2400" dirty="0">
                <a:latin typeface="Arial" charset="0"/>
                <a:cs typeface="Arial" charset="0"/>
              </a:rPr>
              <a:t> on the mucosa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of the mouth (1) or genitals (2)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Spread through any contact between mucous mems.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Can spread beyond in immunocompromised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Herpes keratitis (eye), encephalitis (CNS), all over skin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Varicella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zoster</a:t>
            </a:r>
            <a:r>
              <a:rPr lang="en-US" altLang="en-US" sz="2400" b="1" dirty="0">
                <a:latin typeface="Arial" charset="0"/>
                <a:cs typeface="Arial" charset="0"/>
              </a:rPr>
              <a:t> virus </a:t>
            </a:r>
            <a:r>
              <a:rPr lang="en-US" altLang="en-US" sz="2400" dirty="0">
                <a:latin typeface="Arial" charset="0"/>
                <a:cs typeface="Arial" charset="0"/>
              </a:rPr>
              <a:t>(VZV) – aka HHV-3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Causes chickenpox in primary infection and a very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painful shingles (herpes zoster) when reactivated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Can spread &amp; cause pneumonia, encephalitis, neuralgia</a:t>
            </a:r>
          </a:p>
        </p:txBody>
      </p:sp>
      <p:pic>
        <p:nvPicPr>
          <p:cNvPr id="3078" name="Picture 6" descr="A cold sore on a young person's f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69" y="343136"/>
            <a:ext cx="1825625" cy="121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ttp://www.md-health.com/images/10405803/chickenpox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49544"/>
            <a:ext cx="1846470" cy="92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56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Types of human herpesviruses and their diseases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 err="1">
                <a:latin typeface="Arial" charset="0"/>
                <a:cs typeface="Arial" charset="0"/>
              </a:rPr>
              <a:t>Betaherpesviruses</a:t>
            </a:r>
            <a:endParaRPr lang="en-US" altLang="en-US" sz="2400" b="1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Human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cytomegalovirus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(HCMV) – aka HHV-5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Nearly ubiquitous in the population (60-100%)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Infects almost every tissue in the body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Usually produces asymptomatic disease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Immunocompromised are extremely at risk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Congenital/neonatal</a:t>
            </a:r>
            <a:r>
              <a:rPr lang="en-US" altLang="en-US" sz="2400" dirty="0">
                <a:latin typeface="Arial" charset="0"/>
                <a:cs typeface="Arial" charset="0"/>
              </a:rPr>
              <a:t> – if mom gets 1° or reactivation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while pregnant (can cross the placenta)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 - Deafness, encephalitis, intellectual disabilities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HIV</a:t>
            </a:r>
            <a:r>
              <a:rPr lang="en-US" altLang="en-US" sz="2400" dirty="0">
                <a:latin typeface="Arial" charset="0"/>
                <a:cs typeface="Arial" charset="0"/>
              </a:rPr>
              <a:t> – get systemic CMV infections (death can follow)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Organ transplants</a:t>
            </a:r>
            <a:r>
              <a:rPr lang="en-US" altLang="en-US" sz="2400" dirty="0">
                <a:latin typeface="Arial" charset="0"/>
                <a:cs typeface="Arial" charset="0"/>
              </a:rPr>
              <a:t> – put on immunosuppressive drugs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Cancer</a:t>
            </a:r>
            <a:r>
              <a:rPr lang="en-US" altLang="en-US" sz="2400" dirty="0">
                <a:latin typeface="Arial" charset="0"/>
                <a:cs typeface="Arial" charset="0"/>
              </a:rPr>
              <a:t> – chemotherapy weakens immune system</a:t>
            </a:r>
          </a:p>
        </p:txBody>
      </p:sp>
      <p:pic>
        <p:nvPicPr>
          <p:cNvPr id="1026" name="Picture 2" descr="http://thehealthscience.com/thsattachs/904911/1119024111215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77749"/>
            <a:ext cx="1905000" cy="126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61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Types of human herpesviruses and their diseases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 err="1">
                <a:latin typeface="Arial" charset="0"/>
                <a:cs typeface="Arial" charset="0"/>
              </a:rPr>
              <a:t>Gammaherpesviruses</a:t>
            </a:r>
            <a:endParaRPr lang="en-US" altLang="en-US" sz="2400" b="1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Epstein-Barr</a:t>
            </a:r>
            <a:r>
              <a:rPr lang="en-US" altLang="en-US" sz="2400" b="1" dirty="0">
                <a:latin typeface="Arial" charset="0"/>
                <a:cs typeface="Arial" charset="0"/>
              </a:rPr>
              <a:t> virus </a:t>
            </a:r>
            <a:r>
              <a:rPr lang="en-US" altLang="en-US" sz="2400" dirty="0">
                <a:latin typeface="Arial" charset="0"/>
                <a:cs typeface="Arial" charset="0"/>
              </a:rPr>
              <a:t>(EBV) – aka HHV-4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Ubiquitous (90% adults)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Infects epithelial cells and spreads to B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Latency occurs there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Cause of infectious mononucleosis (mono), many forms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of lymphoma (</a:t>
            </a:r>
            <a:r>
              <a:rPr lang="en-US" altLang="en-US" sz="2400" dirty="0" err="1">
                <a:latin typeface="Arial" charset="0"/>
                <a:cs typeface="Arial" charset="0"/>
              </a:rPr>
              <a:t>Burkitt’s</a:t>
            </a:r>
            <a:r>
              <a:rPr lang="en-US" altLang="en-US" sz="2400" dirty="0">
                <a:latin typeface="Arial" charset="0"/>
                <a:cs typeface="Arial" charset="0"/>
              </a:rPr>
              <a:t>, Hodgkin’s), gastric cancer,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and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hairy leukoplakia </a:t>
            </a:r>
            <a:r>
              <a:rPr lang="en-US" altLang="en-US" sz="2400" dirty="0">
                <a:latin typeface="Arial" charset="0"/>
                <a:cs typeface="Arial" charset="0"/>
              </a:rPr>
              <a:t>(in HIV patients)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- Mono can occur when 1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st</a:t>
            </a:r>
            <a:r>
              <a:rPr lang="en-US" altLang="en-US" sz="2400" dirty="0">
                <a:latin typeface="Arial" charset="0"/>
                <a:cs typeface="Arial" charset="0"/>
              </a:rPr>
              <a:t> infected as older kid/teen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May also cause chronic fatigue syndrome and trigger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some forms of autoimmunity (SLE, RA, MS)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- Links not completely confirmed</a:t>
            </a:r>
          </a:p>
        </p:txBody>
      </p:sp>
      <p:pic>
        <p:nvPicPr>
          <p:cNvPr id="2050" name="Picture 2" descr="https://s-media-cache-ak0.pinimg.com/236x/68/b2/48/68b248997f00ffc0d4edbc0ae85d269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905000"/>
            <a:ext cx="1457842" cy="197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4.bp.blogspot.com/-8QLHzl4tFsI/TsE5oqhYZaI/AAAAAAAAEP8/5wNgpMDhv_k/s640/Hairy+leukoplakia.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3659"/>
            <a:ext cx="1942910" cy="133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78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Herpesviruses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Types of human herpesviruses and their diseases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 err="1">
                <a:latin typeface="Arial" charset="0"/>
                <a:cs typeface="Arial" charset="0"/>
              </a:rPr>
              <a:t>Gammaherpesviruses</a:t>
            </a:r>
            <a:endParaRPr lang="en-US" altLang="en-US" sz="2400" b="1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Kaposi-sarcoma herpesvirus (KSHV) </a:t>
            </a:r>
            <a:r>
              <a:rPr lang="en-US" altLang="en-US" sz="2400" dirty="0">
                <a:latin typeface="Arial" charset="0"/>
                <a:cs typeface="Arial" charset="0"/>
              </a:rPr>
              <a:t>– aka HHV-8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Causes KS -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skin cancer</a:t>
            </a:r>
            <a:r>
              <a:rPr lang="en-US" altLang="en-US" sz="2400" b="1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seen in HIV/AIDS cases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Very recently discovered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and hotly contested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Common in Africa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Mediterranean countries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Unknown mechanism of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transmission (STD, ?)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Most people harbor it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asymptomatically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Immunosuppression allows for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</a:t>
            </a:r>
          </a:p>
        </p:txBody>
      </p:sp>
      <p:pic>
        <p:nvPicPr>
          <p:cNvPr id="3074" name="Picture 2" descr="https://upload.wikimedia.org/wikipedia/commons/thumb/3/3c/Kaposi%27s_Sarcoma.jpg/800px-Kaposi%27s_Sarcom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480" y="3657600"/>
            <a:ext cx="3022944" cy="201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71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Papillomaviruses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524000"/>
            <a:ext cx="886533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Small, non-enveloped DNA viruses that primarily infect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stratified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b="1" dirty="0">
                <a:latin typeface="Arial" charset="0"/>
                <a:cs typeface="Arial" charset="0"/>
              </a:rPr>
              <a:t>epithelial tissue </a:t>
            </a:r>
            <a:r>
              <a:rPr lang="en-US" altLang="en-US" sz="2400" dirty="0">
                <a:latin typeface="Arial" charset="0"/>
                <a:cs typeface="Arial" charset="0"/>
              </a:rPr>
              <a:t>of the skin and mucous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membranes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All &gt;200 types of human papillomaviruses (HPVs) produce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excessive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tissue growth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produce benign warts (hand, plantar, genital)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types cause cancerous lesions (cervical, anal, oral)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About 5% of ALL human cancers caused by HPV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HPV cancers can be prevented with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vaccine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Gardasil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Contains proteins from most important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cancer-causing types (6,11,16 &amp; 18)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4098" name="Picture 2" descr="http://mizzouderm.com/uploads/4/4/2/3/4423869/5261144_ori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80595"/>
            <a:ext cx="2590800" cy="171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82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Papillomaviruses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Unique structural features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Icosahedral capsids that contain a major capsid protein L1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(forms </a:t>
            </a:r>
            <a:r>
              <a:rPr lang="en-US" altLang="en-US" sz="2400" dirty="0" err="1">
                <a:latin typeface="Arial" charset="0"/>
                <a:cs typeface="Arial" charset="0"/>
              </a:rPr>
              <a:t>pentameric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dirty="0" err="1">
                <a:latin typeface="Arial" charset="0"/>
                <a:cs typeface="Arial" charset="0"/>
              </a:rPr>
              <a:t>capsomeres</a:t>
            </a:r>
            <a:r>
              <a:rPr lang="en-US" altLang="en-US" sz="2400" dirty="0">
                <a:latin typeface="Arial" charset="0"/>
                <a:cs typeface="Arial" charset="0"/>
              </a:rPr>
              <a:t>) and minor protein L2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Single, circular dsDNA genome that is bound by cellular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histones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Keeps genome organized like cellular chromatin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6" name="Picture 4" descr="http://education.expasy.org/images/Papillomaviridae_vir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24400"/>
            <a:ext cx="4230944" cy="186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www.thelancet.com/cms/attachment/2033982167/2049748702/gr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95800"/>
            <a:ext cx="2438400" cy="198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23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Papillomaviruses </a:t>
            </a:r>
          </a:p>
        </p:txBody>
      </p:sp>
      <p:pic>
        <p:nvPicPr>
          <p:cNvPr id="5122" name="Picture 2" descr="https://virologyspring2011.files.wordpress.com/2011/02/hpv-gene-express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81400"/>
            <a:ext cx="4350963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Unique aspects of its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Must gain entry into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basal</a:t>
            </a:r>
            <a:r>
              <a:rPr lang="en-US" altLang="en-US" sz="2400" dirty="0">
                <a:latin typeface="Arial" charset="0"/>
                <a:cs typeface="Arial" charset="0"/>
              </a:rPr>
              <a:t> layer of skin through a wound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</a:t>
            </a:r>
            <a:r>
              <a:rPr lang="en-US" altLang="en-US" sz="2400" dirty="0">
                <a:latin typeface="Arial" charset="0"/>
                <a:cs typeface="Arial" charset="0"/>
              </a:rPr>
              <a:t>- Why HPVs commonly infect hands and feet?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Completes its replication cycle only as the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move</a:t>
            </a:r>
            <a:r>
              <a:rPr lang="en-US" altLang="en-US" sz="2400" dirty="0">
                <a:latin typeface="Arial" charset="0"/>
                <a:cs typeface="Arial" charset="0"/>
              </a:rPr>
              <a:t> w/in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cells through all the skin strata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Will turn on certain genes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in certain layers of tissue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get sloughed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off w/ dried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squams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Genomes stay in basal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layer unless destroyed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(laser or extreme cold)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Can “reactivate” years after initial infection</a:t>
            </a:r>
          </a:p>
        </p:txBody>
      </p:sp>
      <p:pic>
        <p:nvPicPr>
          <p:cNvPr id="5124" name="Picture 4" descr="https://i.ytimg.com/vi/CNk78Gtfn8M/hqdefa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1" y="304800"/>
            <a:ext cx="2184399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59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Papillomaviruses </a:t>
            </a:r>
          </a:p>
        </p:txBody>
      </p:sp>
      <p:pic>
        <p:nvPicPr>
          <p:cNvPr id="7170" name="Picture 2" descr="http://www.oncohealthcorp.com/images/image_hpv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331661"/>
            <a:ext cx="4293333" cy="284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How does it cause cancer?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Ability to induce cancerous growth is due to expression of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four important genes that alter cell division, DNA repair,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cell death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HPV E6 and E7 </a:t>
            </a:r>
            <a:r>
              <a:rPr lang="en-US" altLang="en-US" sz="2400" u="sng" dirty="0" err="1">
                <a:latin typeface="Arial" charset="0"/>
                <a:cs typeface="Arial" charset="0"/>
              </a:rPr>
              <a:t>oncoproteins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E6</a:t>
            </a:r>
            <a:r>
              <a:rPr lang="en-US" altLang="en-US" sz="2400" dirty="0">
                <a:latin typeface="Arial" charset="0"/>
                <a:cs typeface="Arial" charset="0"/>
              </a:rPr>
              <a:t> binds to and inhibits the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cellular p53 protein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p53 monitors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for damage and induces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cell death if too damaged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No p53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tons of mutations,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no apoptosis, excessive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cell division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09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Papillomaviruses </a:t>
            </a:r>
          </a:p>
        </p:txBody>
      </p:sp>
      <p:pic>
        <p:nvPicPr>
          <p:cNvPr id="7170" name="Picture 2" descr="http://www.oncohealthcorp.com/images/image_hpv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296227"/>
            <a:ext cx="3886200" cy="257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How does it cause cancer?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HPV E6 and E7 </a:t>
            </a:r>
            <a:r>
              <a:rPr lang="en-US" altLang="en-US" sz="2400" u="sng" dirty="0" err="1">
                <a:latin typeface="Arial" charset="0"/>
                <a:cs typeface="Arial" charset="0"/>
              </a:rPr>
              <a:t>oncoproteins</a:t>
            </a:r>
            <a:endParaRPr lang="en-US" altLang="en-US" sz="2400" u="sng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E7 binds to and inhibits the cellular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Rb</a:t>
            </a:r>
            <a:r>
              <a:rPr lang="en-US" altLang="en-US" sz="2400" dirty="0">
                <a:latin typeface="Arial" charset="0"/>
                <a:cs typeface="Arial" charset="0"/>
              </a:rPr>
              <a:t> protein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RB prevents cells from moving forward in the cell cycle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by blocking a transcription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factor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E2F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No </a:t>
            </a:r>
            <a:r>
              <a:rPr lang="en-US" altLang="en-US" sz="2400" dirty="0" err="1">
                <a:latin typeface="Arial" charset="0"/>
                <a:cs typeface="Arial" charset="0"/>
              </a:rPr>
              <a:t>Rb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E2F activates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cyclins/CDKs  non-stop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movement through the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 cycle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E6/E7 don’t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directly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cause cancer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  - Inhibit </a:t>
            </a:r>
            <a:r>
              <a:rPr lang="en-US" altLang="en-US" sz="2400" dirty="0">
                <a:latin typeface="Arial" charset="0"/>
                <a:cs typeface="Arial" charset="0"/>
              </a:rPr>
              <a:t> normal cellular protections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cells mutate/divide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Papillomaviruses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86533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How does it cause cancer?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HPV E2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E2 normally functions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inhibit</a:t>
            </a:r>
            <a:r>
              <a:rPr lang="en-US" altLang="en-US" sz="2400" dirty="0">
                <a:latin typeface="Arial" charset="0"/>
                <a:cs typeface="Arial" charset="0"/>
              </a:rPr>
              <a:t> E6/E7 expression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Non-cancerous types express high levels of E2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Most dangerous types (16 and 18) have little to no E2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u="sng" dirty="0">
                <a:latin typeface="Arial" charset="0"/>
                <a:cs typeface="Arial" charset="0"/>
              </a:rPr>
              <a:t>HPV E5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Binds to cellular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EGF receptor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and activates its signaling activity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Result is an inhibition of apoptosis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and increase in cell division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The HPV genome usually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integrates</a:t>
            </a:r>
            <a:r>
              <a:rPr lang="en-US" altLang="en-US" sz="2400" dirty="0">
                <a:latin typeface="Arial" charset="0"/>
                <a:cs typeface="Arial" charset="0"/>
              </a:rPr>
              <a:t> into the host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in types that cause cancer</a:t>
            </a:r>
          </a:p>
        </p:txBody>
      </p:sp>
      <p:pic>
        <p:nvPicPr>
          <p:cNvPr id="8194" name="Picture 2" descr="http://www.ghrnet.org/index.php/JT/article/viewFile/776/890/337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843" y="4068283"/>
            <a:ext cx="3328557" cy="171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52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Adenoviruses </a:t>
            </a:r>
          </a:p>
        </p:txBody>
      </p:sp>
      <p:pic>
        <p:nvPicPr>
          <p:cNvPr id="10242" name="Picture 2" descr="http://www.mdpi.com/viruses/viruses-06-03563/article_deploy/html/images/viruses-06-03563-g002-102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078460"/>
            <a:ext cx="1837699" cy="17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s-media-cache-ak0.pinimg.com/736x/51/6e/0e/516e0ee01208086f715d853984f37ab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987" y="685800"/>
            <a:ext cx="1685925" cy="187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02467" y="1748135"/>
            <a:ext cx="886533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Large group of complex, non-enveloped 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icosahedral viruses w/ dsDNA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Have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fiber</a:t>
            </a:r>
            <a:r>
              <a:rPr lang="en-US" altLang="en-US" sz="2400" dirty="0">
                <a:latin typeface="Arial" charset="0"/>
                <a:cs typeface="Arial" charset="0"/>
              </a:rPr>
              <a:t> proteins projecting from each vertex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Human infections are usually asymptomatic, but can present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with cold or mild flu-like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First isolated from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adenoids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In immunocompromised (HIV, young kids),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can cause tonsillitis, conjunctivitis,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pneumonia, and even death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Those recovered continue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shed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Like HPV, establishes a persistent infection</a:t>
            </a:r>
          </a:p>
        </p:txBody>
      </p:sp>
      <p:pic>
        <p:nvPicPr>
          <p:cNvPr id="10246" name="Picture 6" descr="http://www.digitaljournal.com/img/3/1/6/7/3/3/i/1/5/2/o/1sneezing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401" y="3700397"/>
            <a:ext cx="1930456" cy="128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82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Adenoviruses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3673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Special features of its structure and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Unusually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stable</a:t>
            </a:r>
            <a:r>
              <a:rPr lang="en-US" altLang="en-US" sz="2400" dirty="0">
                <a:latin typeface="Arial" charset="0"/>
                <a:cs typeface="Arial" charset="0"/>
              </a:rPr>
              <a:t> capsids help make them resistant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chemical agents (e.g. weak chlorine) and pH extremes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Has an amazing ability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evade</a:t>
            </a:r>
            <a:r>
              <a:rPr lang="en-US" altLang="en-US" sz="2400" dirty="0">
                <a:latin typeface="Arial" charset="0"/>
                <a:cs typeface="Arial" charset="0"/>
              </a:rPr>
              <a:t> host immune response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Blocks interferon response, blocks class I MHC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expression, prevents apoptosis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Makes two proteins (E1A and E1B) that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can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transform</a:t>
            </a:r>
            <a:r>
              <a:rPr lang="en-US" altLang="en-US" sz="2400" dirty="0">
                <a:latin typeface="Arial" charset="0"/>
                <a:cs typeface="Arial" charset="0"/>
              </a:rPr>
              <a:t> normal cells into tumors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E1A blocks </a:t>
            </a:r>
            <a:r>
              <a:rPr lang="en-US" altLang="en-US" sz="2400" dirty="0" err="1">
                <a:latin typeface="Arial" charset="0"/>
                <a:cs typeface="Arial" charset="0"/>
              </a:rPr>
              <a:t>Rb</a:t>
            </a:r>
            <a:r>
              <a:rPr lang="en-US" altLang="en-US" sz="2400" dirty="0">
                <a:latin typeface="Arial" charset="0"/>
                <a:cs typeface="Arial" charset="0"/>
              </a:rPr>
              <a:t>, E1B blocks p53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Only works </a:t>
            </a:r>
            <a:r>
              <a:rPr lang="en-US" altLang="en-US" sz="2400" i="1" dirty="0">
                <a:latin typeface="Arial" charset="0"/>
                <a:cs typeface="Arial" charset="0"/>
              </a:rPr>
              <a:t>in vitro </a:t>
            </a:r>
            <a:r>
              <a:rPr lang="en-US" altLang="en-US" sz="2400" dirty="0">
                <a:latin typeface="Arial" charset="0"/>
                <a:cs typeface="Arial" charset="0"/>
              </a:rPr>
              <a:t>(no human cancers reported)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Replicates differently in layers of stratified </a:t>
            </a:r>
            <a:r>
              <a:rPr lang="en-US" altLang="en-US" sz="2400" dirty="0" err="1">
                <a:latin typeface="Arial" charset="0"/>
                <a:cs typeface="Arial" charset="0"/>
              </a:rPr>
              <a:t>epith</a:t>
            </a:r>
            <a:r>
              <a:rPr lang="en-US" altLang="en-US" sz="2400" dirty="0">
                <a:latin typeface="Arial" charset="0"/>
                <a:cs typeface="Arial" charset="0"/>
              </a:rPr>
              <a:t> (like HPV)</a:t>
            </a:r>
          </a:p>
        </p:txBody>
      </p:sp>
      <p:pic>
        <p:nvPicPr>
          <p:cNvPr id="11266" name="Picture 2" descr="http://education.expasy.org/images/tapasi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962400"/>
            <a:ext cx="2716097" cy="159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07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Polyomaviruses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754832"/>
            <a:ext cx="890173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Small, </a:t>
            </a:r>
            <a:r>
              <a:rPr lang="en-US" altLang="en-US" sz="2400" dirty="0" err="1">
                <a:latin typeface="Arial" charset="0"/>
                <a:cs typeface="Arial" charset="0"/>
              </a:rPr>
              <a:t>nonenveloped</a:t>
            </a:r>
            <a:r>
              <a:rPr lang="en-US" altLang="en-US" sz="2400" dirty="0">
                <a:latin typeface="Arial" charset="0"/>
                <a:cs typeface="Arial" charset="0"/>
              </a:rPr>
              <a:t> icosahedral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dsDNA genomes are only about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5,000</a:t>
            </a:r>
            <a:r>
              <a:rPr lang="en-US" altLang="en-US" sz="2400" dirty="0">
                <a:latin typeface="Arial" charset="0"/>
                <a:cs typeface="Arial" charset="0"/>
              </a:rPr>
              <a:t> nucleotides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only code for a handful of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Capsid proteins don’t form normal </a:t>
            </a:r>
            <a:r>
              <a:rPr lang="en-US" altLang="en-US" sz="2400" dirty="0" err="1">
                <a:latin typeface="Arial" charset="0"/>
                <a:cs typeface="Arial" charset="0"/>
              </a:rPr>
              <a:t>hexon</a:t>
            </a:r>
            <a:r>
              <a:rPr lang="en-US" altLang="en-US" sz="2400" dirty="0">
                <a:latin typeface="Arial" charset="0"/>
                <a:cs typeface="Arial" charset="0"/>
              </a:rPr>
              <a:t> or penton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 err="1">
                <a:latin typeface="Arial" charset="0"/>
                <a:cs typeface="Arial" charset="0"/>
              </a:rPr>
              <a:t>capsomeres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Only three types are believed to cause human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JC virus </a:t>
            </a:r>
            <a:r>
              <a:rPr lang="en-US" altLang="en-US" sz="2400" dirty="0">
                <a:latin typeface="Arial" charset="0"/>
                <a:cs typeface="Arial" charset="0"/>
              </a:rPr>
              <a:t>– causes PML or progressive multifocal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leukoencephalopathy (slow destruction of brain white matter)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Usually only problem in AIDS or organ transplant patients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- Kill 30-50% and debilitate rest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Symptoms depend on part of brain – clumsiness, speech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changes, personality changes, alien hand syndrome </a:t>
            </a:r>
          </a:p>
        </p:txBody>
      </p:sp>
      <p:pic>
        <p:nvPicPr>
          <p:cNvPr id="12290" name="Picture 2" descr="http://images.fineartamerica.com/images-medium-large-5/murine-polyomavirus-capsid-science-photo-librar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8600"/>
            <a:ext cx="17335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Progressive multifocal leukoencephalopathy 0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2608"/>
            <a:ext cx="1476688" cy="13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28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Polyomaviruses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754832"/>
            <a:ext cx="890173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Only three types are believed to cause human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BK</a:t>
            </a:r>
            <a:r>
              <a:rPr lang="en-US" altLang="en-US" sz="2400" b="1" dirty="0">
                <a:latin typeface="Arial" charset="0"/>
                <a:cs typeface="Arial" charset="0"/>
              </a:rPr>
              <a:t> virus </a:t>
            </a:r>
            <a:r>
              <a:rPr lang="en-US" altLang="en-US" sz="2400" dirty="0">
                <a:latin typeface="Arial" charset="0"/>
                <a:cs typeface="Arial" charset="0"/>
              </a:rPr>
              <a:t>– causes respiratory illness and kidney failure 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immunocompromised individuals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Virus remains persistent in kidneys and urinary tract of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most of the population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Major problem in kidney transplant patients – can lead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nephropathy and loss of graft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Merkel cell </a:t>
            </a:r>
            <a:r>
              <a:rPr lang="en-US" altLang="en-US" sz="2400" b="1" dirty="0">
                <a:latin typeface="Arial" charset="0"/>
                <a:cs typeface="Arial" charset="0"/>
              </a:rPr>
              <a:t>virus </a:t>
            </a:r>
            <a:r>
              <a:rPr lang="en-US" altLang="en-US" sz="2400" dirty="0">
                <a:latin typeface="Arial" charset="0"/>
                <a:cs typeface="Arial" charset="0"/>
              </a:rPr>
              <a:t>– causes Merkel cell carcinoma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Aggressive and rare form of skin cancer that affects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cells controlling touch and pressure sensation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Like HPV, integrates into the host genome during process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of cancer formation</a:t>
            </a:r>
          </a:p>
        </p:txBody>
      </p:sp>
      <p:pic>
        <p:nvPicPr>
          <p:cNvPr id="13314" name="Picture 2" descr="http://ckj.oxfordjournals.org/content/2/3/246/F3.lar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53666"/>
            <a:ext cx="1724728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://www.aboutcancer.com/merkel_hand_6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3203"/>
            <a:ext cx="17526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47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Polyomaviruses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754832"/>
            <a:ext cx="890173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Special features of its replication and pathogenesis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Nearly all polyomaviruses have the ability to transform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normal cells into tumor cells in cell culture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Some do so as well in animals, but most don’t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Ability to trigger abnormal cellular growth mostly due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expression of a powerful protein named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large T antigen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TAg</a:t>
            </a:r>
            <a:r>
              <a:rPr lang="en-US" altLang="en-US" sz="2400" dirty="0">
                <a:latin typeface="Arial" charset="0"/>
                <a:cs typeface="Arial" charset="0"/>
              </a:rPr>
              <a:t> inhibits both p53 and </a:t>
            </a:r>
            <a:r>
              <a:rPr lang="en-US" altLang="en-US" sz="2400" dirty="0" err="1">
                <a:latin typeface="Arial" charset="0"/>
                <a:cs typeface="Arial" charset="0"/>
              </a:rPr>
              <a:t>Rb</a:t>
            </a:r>
            <a:r>
              <a:rPr lang="en-US" altLang="en-US" sz="2400" dirty="0">
                <a:latin typeface="Arial" charset="0"/>
                <a:cs typeface="Arial" charset="0"/>
              </a:rPr>
              <a:t> and activates important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transcription factors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TAg</a:t>
            </a:r>
            <a:r>
              <a:rPr lang="en-US" altLang="en-US" sz="2400" dirty="0">
                <a:latin typeface="Arial" charset="0"/>
                <a:cs typeface="Arial" charset="0"/>
              </a:rPr>
              <a:t> also triggers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of the viral genome, inhibits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apoptosis</a:t>
            </a:r>
            <a:r>
              <a:rPr lang="en-US" altLang="en-US" sz="2400" dirty="0">
                <a:latin typeface="Arial" charset="0"/>
                <a:cs typeface="Arial" charset="0"/>
              </a:rPr>
              <a:t>, regulates viral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gene expression and assembly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953000"/>
            <a:ext cx="3713274" cy="12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23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Polyomaviruses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754832"/>
            <a:ext cx="890173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SV40, polio vaccine, tumor suppressors, and fear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Polio vaccine was created in an African Green monkey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line that grew well in lab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Didn’t know that they grew well b/c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they were infected with SV40,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polyomavirus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About 400,000 kids were given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Salk vaccine contaminated w/ SV40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Makes </a:t>
            </a:r>
            <a:r>
              <a:rPr lang="en-US" altLang="en-US" sz="2400" dirty="0" err="1">
                <a:latin typeface="Arial" charset="0"/>
                <a:cs typeface="Arial" charset="0"/>
              </a:rPr>
              <a:t>TAg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Cancer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???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- SV40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TAg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found to bind strongly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a cellular 53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kDa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protein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- Turned out to be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p53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- Opened up field of oncogenes/TS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15362" name="Picture 2" descr="p53_his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10100"/>
            <a:ext cx="2936003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d2v4vjmuxdiocn.cloudfront.net/wp-content/uploads/2015/07/Polio-Vaccine-new-tit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463" y="2628900"/>
            <a:ext cx="2809876" cy="187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51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Parvoviruses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754832"/>
            <a:ext cx="890173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Single-stranded DNA viruses that have extremely small, naked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icosahedral capsids (</a:t>
            </a:r>
            <a:r>
              <a:rPr lang="en-US" altLang="en-US" sz="2400" i="1" dirty="0" err="1">
                <a:latin typeface="Arial" charset="0"/>
                <a:cs typeface="Arial" charset="0"/>
              </a:rPr>
              <a:t>parvus</a:t>
            </a:r>
            <a:r>
              <a:rPr lang="en-US" altLang="en-US" sz="2400" dirty="0">
                <a:latin typeface="Arial" charset="0"/>
                <a:cs typeface="Arial" charset="0"/>
              </a:rPr>
              <a:t> = small)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Genomes are ~5,000 nucleotides (like </a:t>
            </a:r>
            <a:r>
              <a:rPr lang="en-US" altLang="en-US" sz="2400" dirty="0" err="1">
                <a:latin typeface="Arial" charset="0"/>
                <a:cs typeface="Arial" charset="0"/>
              </a:rPr>
              <a:t>polyoma</a:t>
            </a:r>
            <a:r>
              <a:rPr lang="en-US" altLang="en-US" sz="2400" dirty="0">
                <a:latin typeface="Arial" charset="0"/>
                <a:cs typeface="Arial" charset="0"/>
              </a:rPr>
              <a:t>), but must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fit into much smaller capsids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Does so b/c its ssDNA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Has very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stable capsids </a:t>
            </a:r>
            <a:r>
              <a:rPr lang="en-US" altLang="en-US" sz="2400" dirty="0">
                <a:latin typeface="Arial" charset="0"/>
                <a:cs typeface="Arial" charset="0"/>
              </a:rPr>
              <a:t>- resistant to hot temps, pH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changes, solvents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Causes gastrointestinal issues,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immunosuppression</a:t>
            </a:r>
            <a:r>
              <a:rPr lang="en-US" altLang="en-US" sz="2400" dirty="0">
                <a:latin typeface="Arial" charset="0"/>
                <a:cs typeface="Arial" charset="0"/>
              </a:rPr>
              <a:t>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inflammation in many types of animals (dogs, cats)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Depending on age, can also infect the heart or cause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 err="1">
                <a:latin typeface="Arial" charset="0"/>
                <a:cs typeface="Arial" charset="0"/>
              </a:rPr>
              <a:t>hemorrahaging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Untreated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latin typeface="Arial" charset="0"/>
                <a:cs typeface="Arial" charset="0"/>
              </a:rPr>
              <a:t>~ 90% fatality in most cases</a:t>
            </a:r>
          </a:p>
        </p:txBody>
      </p:sp>
      <p:pic>
        <p:nvPicPr>
          <p:cNvPr id="16386" name="Picture 2" descr="https://s-media-cache-ak0.pinimg.com/736x/0d/44/df/0d44dfb29f9a5b613d39f70f4eb9279c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79883"/>
            <a:ext cx="1462558" cy="146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https://encrypted-tbn1.gstatic.com/images?q=tbn:ANd9GcQuT76DqykgiqBBfgPQXf6hTkXIGyrjEKFPBegdUaI_j7VhRIC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64" y="299415"/>
            <a:ext cx="2016555" cy="1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98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76310" y="434109"/>
            <a:ext cx="416864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Vertebrate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Parvoviruses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524000"/>
            <a:ext cx="8901736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Humans can also be infected by parvoviruses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Fifth disease </a:t>
            </a:r>
            <a:r>
              <a:rPr lang="en-US" altLang="en-US" sz="2400" dirty="0">
                <a:latin typeface="Arial" charset="0"/>
                <a:cs typeface="Arial" charset="0"/>
              </a:rPr>
              <a:t>(Parvovirus B19)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Mainly seen in kids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Presents as a rash (</a:t>
            </a:r>
            <a:r>
              <a:rPr lang="en-US" altLang="en-US" sz="2400" dirty="0" err="1">
                <a:latin typeface="Arial" charset="0"/>
                <a:cs typeface="Arial" charset="0"/>
              </a:rPr>
              <a:t>esp</a:t>
            </a:r>
            <a:r>
              <a:rPr lang="en-US" altLang="en-US" sz="2400" dirty="0">
                <a:latin typeface="Arial" charset="0"/>
                <a:cs typeface="Arial" charset="0"/>
              </a:rPr>
              <a:t> on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cheeks) and fever in kids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Adults can have severe arthritis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or miscarriage (pregnant)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Was one of the 5 classical rash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diseases in childhood (5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th</a:t>
            </a:r>
            <a:r>
              <a:rPr lang="en-US" altLang="en-US" sz="2400" dirty="0">
                <a:latin typeface="Arial" charset="0"/>
                <a:cs typeface="Arial" charset="0"/>
              </a:rPr>
              <a:t> one)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Parvoviruses are different from other small DNA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Only can replicate in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actively dividing </a:t>
            </a:r>
            <a:r>
              <a:rPr lang="en-US" altLang="en-US" sz="2400" dirty="0">
                <a:latin typeface="Arial" charset="0"/>
                <a:cs typeface="Arial" charset="0"/>
              </a:rPr>
              <a:t>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Can’t force the cell to replicate its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No risk of tumor formation</a:t>
            </a:r>
          </a:p>
        </p:txBody>
      </p:sp>
      <p:pic>
        <p:nvPicPr>
          <p:cNvPr id="17410" name="Picture 2" descr="http://symptomstreatment.org/wp-content/uploads/2011/09/fitth-disease-in-childr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614" y="2438400"/>
            <a:ext cx="3200400" cy="228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13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706060" y="434109"/>
            <a:ext cx="370915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Largest DNA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Beginning of life?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264" y="1595735"/>
            <a:ext cx="867313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Largest viruses ever discovered are pathogens of amoeba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Includes </a:t>
            </a:r>
            <a:r>
              <a:rPr lang="en-US" altLang="en-US" sz="2400" dirty="0" err="1">
                <a:latin typeface="Arial" charset="0"/>
                <a:cs typeface="Arial" charset="0"/>
              </a:rPr>
              <a:t>Mimivirus</a:t>
            </a:r>
            <a:r>
              <a:rPr lang="en-US" altLang="en-US" sz="2400" dirty="0">
                <a:latin typeface="Arial" charset="0"/>
                <a:cs typeface="Arial" charset="0"/>
              </a:rPr>
              <a:t>, Pithovirus, </a:t>
            </a:r>
            <a:r>
              <a:rPr lang="en-US" altLang="en-US" sz="2400" dirty="0" err="1">
                <a:latin typeface="Arial" charset="0"/>
                <a:cs typeface="Arial" charset="0"/>
              </a:rPr>
              <a:t>Megavirus</a:t>
            </a:r>
            <a:r>
              <a:rPr lang="en-US" altLang="en-US" sz="2400" dirty="0">
                <a:latin typeface="Arial" charset="0"/>
                <a:cs typeface="Arial" charset="0"/>
              </a:rPr>
              <a:t>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and </a:t>
            </a:r>
            <a:r>
              <a:rPr lang="en-US" altLang="en-US" sz="2400" dirty="0" err="1">
                <a:latin typeface="Arial" charset="0"/>
                <a:cs typeface="Arial" charset="0"/>
              </a:rPr>
              <a:t>Pandoravirus</a:t>
            </a:r>
            <a:r>
              <a:rPr lang="en-US" altLang="en-US" sz="2400" dirty="0">
                <a:latin typeface="Arial" charset="0"/>
                <a:cs typeface="Arial" charset="0"/>
              </a:rPr>
              <a:t> (the biggest genome)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be seen with a light microscope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can be Gram stained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code for several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thousand</a:t>
            </a:r>
            <a:r>
              <a:rPr lang="en-US" altLang="en-US" sz="2400" dirty="0">
                <a:latin typeface="Arial" charset="0"/>
                <a:cs typeface="Arial" charset="0"/>
              </a:rPr>
              <a:t> proteins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Genomes contain genes normally only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found in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Enzymes that load aa onto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tRNAs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DNA polymerases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Many involved in lipid, amino acid,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sugar metabolism</a:t>
            </a:r>
          </a:p>
        </p:txBody>
      </p:sp>
      <p:pic>
        <p:nvPicPr>
          <p:cNvPr id="18434" name="Picture 2" descr="https://upload.wikimedia.org/wikipedia/commons/thumb/b/bf/Megavirus.jpg/280px-Megaviru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858000" y="144399"/>
            <a:ext cx="1485768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data:image/jpeg;base64,/9j/4AAQSkZJRgABAQAAAQABAAD/2wCEAAkGBxMTEhUTExMWFRUXFx4bGBcYGB4aHhsgGh0dGhgbHh0YHyggGBslHRseIzEiJSorLy4uGx8zODMtNygtLisBCgoKBQUFDgUFDisZExkrKysrKysrKysrKysrKysrKysrKysrKysrKysrKysrKysrKysrKysrKysrKysrKysrK//AABEIAOEA4QMBIgACEQEDEQH/xAAbAAACAwEBAQAAAAAAAAAAAAADBAECBQAGB//EAD8QAAECBQIEAwYFAwMDBAMAAAECEQADEiExBEEFIlFhE3GBMpGhscHwBhRC0eEVI1IzcvEHotJikqPCJFNU/8QAFAEBAAAAAAAAAAAAAAAAAAAAAP/EABQRAQAAAAAAAAAAAAAAAAAAAAD/2gAMAwEAAhEDEQA/ANmVLg4DQCXLPrDclHWAskRcyxESkMYMpEBVUp2aKqkne72aJ1M+hOHUbAfe0Zc/iMwWLD/1AWzts94BkcOlIyAAXN8mMqcAVEJwCyc+z2huah+ZSiagwPfew2z7jF9HpZamfoQ7GxfLD4GAiSSi9RdWQL43viCEl2vU2XY/A3gdYD0hyD1PRwwbrBBOa5JJGwvkgZyOsBRFMtIJBNwbhn6gHpaOnocJKbgHD3YvmDWU5WbA8t7D+fXDwspUuWosUqAIYdbXfs/WAtOlBiVlKitPQ2a5Ynrj5Qzp0ghiAmlNgkDf2n3+uYhEutPtIN/Jtz2+xF/CIQ6VVADmG/UNfF/dAUladSTSpTvdPTqT5RWRqVFbJJHKCyXs/wA4OqWQQokEWBD3HcRPhgHmJKlWPWzMH2D9oAer1S6QtRdxYHzY4xiKTVAkslhS5A6iwIfEcVpZhjcCzB3Bvvb4wQFNTglRUq9VmyX6ENYwCcovgLUTZn3JIe2bZhidIQHJXzG4DOwwz9fpDE1Kq1FLJAAuPn0/5gNQMtKlD9TMMksDfrZ7v8oBiRryggJZaC3oTZh2tmGU8ZSSA22xB8/dCUtaUq5TsOVjYG1w/wAe8LypXhzCS7pBIsGbB9PnAbUydLmJUEqDtvl+4jO4XOIWxDBQ/cv5Z+EDoSUPcrcEg9zcgbjGBiG9Cj+4glvasBsCCwgDzJWdukKzcAKuCQMPG5O074jNmSmN4DyvHdIkTBSluXYdy/vjHlWUzUq2LdRc2j2PHdEZiRR7Q338u8Zms4U6U3NYFw/UbeUBj/nB9hMdFv6Ur/L/ALDEwHppKPeIZEvpES0h398HSmoN8v3gKlF4qrUoBaoP5xlcT1h8Twkg2GXz+9oEkAJwySea1w+19+8Azq9a7kBJpBpc+0e0VCwoJISbjmBThh0GT6RBRLIDZByGuDY2uDc3vETLEJBYgZUWGQ2MQAiQh1ECw/tv/wBzJyLxGn16cbtYt1N97jGYnXaVSmmJDgC4tb0HSFNLp1EuzNc+mRAavMk1ukhQuWuM7bjzgmiHKFkOlW4D9mPzgunkVFjdCU3S3s/tY2gM1fMlDppvy1YJa2wDvAZ/F9TUopSwSkm+5OCfKFJcoqHKHYOWjVPCytVRTSD1JbLZyT55h2kFFCClwKWwLnqMtALydGaUgVB0hhgk5x0i4QCSWJY+y+4z9vA5uooppWnluS97BmB8/rETFuQa0HJYC99+mHvAFXKUAFKJsrFIvlgW3iJpdZYFSW6Nch9ulsROs1QTLIUk3CTbdQ6nOBtGUdVUsKUel02PbH2WgNOYqkJ5g5LHYDdi7dc9oAiegkkKD4KSQX7h/L0eGtXpyiWoVcrcofNW97m/1jAShr3De8QHpdOFABTEsHU/RiAz5HbvCGq1GSlJQk5Cd+pDWb03hvgqwsVEeyGIe3ubd4DxfTqUlwN8Av3v0/iAEVYUHJACUgfp2z5GLrnqCi5ChZ35rBj0wc+kYsoscs/TMbui1ZKBYkkEEg7AkMw7fWAMpZmtMThJDAljdne2If4PIfmP6T8W+QeM2WQBUQksbEbANalgzEARucMlkIqNiq5+g90A2te0DmyX7xdKg+YkJgM6fIa490KT5JYNnf72jamJ/mE5kuAQftHQyw7e6OgFSqzbxIJpIBY057wHiE0pApw9yRGfO1S1BkgUkMT1eAS0unJWSQSoixLXvhze8NTS4NRNl3F85v8AK8WlrpUU01WGQbszuB390MzClaUAywkObg939QbQC+kWXCckMGIfdyew2+sWn6RL2LKNwN7+ew+kETqCmZ1B3DM9h0uBC8sf3SRi4qww6gbC+3pAG4bawqSg2V1BTZ75+8xBmlCkkZS5STZ9mLnrdohCVgczcqmJLkNnO7O8EXJE0Vl2fBLljuAMenWAjS6lbGY5UFdPUEHveCD9KgLkhyL5sEti3WFlBwGVc4Tlmax7YjRknwmpUkqYVdMbbEwCHFdcdPp52qIqCSAEghiSoB3/AEAEgk7Q5+D5qdTITqAgoCioFAVUCUqKSoK/UktaL8f1CpOnleEEATVhMxahUEBQIqpdnJYdLwppNZPkU1TBOl1JSpJQlJAUQHQUABw7sQX7QDx0KVLtLZJOCnfdWbe4xhcT4lppOq/LmbKEzLENc+yknFR/aNf8S8F16tZJmyNV4enSRXLbLF1f7qha+I8Z+PfwfNnaibqJMoTfHSEkVAFCkgALD2KWAcdoD1mqXVyqSXAwrzxy43YwpptBzVMopBLjfqC/TvGlN0hRLkhRCilCELcPUUjPXIhXV6sIClBJV/6izkWbz6CAmbMIVze2k2BJNut8bY6wvP01a8sVHGRZhk/d4elSwoLmqqrFLFx+o9tv2iupl7YUxrpIdiXcZc9hiAZ4CnwiXU4cu2+3XHuxHKF1KwCT+pnANs5/aM+es0ikF2c3779IzStWc/XBgHtRogVEiotk9dgbXO0MS9DYMwDF7+za+LQzo9RVcoUSpKRy4JvlrxE8UgC/M9trbXs5fEAppwSAFqOX9Da3v36Q/P1s4aWeZd1pSyC2Dvb9RAu28YUrVuprscAbdLdzG5otcuWmlSQwyMFzf6wHndMqcNRp/wApq52pClDx0zU8qU/rU4AoPQddun0mMnTcRl4pKfT9oelzknBgCKaAzEwcgKHWA+yG+MAD8vHQywjoDHnpHM5sx/mMKVp02DsAXL3+A+8Q/rdamkpHMSDi7ebQglZ8RLuQn2hbfHf1/mAYMykqmJUooFgQL3GL4xkRImOoqZKgP0Gxc7jdOBBtWo0qChcB3ewD7gW3tCB1FQC1r5EjIL3wCKYB/TMp6nS/9xKssb4Bv/xCkpYILguNzk3v83gaNQoywlYKqSWJbmfD7gtdt3hhBsSHKQAScEkOG7XgLaiWFAgpY7bkPsQ+4iNFOKZS2ti56YIHytFtGkIuoKbKgSL4ce6Cy5iQ7ORWQgbA5vAJzRylaAQskJ29SAc232vGvpdPVSgmpNAUq26ejHf6QAqAlk4KrJFmF7kH5ecHKyhQXVzUBgRa2UlXWAx5KVzZImeN4SJgcSkpQUgHAVWk1WN3tBOHyAnRp1SdOZ09KjQgLUymXSlaUrJAdPMOm0OafhmlmOfDJABIllaii9yKCWbsQ3aMbS8c1S5aZ6JiA5DacIDM4/tlRNXibWs+0Ax/1LlamanTKlImLliozpSF0qcgUuxFQF7PviPH6Diup4ZLmT5sqb4CylEuTMW5ruoryaE0ghty0fQuOpmK1PhicuUgSQoUMKiVKCnJBNmGOsV4boE6nTzUakDUIEwpQVs6glrlmFQU4cNiAYnapEzSaeahJAmhMxjlIIqLv0eEJiRU4BZ+Z7+WL5+kNLUJgFLUSxSEmzMCzAEOLe4QCXLMz2hzDCiGKhlu/nADTrBQpKR/qZD3swfq7XhyXpUpBWVWUQ5dwSB1GA+fKKaThqnw7M53FrWH7RozNHMCJlkGpTgYZmI7QGL4RADrKmUAaEsliNz5m8Wk6cAoUUlSieZm5Sbj4ekHlTWAqulSiWBa+PcPpFk6hSlKSUpBcM42Y5/yt0EBXSabldJx1LOxyW9OsI6rIBYmkknYHIIZs9Y0Z2lpTkMlwQf11HI2sIpI04Ssj2mFktlg+bD+RAZknh7qqAq3YFvM+kFUQpJXUAx5ajU/Uh7u25iuq1wSVhPKUpABJe+T6QhpJ6ioJyFWgNbhibhCVvUd/iY3/wCn2uoknqB0jCSgBQVv17dvSPU6JSqU1+12++kBGil0BiXG0H1JG0SlmiikwCTzP8B746G6PKOgPGoQUk2FsW33BEX1RAZ03a5Zxba2HJ+EaHF9GokqSl3Du7XGXjKloJBuzOfaN/TaAPqJylIUk1EKZ1C1wcW6QlI0qfDCJl01JFW7m/v7RTxKrJw9+vxxiOHEuSlLNlupuC/WANqHq/th0u6gmyjdgcZaG1u6SVNZW9izFj6W3idLp1F53sICTZ2qPVxcNAJ+v8MgA7AkdCDc3+7wAJWtHsglyrBdiGOzNeKK4gQki6aVHbJ2NsWi8vU+IokhnJpAFu3n8oYmadajTMKVjHQjdycO5EAfQKJSbKmIAdKQcm3uS8QQ5di5yHcl8nsw7PFtGspkM4JStiBYpB/TjBN4pQWBQ7nYjPfvvlsQELSlRqCyKUXpwmxtkF3ispKEEzEspe6glNVx/ln1LxqSdKkkHlAalTb/AOWS+4+8oqBrcGlIB2cq6WA+3gO1UvxwkrHKkEhRDkNY4ve1t4YVqD4YQhqcABkgAWxbBY+TxAkFZAFlbMWSOVmI84rOlBmUlVLFyFWxsWb0gCOCgWKSkYG5xf4XMUl3UoEhK22VjDgN1iiSqqp3T3Dhms72d4uDyELNy5BZiDuWa7QDein0qYB236j55MaitWVyVGWxWHpCsVNa4/S8YshLpsSD7LDLZyT1eFpmqWhTSwSCSLXFsntAG0WkmIkiZNo8Wk1pQDS7/p3FnvApPEU8yZiALAB8jA2v6Q/p9XNXLYA8wsWAu7OH+Rges0dAGCVFlq3BbzxABlrLnnC0qUz2duga+2R/Mamv4YyK0BmDsdgBt0jLBQkUpRQrNSSbEen3eFuIcUnBISVdXHy83gM/UyyoCzkO4F83A64MG4forkhJLDD+/wAnEF03OEgsHdjjAL4u+IalSSyQKgobgh1Ha2DaAlUtPVlA297Bto9NJlAJAGAGEeU8JlX9pnLDt27CPUcLUFS0jNrjcdoApiFB4vMk7iBl4Afh946LN5xMBncRXTLUT0bpm0eekhQUAR28j5w9xXUTD7aSkA2s/wAYUSoFx0F/v0gE9elSUkm5KixYbbAuTtvCOnQVKoH31zGpP0SigWJuTy37G53ZorqJctKEuVAKfADhiwdxlnDNAE1sxUv2VBj8dsd2b0gU3SlYCizsHBPU28vIw5IllUxZLUsKFFxkZ7tuYvLkqZYdJIYk7DJz36wGZomSsE0noKrB7eZPaNGWRSEKDEK3yQNqrv5RkazR0KB2VcKfP1hjRakpIfuxAuH6/e8A3pk0rcXSTcPb5C99z0h2YoBJSGJJFTC4uSRdtjmO1GlBQaUhJIq9p3D73cf8vGEVEmxLnPpjzxAbWpWlG4LiwNj3t1I7dYnTL5QQGmVONwQxI2ezDtAJtmrCCQkYtlvM27ReatlJOKQA6SbbXvfJ6wFkrKl0pDKJBIGGye32IKhykAhkj1yTYdx9YIke0paqScBPYbtcE94DMUklZVlKXHpcN3a5eALrRQlKU9iogEbZLdH+cBXOSWlk22SkfpbLjAPfp3hGYhTXFlGxva7l92jSlqTV7ILEdySzAB8DDNAVm6IWKHCUiov32KSOXe0DSbig+rjcY+LxmL4nOAXMQAXNwpTFYDuWYhODa/piJ0/95aqps2WCELlJCyjlVLSqohJ5jUVAu+GgN+TxAolsDgDKc1YIY5eAKKphqKarXF/Q/feK8MWSmZWqrw5oSFsA7pqvZqg92AFxvFVSVNZTJ/y6B8P1NrbQAtWsy0hgxVZs2GSW+8xnpV4hZXp7397RrcR0qSlJyptjhjlu4AhPSJSlYNXSkqHKX79f5gHvyhpQbM7EOKiDuAbxYICGC7XJBDONrvmxxFZskuVJNgMAM9w+/wBvDfBtGrUqUmyAnIN6n3b6wCshBsFO5chTAOLkC+f5jW4KoVKBeovkbDDRmayUqTN8JbKYOljgDGesM8JmJC61inYXfzfpmA9Cxik1HWChb/vFZpsSSwAc/WABQY6Afn5fX4H9o6AxuNpNTq9gC3R+pjKTNSpNmIA2vj6R6eekKSU7ENGHN0JlgsMn2kv8RAJzdRycpINuziBJlIe/LUzu75z3EFFNw9gS6X9+1v4EWlgkFiXx3a2+0BzJuhwSSwzS2Sz4/ht4nTSlFKglRIJe3u2x/Bis4ATGUCbsDjD2G/8AMH06ioqrJS163vcMGADBzbrALolOAlTKYBkv7u1rxVPDBV7RpAcnbLND8pHNYJq2BsC9nbq3ygRWsFMoJDl6bC4DAqPa0AfVoYAAhyXcgDlZyGxaAyZLATArH6TYsTSLenxh6Xw5JklPiMUFqlfp2YRknTGUlICq6sCpve3n8RAN+GuYtNCAxYl8C1npuAwgCQozFppShLueubsfL5QTTlSAWWRYAgBnswtl4pOBu+TzFy4Ofh6QDKlkEuE3DOxAJLFz37doHIlvNCmAtdLcp2YPZzCRal35T0Jt37QYFThwFG7HB+HSAaUutRYszi5bD7CzDzhLi2uVI09UtKCUrutblKQSAVFi7JBJLbOesM0pW5S4pS+G6ZfsNhEhQZRNwQlhsCSXJ6fzAZ34XErUr1CJkmWZsohRMqYsypgmOQaXYEkFwQeu8b3EJSPBmzZ8pK0y0lSUqAcMMJtYWzGNrtFLkyky5aRLlmcDqhJFJUmkkElABKaqX7donRokIno/LrrlzCRNQlRVLopL1JuAXAY5JgJmnUIloq8BMutIEqWghq1AWNXMb7i/aNXSrSXChSipgQ58/Jzv2hA6MInClBSQ1FRUQl7ctZLEYdrDpG5J4ZyUlbEezu3vDwGeUFSlqQyRgkWJAyW6QFTlFNKXQ5uA7PbPnCem1CVzFoQoLoJCth3HlGjrQliz4HtdSbC2G7wABWGSTfdQHfqIb4XPUhQIJSXU5Nwd7jzikhBSzKqoJzudiXI3+UH4apaplKCkKOSRbqWHrAA4tNFdc5RJttyl8NgtACtKkhuVxUALVAfZjUncPTMmeB4iFLQAVI3Ay5bD/eY8/wAZVIkzFImT5CJrMElbFAOD2Hm0B6zgs5NNNbnLfsHhucpwR8I85p5bSwpSyTS4I37vhvKLTdVMISsK3uLOfvvAaf8ATZf+PziYyP6uvqf/AGx0AccQQQopuUgFvPEU1uuNKSj2jkH9LZeM/i3DBLUgc171Ejr3g01+UO7dH+n3aATRKBCnIqPXd8/flFpiTWDTjp0FsjBgk6fYcosCA1t7eoiJaa0gKL2O9gHHUX/5gCIkPkFNJJBJe/S2z7xYJJLsBZlDD9i7t9YpqSaUgdWIDe99sxxnVVOM5Ic4tcu32IAkyWUipJSAFOGuz3Ife1vfAZ0tKjUGTblAsMv3vmLLluDzAKcADL9Xa0CllKSSAWAL38gGfFzAPfn5iJdKhUstSbgU7k94ToUVFZ9pW+w/aJWouVKLEs/Ztosm5FmtY7F4DiANrYfuN+0R4TsARtjPeDJ0wZlYTt3foLY6wOclgoljTnoGwO5gFF6pCAylAHoewB90Kf1dGQWv0d9yB84xuJ6p3UpPctf4+kIzdVSSWcAPcsWPSA9hVUKkn1b1YjpDSCRJUU2cMoFRN8HMeV4XxEkgoJD5BBvePZSZ7JcsE1O+GfYej4gATUn9QY8rXse7nJ+gg3hVBvEKWTi5dznr7oYTSVhPtJUwDqel7N2bLRh6WVOmha0TEcq1JEpSHDJJTzKd6iBnAfEBocR1yULQJq0JNLy6iKiBktlSXjT0fEZcxHiJm/pwFWJvhrH09Y89pdWpxOoDk+EpBIBBlv7JLJNj2cMeogvDJaiudMErw0TAilKSFOsPUo02BKSBY3bZoBmdJlSlTP7dKiQQAcqG77OfSFuHT3FfhqQ5vVlrXzh3jancLUqlSQp7WVZm6k5cwwjhqqVApLnFw3rAILUTS9D02TTkHr5fWLzuIqlaWZOSlPioCaXuEJUaVrIHtBINRHbMH1coyyHFzvkN+7wrOkvMQULXcN5ONxu7QC+j4xPCyfzaVLLEJXLQkKGRdACg97uW7xlImJrmajwfERqFlSqQFKQUNLmIUMqAUmxAZo0FcBlBRUZRAJNJStSMWIAQWSd7ARq6HTIlkGhkICWS5YB3CnPtXcuXe8Blfg/TujVp8NSNOVBUgLBSyi5XSDcJsOzvA+KOKSlTgvcb337wDjvF6tZqEaicqUiWUiTLCzLCk0pJmcpBWSokZblaHJCSrRyvFJrqUUlQZVFZorOxobN94DMqV/mPv0iI2v6ZJ6r98dANcdStZQwdINxCsnSzHCqSQ2MfAe6NYHMWSYDzqyC7M1Qbrb1t0hrSTUocEB6TdjucAksHt7oibICJ+1J5twxz6jNoqmXUoEgXSzDY9bWGMQFZc5KipCiDuFbML+/aDgUsEjlcVPgJbI6kRUSwkEM9jctds+kTOSmZLCQ70lQF3JFvTEBVLGwXVUksNs+4RbXpABFiWsR1DFn72MLaaocrOprHZ7Cw9IemmpIaliGCSenKSBs5gFRLZQSwJLEN37bxcSyhkqFJ3H07QnIlkEG9QYOXs2G6fxDC5inJJBUq7qtnN4DlznAF/cw75iqmUCgjYuxN7ZiFEdGzt169niVY7ln3+QDQHhNWta1FDBNGe4fD97xad4ajSohzYHPuj1PE+HlTkBlYqwDs5GCYxNN+H7rSab+yej7Ho+YBBQVUKXAcB3sz3tvHttO6JIGS9umQz7RhcP4YtKucJYYYnp5Rt6iY6MFyLj0sYDR5lkCXd3IIyHYKD9IS1mlaaWM2UtWSgJKVlnqIUPa2JBD5Mbn4e05lyBuTfDHsPd1inEJ05KXISQbsRcXBbu18dICeF8GSsFuWWFlRdyoqVdRc/YaNuTpUS+VIAAxaDcMI8IGlibkef7WzFVzHyICEiLA2/eKhe+Ikm47wHTADYgGF50sN7IURgWEMPHEwHntRw+coMCUh7gqcEdj+4EDm6kpesswZzZr2DdI9KSMRncYkpIqUHADH1wfQwGLNngFNxa4Fr2yHdh5RWZMKy6rh2N2JHfaInsGJScOC3p6Wv6QsChyy3bbq9rdWv0gLVp/y+UTAqpX/AOr/ALj+0dAehIpBPQPaMf8APrt7LnYDD+sbMs2Med/XlgXzki498Bc6tSlsplNhtn8jgQdCCkgAHL9vd6xUaYoF0kVBwcfZaKKWSSXItsd7M/pAWM27JBwSQevW+YMhSnDEAgG7BmucJ7bwsJRJYgdj09BjJi8p0oZTBFxYZcMbZJ/eAtNksulUzlSEkEmm5Zjba8DlgcrFBUOUliSRe4vdomagFlqcghg/a4/V12MCDKuxQbMLkXPbb6NAR+ZBU4J6K8xYFhj0/eOSoVOLAnyF94KgJYkuwLly75N7v/xCyjSrIUNuhFmIgC1OCbsHG0d3B3DdR3L7YiFLCbqe5f0ik7c3boe+/wAICwQpV+9r74irWIYgu3mfpF5cyxN7Y+npFvEc9yo32uIANAAvfcHvhotqri5CQzBg2Rh7xJSCC53N+8VoWoMlCiHckDa22RAbuh4olKUoW4yAWO3y/iI06jNn1VOnNPRm912fyjHTMKwVnlCdtyxsz/tD+g1JTMCmcbkADpjaA9OkN2iyjC51ABALh8FrfCDpPvgLhMc0SzG0WOb7wA02id44GJKYCKoHMSCkg75ghF4qsQHltfp2BQ/MCBctZvkRaMLRST4goINJPyffaPSfieWGKwb0lJHxH33jyMs0qHUH+YB/+op6ffvjo7815+8x0B6SbPSgXLPA9HppcshblT2ScxWfJC2fIuO0N8P0wCAFc13FsQFOPzGlpFJJJ82b67RlyGUnpfIBtuHAsQ4j0UxIOQ498Y/E0SUuKiFEFkg/N8QCZLCpgSDsD6/AQWXKWpjawe/Y4L4LWgHhpDOq27ghrYLQwmYkIWkupyQksxDedyIAY0inWLC4algGNw7nDesBCaWSeUE+ha97XEG0ssFLgvzP5BskYidXKNbpDjHX4N8MQADMSlSdwxACtz1Itjq28GpJFKgzewpLMSch3w20ZupkrWs2ZwDcs7DYFt4Z08laUCliDdSSws3fz98BykKypNiGxbA36t8oBLKVOXOWu3S8P1KpSEJKXBLu5cliOxCRFdJLF0qQbh6gevmfnmAWAZJa4d8M23rBBKVMVQKXIw1h18olAQ7VVC7FjYdwmD63TBenm+EkqUEp5MkpChWzdUOGgDamUiTpZ02SpMyYhB57LpP6iw6By27RiahOnQJc1E95oUhXiKmE8rgrUou1FLgjF2G0aXAxLOplHTJYAKE5klKaKSAlQIaqpmGRfvDn4i4QAiWZGnSoJmhcyWgJQVgAgZZJIUQpiRiAUncbUsKXJ0lSM1TFeGVbuE0k+9od04/tS58oEImBKwDkVDB7X+Md+VmzxQpBkS1e2SQVt0SEkgHuTboYS1c9cxU4InqkS5B8OWhADChIIUpwan6Yb3wHqtJqAsVD7MMKjB0mqUZEnUoSQZiEqWkCzlLk+/eNjSzwtLg2Pv8AKAOWfyiQrF4qkhmiszLAwFneOEVEWaA6LFMVYRBPrAYX4jlsEqbqC2e1t/5jD1GlCgVbBg1NwSxJc3a0ek0ykzVzCoOxFL7BshsQZOhljCBAeR/pKOp+/SOj1zdvhEwGfLMOy8Rmyj7o0ULtAHEYeu0CgpwKkkuXuY2iqIKYDzM1bCkukpy9n7+75RClWFwxDYzfPeNfjMtLJUwJCm9C8Yk+q6geb/Ldmxj49z0gO0wqSaCygzMzkOXJHl1hnxnUCLtliEgkC3wvFOBplgmokFSdnY7nGC+YOJ9NbFkD2XGWa7dMjbAgAcTIpSVUlNsEOOvpt6CLylAgU72AKjfYP0HlFpcxKpnsinc7l8ntZ4qqYCVJSQlIamzk+rWeAq0wzkGyKSxHft5O8EmzlF3AmU3Krgp2a+bxS4cmxABcGzC5t0/i0MSS7pQ/hsHdgQ2fP+YAWmmmVSbCrAKffm//ADGjw60wjxAVEG5FgXBbMZ2o1KksFuAVGzfEtgweapS5KfDqLpyA7d8bn1aAxeMfifUpE+YidJliUtSEoVLKlLKDTfmBFRwAHuMvG/xLiM8pkS0UyZq5ImTCsVUYBQA4qVUfRu8U08+T4apypCDOloNygBaigbEh+3aMzWayYpEubqUyJ6LEpCGUgKIDy1OS4fG/UQGloZuoRNlImTEzhMUQeUJUOUmoU2ItcEb52Kn4m4dIM9VElUyaUhUwCaqXLIwnxGeolmYAuBe0bPEZSNFppsyTLFaR7SipTAkOSVF6UjmZ9o8siperleLM8VOp5KpTyiChJUCQFGpDWfIcXMB6P8NcWVqpM4qliSqUsy1B6k2ALpLBwx6ZBjO0k1KVqUVFNAGAXJb5Rs6go08rwZQCSxZIBOck7ndybl+8ZmhSspBUGLKBYB74Z284CyZq5awsLBKjdLtl9j9iNOVxhJIFCmfPSMicvmp5eXfN2z06RVM51MlQSLFSfa7lwcdh3gPQp4hLUpKQtquriC/mQAylJH7R5Pxgp6QansLBmZ3PlBEoWaiFslKrBttr73gPQJ4ogkhIUs7sPd5R03xlOEgIHc3+DwloSZUw1hiUiwwN/ONQJrpUCWBcd3BEBXTaZKEgBna5694KsXizxRf28BWox0Tb7MdAee0qrCNJLPHntHNuGjalzIBsGLBUBBi6RvAXnoC0qSbAhowtTpAklKlVWsry2jU1+qMtIISVOb9oR4zqwwTQ5YF263MAvKmFv8AkNfd7OwzbpBPGql8qSUj/ACZsvZ7gdoTkrQSE3F7nY9PKCytYQwJcWHY3N7AfYgDaiYlQbABpcP1fG7Hr0iZsoUlLJexfGemxAvgwpLIHKWPNdt+h+cDExJBFSXCgEh7i9xi4v8oB6fKSkJCWxexuXDdD1vEImC6Ao1G9hh7MQT8e+0KfnSs81NIcBidsY7vtiDy9WUuaU73vcbbQA9bqFJWtMjTnUrRyrWqb4SAclAICisjyYYd3hfVrlaiifPlHwlyxRLUmpKFpKkzQQkMV1AMprhmg2oE2VKXNlTAUzJjUlNSq5hvSQoJYklTnF84hnTTpqTJ0xQmWhXKgpWV3SKmU6Q5LEkjJ2vAdwrTCXIdZEsmYVSkTCAqgsAkhZwbkA4BAtiF9FJ04WkmVcLdKBMNAIJIKUezbPQGKKeVMm/mJClzJi1MqmupJJoSGekBLBi2/V4Jw3R+FJIVLAUZilJSov4aGDJJDsfaIAwC20BuzuIul6XTjOTvaPM6vUytIfERJTKKiUDw5brU96QwtYP0s8Pz+IUUpDkKdsOMPjI84U45LUtMucFpk0qcKmU03FCnrUHLYL27wFtJrZc9An1zOWZ4akKTzJUwLEOdlAgiNOcyhLCFAEOHI/UC++AzQrw7RUyKpZExK1uqYhaV1LLAkkWDsBYMAGgk5BcJQAUpIsFXGDd/2gFzLABUU82CgNvZyfSIl6I/3H5SojmSm9i5fbdo0JUoqDpQom4KgfO3xh2Xw9ahzlt2Be+zwGFpZi1TKqaUsQo7qPVs/vG3pdAS61FgS4T5Hlzi0aklFKUpGwAeLlGIAM1KVZAI+/dAa0ykHLE4zDSkMIoqWFC49OsB0tYUAdiN4qcWt2ggO3SKzmb7+8wEeL9tHRW3b3x0B4TSzm5icBzcDF97C3W0Mf1gCWgiZLUsllAzEBrEuWU3THujHRLExJQq6FgpUMOFBiHF8biJlf9PuHNfT/wDyTf8AzgPR8P4wgoebNkpW59mYlmex9o/ONCRxKUohKZqFHoFgnrgF48kn/p5w3/8Am/8Alm/+caHCPwdodNNTOkyKJiQWV4kxTOCk2UojBO0B6XxI4EGzRRoquYhGSB5n94AcrhktKsuNgf4zC3EOHN7PsbgM4PbqIrrwk85NKyWQ3NU2MXEZy1kh1Za2T5m8BxYbsbBrOPOF50nDAuo8zHJdgc/Zi0lKFgEBJJUxLjDP1zGhodSlKDLmAlJuGHTvvAYkyeuWpkTKmtj5NmGpOtKhQohL5O3yt5wHWaQFTpx0s/zEC0WmdQCjSzkvbGGO9+kBqzlFSVSyEpTZQUHF0GoKA3uGbcRbSpWUGYVj8wEL/L1JKUJWUsFKJKnLKbNnxANNJShVReoYLlTjyPb5xEzXKAK1XvjbNrDAHeAx+GcGBl//AJWg8Weqyp09ctQJ3IXUSQ7lgPSNdaBLkokpUSkWUS/tXO+AxYXdhBtFrhSKgE3w1i9rdOr94tp9AWakqCgCzb9zAA4clpjKUQk3JYfXG2M7wp+MeDJ4hLkyjMUAhRoKRYPkFgX849BL4YpKmCGKgQ+QOrtD8jg7Bqy/YAD3QHnuC8JRodN+Xkl01OtV+ZWKlddrdo0eFaUMyU8xdx3wCX6RryeGpBqJqI9x9IfSoDoH6QF5EoISlINgIkrgRXFQeu8AdCgIKD09IXaw+cXSlhASVtaKqG+xJD9xBChJd+kYvENS7y0ewlysvYNtAahF9ooUWMK8N1FUpBd7QwsH3wFfEPWOgfpHQHzCd/p+75x6rh3sJ8hHR0BoqiUffxjo6AIjPu+sYHG/9b0T8zEx0BXhXtp8/qYtrvZmf7D8jEx0B57g+U/7voY9GPZT/tERHQCowP8AcflHa/2pX+8R0dAaaP0/7k/WMtPtf+75xMdAH0/+jL/3f/YR7IYHl9BHR0ByM/fWI6/fWOjoC0zaBzPr+0dHQF5e33tHTP3jo6AYGB6fSKrz9946OgJ/SfKPJ6X/AE5vl+0dHQDn4Y9hXn9DGtOwfvaOjoAMdHR0B//Z"/>
          <p:cNvSpPr>
            <a:spLocks noChangeAspect="1" noChangeArrowheads="1"/>
          </p:cNvSpPr>
          <p:nvPr/>
        </p:nvSpPr>
        <p:spPr bwMode="auto">
          <a:xfrm>
            <a:off x="155575" y="-1790700"/>
            <a:ext cx="37433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38" name="Picture 6" descr="http://i.livescience.com/images/i/000/054/969/original/amoeba-pandoravirus-130718.jpg?13741710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684" y="21336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http://www.slate.com/content/dam/slate/articles/video/video/2014/TNC140304_GiantVirus_large-1.jpg.CROP.promo-mediumlarg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398" y="4343400"/>
            <a:ext cx="2730972" cy="194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05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62929</TotalTime>
  <Words>3038</Words>
  <Application>Microsoft Office PowerPoint</Application>
  <PresentationFormat>On-screen Show (4:3)</PresentationFormat>
  <Paragraphs>454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Joshua Loomis</cp:lastModifiedBy>
  <cp:revision>1064</cp:revision>
  <dcterms:created xsi:type="dcterms:W3CDTF">2015-01-10T02:03:23Z</dcterms:created>
  <dcterms:modified xsi:type="dcterms:W3CDTF">2020-06-13T02:31:15Z</dcterms:modified>
</cp:coreProperties>
</file>